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26"/>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Lst>
  <p:sldSz cx="12192000" cy="6858000"/>
  <p:notesSz cx="6858000" cy="9144000"/>
  <p:embeddedFontLst>
    <p:embeddedFont>
      <p:font typeface="Century Gothic" panose="020B0502020202020204" pitchFamily="34" charset="0"/>
      <p:regular r:id="rId27"/>
      <p:bold r:id="rId28"/>
      <p:italic r:id="rId29"/>
      <p:boldItalic r:id="rId30"/>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34" roundtripDataSignature="AMtx7mhH7T6FJwlcVijPNKyxwvlRrHdcrA=="/>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EFA356CF-45A5-4659-A24C-15CE202FEE63}">
  <a:tblStyle styleId="{EFA356CF-45A5-4659-A24C-15CE202FEE63}" styleName="Table_0">
    <a:wholeTbl>
      <a:tcTxStyle>
        <a:font>
          <a:latin typeface="Arial"/>
          <a:ea typeface="Arial"/>
          <a:cs typeface="Arial"/>
        </a:font>
        <a:srgbClr val="000000"/>
      </a:tcTxStyle>
      <a:tcStyle>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 styleId="{8751E2B2-6581-4396-936B-94C716D2E7E3}" styleName="Table_1">
    <a:wholeTbl>
      <a:tcTxStyle b="off" i="off">
        <a:font>
          <a:latin typeface="Century Gothic"/>
          <a:ea typeface="Century Gothic"/>
          <a:cs typeface="Century Gothic"/>
        </a:font>
        <a:schemeClr val="dk1"/>
      </a:tcTxStyle>
      <a:tcStyle>
        <a:tcBdr>
          <a:left>
            <a:ln w="9525" cap="flat" cmpd="sng">
              <a:solidFill>
                <a:srgbClr val="000000">
                  <a:alpha val="0"/>
                </a:srgbClr>
              </a:solidFill>
              <a:prstDash val="solid"/>
              <a:round/>
              <a:headEnd type="none" w="sm" len="sm"/>
              <a:tailEnd type="none" w="sm" len="sm"/>
            </a:ln>
          </a:left>
          <a:right>
            <a:ln w="9525" cap="flat" cmpd="sng">
              <a:solidFill>
                <a:srgbClr val="000000">
                  <a:alpha val="0"/>
                </a:srgbClr>
              </a:solidFill>
              <a:prstDash val="solid"/>
              <a:round/>
              <a:headEnd type="none" w="sm" len="sm"/>
              <a:tailEnd type="none" w="sm" len="sm"/>
            </a:ln>
          </a:right>
          <a:top>
            <a:ln w="12700" cap="flat" cmpd="sng">
              <a:solidFill>
                <a:schemeClr val="accent1"/>
              </a:solidFill>
              <a:prstDash val="solid"/>
              <a:round/>
              <a:headEnd type="none" w="sm" len="sm"/>
              <a:tailEnd type="none" w="sm" len="sm"/>
            </a:ln>
          </a:top>
          <a:bottom>
            <a:ln w="12700" cap="flat" cmpd="sng">
              <a:solidFill>
                <a:schemeClr val="accent1"/>
              </a:solidFill>
              <a:prstDash val="solid"/>
              <a:round/>
              <a:headEnd type="none" w="sm" len="sm"/>
              <a:tailEnd type="none" w="sm" len="sm"/>
            </a:ln>
          </a:bottom>
          <a:insideH>
            <a:ln w="9525" cap="flat" cmpd="sng">
              <a:solidFill>
                <a:srgbClr val="000000">
                  <a:alpha val="0"/>
                </a:srgbClr>
              </a:solidFill>
              <a:prstDash val="solid"/>
              <a:round/>
              <a:headEnd type="none" w="sm" len="sm"/>
              <a:tailEnd type="none" w="sm" len="sm"/>
            </a:ln>
          </a:insideH>
          <a:insideV>
            <a:ln w="9525" cap="flat" cmpd="sng">
              <a:solidFill>
                <a:srgbClr val="000000">
                  <a:alpha val="0"/>
                </a:srgbClr>
              </a:solidFill>
              <a:prstDash val="solid"/>
              <a:round/>
              <a:headEnd type="none" w="sm" len="sm"/>
              <a:tailEnd type="none" w="sm" len="sm"/>
            </a:ln>
          </a:insideV>
        </a:tcBdr>
        <a:fill>
          <a:solidFill>
            <a:srgbClr val="FFFFFF">
              <a:alpha val="0"/>
            </a:srgbClr>
          </a:solidFill>
        </a:fill>
      </a:tcStyle>
    </a:wholeTbl>
    <a:band1H>
      <a:tcTxStyle/>
      <a:tcStyle>
        <a:tcBdr/>
        <a:fill>
          <a:solidFill>
            <a:schemeClr val="accent1">
              <a:alpha val="20000"/>
            </a:schemeClr>
          </a:solidFill>
        </a:fill>
      </a:tcStyle>
    </a:band1H>
    <a:band2H>
      <a:tcTxStyle/>
      <a:tcStyle>
        <a:tcBdr/>
      </a:tcStyle>
    </a:band2H>
    <a:band1V>
      <a:tcTxStyle/>
      <a:tcStyle>
        <a:tcBdr/>
        <a:fill>
          <a:solidFill>
            <a:schemeClr val="accent1">
              <a:alpha val="20000"/>
            </a:schemeClr>
          </a:solidFill>
        </a:fill>
      </a:tcStyle>
    </a:band1V>
    <a:band2V>
      <a:tcTxStyle/>
      <a:tcStyle>
        <a:tcBdr/>
      </a:tcStyle>
    </a:band2V>
    <a:lastCol>
      <a:tcTxStyle b="on" i="off"/>
      <a:tcStyle>
        <a:tcBdr/>
      </a:tcStyle>
    </a:lastCol>
    <a:firstCol>
      <a:tcTxStyle b="on" i="off"/>
      <a:tcStyle>
        <a:tcBdr/>
      </a:tcStyle>
    </a:firstCol>
    <a:lastRow>
      <a:tcTxStyle b="on" i="off"/>
      <a:tcStyle>
        <a:tcBdr>
          <a:top>
            <a:ln w="12700" cap="flat" cmpd="sng">
              <a:solidFill>
                <a:schemeClr val="accent1"/>
              </a:solidFill>
              <a:prstDash val="solid"/>
              <a:round/>
              <a:headEnd type="none" w="sm" len="sm"/>
              <a:tailEnd type="none" w="sm" len="sm"/>
            </a:ln>
          </a:top>
        </a:tcBdr>
        <a:fill>
          <a:solidFill>
            <a:srgbClr val="FFFFFF">
              <a:alpha val="0"/>
            </a:srgbClr>
          </a:solidFill>
        </a:fill>
      </a:tcStyle>
    </a:lastRow>
    <a:seCell>
      <a:tcTxStyle/>
      <a:tcStyle>
        <a:tcBdr/>
      </a:tcStyle>
    </a:seCell>
    <a:swCell>
      <a:tcTxStyle/>
      <a:tcStyle>
        <a:tcBdr/>
      </a:tcStyle>
    </a:swCell>
    <a:firstRow>
      <a:tcTxStyle b="on" i="off"/>
      <a:tcStyle>
        <a:tcBdr>
          <a:bottom>
            <a:ln w="12700" cap="flat" cmpd="sng">
              <a:solidFill>
                <a:schemeClr val="accent1"/>
              </a:solidFill>
              <a:prstDash val="solid"/>
              <a:round/>
              <a:headEnd type="none" w="sm" len="sm"/>
              <a:tailEnd type="none" w="sm" len="sm"/>
            </a:ln>
          </a:bottom>
        </a:tcBdr>
        <a:fill>
          <a:solidFill>
            <a:srgbClr val="FFFFFF">
              <a:alpha val="0"/>
            </a:srgbClr>
          </a:solidFill>
        </a:fill>
      </a:tcStyle>
    </a:firstRow>
    <a:neCell>
      <a:tcTxStyle/>
      <a:tcStyle>
        <a:tcBdr/>
      </a:tcStyle>
    </a:neCell>
    <a:nwCell>
      <a:tcTxStyle/>
      <a:tcStyle>
        <a:tcBdr/>
      </a:tcStyle>
    </a:nwCell>
  </a:tblStyle>
  <a:tblStyle styleId="{BBD23F09-7EDC-4579-8EFA-03F43352C378}" styleName="Table_2">
    <a:wholeTbl>
      <a:tcTxStyle b="off" i="off">
        <a:font>
          <a:latin typeface="Century Gothic"/>
          <a:ea typeface="Century Gothic"/>
          <a:cs typeface="Century Gothic"/>
        </a:font>
        <a:schemeClr val="dk1"/>
      </a:tcTxStyle>
      <a:tcStyle>
        <a:tcBdr>
          <a:left>
            <a:ln w="9525" cap="flat" cmpd="sng">
              <a:solidFill>
                <a:srgbClr val="000000">
                  <a:alpha val="0"/>
                </a:srgbClr>
              </a:solidFill>
              <a:prstDash val="solid"/>
              <a:round/>
              <a:headEnd type="none" w="sm" len="sm"/>
              <a:tailEnd type="none" w="sm" len="sm"/>
            </a:ln>
          </a:left>
          <a:right>
            <a:ln w="9525" cap="flat" cmpd="sng">
              <a:solidFill>
                <a:srgbClr val="000000">
                  <a:alpha val="0"/>
                </a:srgbClr>
              </a:solidFill>
              <a:prstDash val="solid"/>
              <a:round/>
              <a:headEnd type="none" w="sm" len="sm"/>
              <a:tailEnd type="none" w="sm" len="sm"/>
            </a:ln>
          </a:right>
          <a:top>
            <a:ln w="25400" cap="flat" cmpd="sng">
              <a:solidFill>
                <a:schemeClr val="dk1"/>
              </a:solidFill>
              <a:prstDash val="solid"/>
              <a:round/>
              <a:headEnd type="none" w="sm" len="sm"/>
              <a:tailEnd type="none" w="sm" len="sm"/>
            </a:ln>
          </a:top>
          <a:bottom>
            <a:ln w="25400" cap="flat" cmpd="sng">
              <a:solidFill>
                <a:schemeClr val="dk1"/>
              </a:solidFill>
              <a:prstDash val="solid"/>
              <a:round/>
              <a:headEnd type="none" w="sm" len="sm"/>
              <a:tailEnd type="none" w="sm" len="sm"/>
            </a:ln>
          </a:bottom>
          <a:insideH>
            <a:ln w="9525" cap="flat" cmpd="sng">
              <a:solidFill>
                <a:srgbClr val="000000">
                  <a:alpha val="0"/>
                </a:srgbClr>
              </a:solidFill>
              <a:prstDash val="solid"/>
              <a:round/>
              <a:headEnd type="none" w="sm" len="sm"/>
              <a:tailEnd type="none" w="sm" len="sm"/>
            </a:ln>
          </a:insideH>
          <a:insideV>
            <a:ln w="9525" cap="flat" cmpd="sng">
              <a:solidFill>
                <a:srgbClr val="000000">
                  <a:alpha val="0"/>
                </a:srgbClr>
              </a:solidFill>
              <a:prstDash val="solid"/>
              <a:round/>
              <a:headEnd type="none" w="sm" len="sm"/>
              <a:tailEnd type="none" w="sm" len="sm"/>
            </a:ln>
          </a:insideV>
        </a:tcBdr>
        <a:fill>
          <a:solidFill>
            <a:schemeClr val="lt1"/>
          </a:solidFill>
        </a:fill>
      </a:tcStyle>
    </a:wholeTbl>
    <a:band1H>
      <a:tcTxStyle/>
      <a:tcStyle>
        <a:tcBdr/>
        <a:fill>
          <a:solidFill>
            <a:srgbClr val="E6E6E6"/>
          </a:solidFill>
        </a:fill>
      </a:tcStyle>
    </a:band1H>
    <a:band2H>
      <a:tcTxStyle/>
      <a:tcStyle>
        <a:tcBdr/>
      </a:tcStyle>
    </a:band2H>
    <a:band1V>
      <a:tcTxStyle/>
      <a:tcStyle>
        <a:tcBdr/>
        <a:fill>
          <a:solidFill>
            <a:srgbClr val="E6E6E6"/>
          </a:solidFill>
        </a:fill>
      </a:tcStyle>
    </a:band1V>
    <a:band2V>
      <a:tcTxStyle/>
      <a:tcStyle>
        <a:tcBdr/>
      </a:tcStyle>
    </a:band2V>
    <a:lastCol>
      <a:tcTxStyle b="on" i="off">
        <a:font>
          <a:latin typeface="Century Gothic"/>
          <a:ea typeface="Century Gothic"/>
          <a:cs typeface="Century Gothic"/>
        </a:font>
        <a:schemeClr val="lt1"/>
      </a:tcTxStyle>
      <a:tcStyle>
        <a:tcBdr/>
        <a:fill>
          <a:solidFill>
            <a:schemeClr val="dk1"/>
          </a:solidFill>
        </a:fill>
      </a:tcStyle>
    </a:lastCol>
    <a:firstCol>
      <a:tcTxStyle b="on" i="off">
        <a:font>
          <a:latin typeface="Century Gothic"/>
          <a:ea typeface="Century Gothic"/>
          <a:cs typeface="Century Gothic"/>
        </a:font>
        <a:schemeClr val="lt1"/>
      </a:tcTxStyle>
      <a:tcStyle>
        <a:tcBdr/>
        <a:fill>
          <a:solidFill>
            <a:schemeClr val="dk1"/>
          </a:solidFill>
        </a:fill>
      </a:tcStyle>
    </a:firstCol>
    <a:lastRow>
      <a:tcTxStyle b="on" i="off"/>
      <a:tcStyle>
        <a:tcBdr>
          <a:top>
            <a:ln w="50800" cap="flat" cmpd="sng">
              <a:solidFill>
                <a:schemeClr val="dk1"/>
              </a:solidFill>
              <a:prstDash val="solid"/>
              <a:round/>
              <a:headEnd type="none" w="sm" len="sm"/>
              <a:tailEnd type="none" w="sm" len="sm"/>
            </a:ln>
          </a:top>
        </a:tcBdr>
        <a:fill>
          <a:solidFill>
            <a:schemeClr val="lt1"/>
          </a:solidFill>
        </a:fill>
      </a:tcStyle>
    </a:lastRow>
    <a:seCell>
      <a:tcTxStyle b="on" i="off">
        <a:font>
          <a:latin typeface="Century Gothic"/>
          <a:ea typeface="Century Gothic"/>
          <a:cs typeface="Century Gothic"/>
        </a:font>
        <a:schemeClr val="dk1"/>
      </a:tcTxStyle>
      <a:tcStyle>
        <a:tcBdr/>
      </a:tcStyle>
    </a:seCell>
    <a:swCell>
      <a:tcTxStyle b="on" i="off">
        <a:font>
          <a:latin typeface="Century Gothic"/>
          <a:ea typeface="Century Gothic"/>
          <a:cs typeface="Century Gothic"/>
        </a:font>
        <a:schemeClr val="dk1"/>
      </a:tcTxStyle>
      <a:tcStyle>
        <a:tcBdr/>
      </a:tcStyle>
    </a:swCell>
    <a:firstRow>
      <a:tcTxStyle b="on" i="off">
        <a:font>
          <a:latin typeface="Century Gothic"/>
          <a:ea typeface="Century Gothic"/>
          <a:cs typeface="Century Gothic"/>
        </a:font>
        <a:schemeClr val="lt1"/>
      </a:tcTxStyle>
      <a:tcStyle>
        <a:tcBdr>
          <a:bottom>
            <a:ln w="25400" cap="flat" cmpd="sng">
              <a:solidFill>
                <a:schemeClr val="dk1"/>
              </a:solidFill>
              <a:prstDash val="solid"/>
              <a:round/>
              <a:headEnd type="none" w="sm" len="sm"/>
              <a:tailEnd type="none" w="sm" len="sm"/>
            </a:ln>
          </a:bottom>
        </a:tcBdr>
        <a:fill>
          <a:solidFill>
            <a:schemeClr val="dk1"/>
          </a:solidFill>
        </a:fill>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05" d="100"/>
          <a:sy n="105" d="100"/>
        </p:scale>
        <p:origin x="798" y="9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slide" Target="slides/slide20.xml"/><Relationship Id="rId34" Type="http://customschemas.google.com/relationships/presentationmetadata" Target="meta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8"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font" Target="fonts/font3.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7"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font" Target="fonts/font2.fntdata"/><Relationship Id="rId36"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font" Target="fonts/font1.fntdata"/><Relationship Id="rId30" Type="http://schemas.openxmlformats.org/officeDocument/2006/relationships/font" Target="fonts/font4.fntdata"/><Relationship Id="rId35" Type="http://schemas.openxmlformats.org/officeDocument/2006/relationships/presProps" Target="presProps.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p:cNvGrpSpPr/>
        <p:nvPr/>
      </p:nvGrpSpPr>
      <p:grpSpPr>
        <a:xfrm>
          <a:off x="0" y="0"/>
          <a:ext cx="0" cy="0"/>
          <a:chOff x="0" y="0"/>
          <a:chExt cx="0" cy="0"/>
        </a:xfrm>
      </p:grpSpPr>
      <p:sp>
        <p:nvSpPr>
          <p:cNvPr id="141" name="Google Shape;141;p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42" name="Google Shape;142;p1: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1"/>
        <p:cNvGrpSpPr/>
        <p:nvPr/>
      </p:nvGrpSpPr>
      <p:grpSpPr>
        <a:xfrm>
          <a:off x="0" y="0"/>
          <a:ext cx="0" cy="0"/>
          <a:chOff x="0" y="0"/>
          <a:chExt cx="0" cy="0"/>
        </a:xfrm>
      </p:grpSpPr>
      <p:sp>
        <p:nvSpPr>
          <p:cNvPr id="152" name="Google Shape;152;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53" name="Google Shape;153;p2: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p:cNvGrpSpPr/>
        <p:nvPr/>
      </p:nvGrpSpPr>
      <p:grpSpPr>
        <a:xfrm>
          <a:off x="0" y="0"/>
          <a:ext cx="0" cy="0"/>
          <a:chOff x="0" y="0"/>
          <a:chExt cx="0" cy="0"/>
        </a:xfrm>
      </p:grpSpPr>
      <p:sp>
        <p:nvSpPr>
          <p:cNvPr id="171" name="Google Shape;171;p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2" name="Google Shape;172;p3: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9"/>
        <p:cNvGrpSpPr/>
        <p:nvPr/>
      </p:nvGrpSpPr>
      <p:grpSpPr>
        <a:xfrm>
          <a:off x="0" y="0"/>
          <a:ext cx="0" cy="0"/>
          <a:chOff x="0" y="0"/>
          <a:chExt cx="0" cy="0"/>
        </a:xfrm>
      </p:grpSpPr>
      <p:sp>
        <p:nvSpPr>
          <p:cNvPr id="180" name="Google Shape;180;p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81" name="Google Shape;181;p4: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6"/>
        <p:cNvGrpSpPr/>
        <p:nvPr/>
      </p:nvGrpSpPr>
      <p:grpSpPr>
        <a:xfrm>
          <a:off x="0" y="0"/>
          <a:ext cx="0" cy="0"/>
          <a:chOff x="0" y="0"/>
          <a:chExt cx="0" cy="0"/>
        </a:xfrm>
      </p:grpSpPr>
      <p:sp>
        <p:nvSpPr>
          <p:cNvPr id="207" name="Google Shape;207;p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08" name="Google Shape;208;p5: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8"/>
        <p:cNvGrpSpPr/>
        <p:nvPr/>
      </p:nvGrpSpPr>
      <p:grpSpPr>
        <a:xfrm>
          <a:off x="0" y="0"/>
          <a:ext cx="0" cy="0"/>
          <a:chOff x="0" y="0"/>
          <a:chExt cx="0" cy="0"/>
        </a:xfrm>
      </p:grpSpPr>
      <p:sp>
        <p:nvSpPr>
          <p:cNvPr id="229" name="Google Shape;229;p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30" name="Google Shape;230;p6: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4"/>
        <p:cNvGrpSpPr/>
        <p:nvPr/>
      </p:nvGrpSpPr>
      <p:grpSpPr>
        <a:xfrm>
          <a:off x="0" y="0"/>
          <a:ext cx="0" cy="0"/>
          <a:chOff x="0" y="0"/>
          <a:chExt cx="0" cy="0"/>
        </a:xfrm>
      </p:grpSpPr>
      <p:sp>
        <p:nvSpPr>
          <p:cNvPr id="245" name="Google Shape;245;p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46" name="Google Shape;246;p7: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3"/>
        <p:cNvGrpSpPr/>
        <p:nvPr/>
      </p:nvGrpSpPr>
      <p:grpSpPr>
        <a:xfrm>
          <a:off x="0" y="0"/>
          <a:ext cx="0" cy="0"/>
          <a:chOff x="0" y="0"/>
          <a:chExt cx="0" cy="0"/>
        </a:xfrm>
      </p:grpSpPr>
      <p:sp>
        <p:nvSpPr>
          <p:cNvPr id="264" name="Google Shape;264;p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65" name="Google Shape;265;p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0"/>
        <p:cNvGrpSpPr/>
        <p:nvPr/>
      </p:nvGrpSpPr>
      <p:grpSpPr>
        <a:xfrm>
          <a:off x="0" y="0"/>
          <a:ext cx="0" cy="0"/>
          <a:chOff x="0" y="0"/>
          <a:chExt cx="0" cy="0"/>
        </a:xfrm>
      </p:grpSpPr>
      <p:sp>
        <p:nvSpPr>
          <p:cNvPr id="271" name="Google Shape;271;p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2" name="Google Shape;272;p9: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6"/>
        <p:cNvGrpSpPr/>
        <p:nvPr/>
      </p:nvGrpSpPr>
      <p:grpSpPr>
        <a:xfrm>
          <a:off x="0" y="0"/>
          <a:ext cx="0" cy="0"/>
          <a:chOff x="0" y="0"/>
          <a:chExt cx="0" cy="0"/>
        </a:xfrm>
      </p:grpSpPr>
      <p:sp>
        <p:nvSpPr>
          <p:cNvPr id="277" name="Google Shape;277;p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8" name="Google Shape;278;p10: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2"/>
        <p:cNvGrpSpPr/>
        <p:nvPr/>
      </p:nvGrpSpPr>
      <p:grpSpPr>
        <a:xfrm>
          <a:off x="0" y="0"/>
          <a:ext cx="0" cy="0"/>
          <a:chOff x="0" y="0"/>
          <a:chExt cx="0" cy="0"/>
        </a:xfrm>
      </p:grpSpPr>
      <p:sp>
        <p:nvSpPr>
          <p:cNvPr id="283" name="Google Shape;283;p1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84" name="Google Shape;284;p11: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8"/>
        <p:cNvGrpSpPr/>
        <p:nvPr/>
      </p:nvGrpSpPr>
      <p:grpSpPr>
        <a:xfrm>
          <a:off x="0" y="0"/>
          <a:ext cx="0" cy="0"/>
          <a:chOff x="0" y="0"/>
          <a:chExt cx="0" cy="0"/>
        </a:xfrm>
      </p:grpSpPr>
      <p:sp>
        <p:nvSpPr>
          <p:cNvPr id="289" name="Google Shape;289;p1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90" name="Google Shape;290;p12: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4"/>
        <p:cNvGrpSpPr/>
        <p:nvPr/>
      </p:nvGrpSpPr>
      <p:grpSpPr>
        <a:xfrm>
          <a:off x="0" y="0"/>
          <a:ext cx="0" cy="0"/>
          <a:chOff x="0" y="0"/>
          <a:chExt cx="0" cy="0"/>
        </a:xfrm>
      </p:grpSpPr>
      <p:sp>
        <p:nvSpPr>
          <p:cNvPr id="295" name="Google Shape;295;p1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96" name="Google Shape;296;p13: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0"/>
        <p:cNvGrpSpPr/>
        <p:nvPr/>
      </p:nvGrpSpPr>
      <p:grpSpPr>
        <a:xfrm>
          <a:off x="0" y="0"/>
          <a:ext cx="0" cy="0"/>
          <a:chOff x="0" y="0"/>
          <a:chExt cx="0" cy="0"/>
        </a:xfrm>
      </p:grpSpPr>
      <p:sp>
        <p:nvSpPr>
          <p:cNvPr id="301" name="Google Shape;301;p1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02" name="Google Shape;302;p1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9"/>
        <p:cNvGrpSpPr/>
        <p:nvPr/>
      </p:nvGrpSpPr>
      <p:grpSpPr>
        <a:xfrm>
          <a:off x="0" y="0"/>
          <a:ext cx="0" cy="0"/>
          <a:chOff x="0" y="0"/>
          <a:chExt cx="0" cy="0"/>
        </a:xfrm>
      </p:grpSpPr>
      <p:sp>
        <p:nvSpPr>
          <p:cNvPr id="310" name="Google Shape;310;p1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11" name="Google Shape;311;p1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0"/>
        <p:cNvGrpSpPr/>
        <p:nvPr/>
      </p:nvGrpSpPr>
      <p:grpSpPr>
        <a:xfrm>
          <a:off x="0" y="0"/>
          <a:ext cx="0" cy="0"/>
          <a:chOff x="0" y="0"/>
          <a:chExt cx="0" cy="0"/>
        </a:xfrm>
      </p:grpSpPr>
      <p:sp>
        <p:nvSpPr>
          <p:cNvPr id="321" name="Google Shape;321;p1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22" name="Google Shape;322;p16: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9"/>
        <p:cNvGrpSpPr/>
        <p:nvPr/>
      </p:nvGrpSpPr>
      <p:grpSpPr>
        <a:xfrm>
          <a:off x="0" y="0"/>
          <a:ext cx="0" cy="0"/>
          <a:chOff x="0" y="0"/>
          <a:chExt cx="0" cy="0"/>
        </a:xfrm>
      </p:grpSpPr>
      <p:sp>
        <p:nvSpPr>
          <p:cNvPr id="330" name="Google Shape;330;p1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31" name="Google Shape;331;p17: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8"/>
        <p:cNvGrpSpPr/>
        <p:nvPr/>
      </p:nvGrpSpPr>
      <p:grpSpPr>
        <a:xfrm>
          <a:off x="0" y="0"/>
          <a:ext cx="0" cy="0"/>
          <a:chOff x="0" y="0"/>
          <a:chExt cx="0" cy="0"/>
        </a:xfrm>
      </p:grpSpPr>
      <p:sp>
        <p:nvSpPr>
          <p:cNvPr id="339" name="Google Shape;339;p1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40" name="Google Shape;340;p18: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8"/>
        <p:cNvGrpSpPr/>
        <p:nvPr/>
      </p:nvGrpSpPr>
      <p:grpSpPr>
        <a:xfrm>
          <a:off x="0" y="0"/>
          <a:ext cx="0" cy="0"/>
          <a:chOff x="0" y="0"/>
          <a:chExt cx="0" cy="0"/>
        </a:xfrm>
      </p:grpSpPr>
      <p:sp>
        <p:nvSpPr>
          <p:cNvPr id="349" name="Google Shape;349;p1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50" name="Google Shape;350;p19: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9"/>
        <p:cNvGrpSpPr/>
        <p:nvPr/>
      </p:nvGrpSpPr>
      <p:grpSpPr>
        <a:xfrm>
          <a:off x="0" y="0"/>
          <a:ext cx="0" cy="0"/>
          <a:chOff x="0" y="0"/>
          <a:chExt cx="0" cy="0"/>
        </a:xfrm>
      </p:grpSpPr>
      <p:sp>
        <p:nvSpPr>
          <p:cNvPr id="360" name="Google Shape;360;p2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61" name="Google Shape;361;p20: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9"/>
        <p:cNvGrpSpPr/>
        <p:nvPr/>
      </p:nvGrpSpPr>
      <p:grpSpPr>
        <a:xfrm>
          <a:off x="0" y="0"/>
          <a:ext cx="0" cy="0"/>
          <a:chOff x="0" y="0"/>
          <a:chExt cx="0" cy="0"/>
        </a:xfrm>
      </p:grpSpPr>
      <p:sp>
        <p:nvSpPr>
          <p:cNvPr id="370" name="Google Shape;370;p2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71" name="Google Shape;371;p21: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9"/>
        <p:cNvGrpSpPr/>
        <p:nvPr/>
      </p:nvGrpSpPr>
      <p:grpSpPr>
        <a:xfrm>
          <a:off x="0" y="0"/>
          <a:ext cx="0" cy="0"/>
          <a:chOff x="0" y="0"/>
          <a:chExt cx="0" cy="0"/>
        </a:xfrm>
      </p:grpSpPr>
      <p:sp>
        <p:nvSpPr>
          <p:cNvPr id="380" name="Google Shape;380;p2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81" name="Google Shape;381;p2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9"/>
        <p:cNvGrpSpPr/>
        <p:nvPr/>
      </p:nvGrpSpPr>
      <p:grpSpPr>
        <a:xfrm>
          <a:off x="0" y="0"/>
          <a:ext cx="0" cy="0"/>
          <a:chOff x="0" y="0"/>
          <a:chExt cx="0" cy="0"/>
        </a:xfrm>
      </p:grpSpPr>
      <p:sp>
        <p:nvSpPr>
          <p:cNvPr id="390" name="Google Shape;390;p2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91" name="Google Shape;391;p2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9"/>
        <p:cNvGrpSpPr/>
        <p:nvPr/>
      </p:nvGrpSpPr>
      <p:grpSpPr>
        <a:xfrm>
          <a:off x="0" y="0"/>
          <a:ext cx="0" cy="0"/>
          <a:chOff x="0" y="0"/>
          <a:chExt cx="0" cy="0"/>
        </a:xfrm>
      </p:grpSpPr>
      <p:sp>
        <p:nvSpPr>
          <p:cNvPr id="400" name="Google Shape;400;p2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01" name="Google Shape;401;p24: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2"/>
        <p:cNvGrpSpPr/>
        <p:nvPr/>
      </p:nvGrpSpPr>
      <p:grpSpPr>
        <a:xfrm>
          <a:off x="0" y="0"/>
          <a:ext cx="0" cy="0"/>
          <a:chOff x="0" y="0"/>
          <a:chExt cx="0" cy="0"/>
        </a:xfrm>
      </p:grpSpPr>
      <p:pic>
        <p:nvPicPr>
          <p:cNvPr id="13" name="Google Shape;13;p26" descr="C2-HD-BTM.png"/>
          <p:cNvPicPr preferRelativeResize="0"/>
          <p:nvPr/>
        </p:nvPicPr>
        <p:blipFill rotWithShape="1">
          <a:blip r:embed="rId2">
            <a:alphaModFix/>
          </a:blip>
          <a:srcRect/>
          <a:stretch/>
        </p:blipFill>
        <p:spPr>
          <a:xfrm>
            <a:off x="0" y="4375150"/>
            <a:ext cx="12192000" cy="2482850"/>
          </a:xfrm>
          <a:prstGeom prst="rect">
            <a:avLst/>
          </a:prstGeom>
          <a:noFill/>
          <a:ln>
            <a:noFill/>
          </a:ln>
        </p:spPr>
      </p:pic>
      <p:sp>
        <p:nvSpPr>
          <p:cNvPr id="14" name="Google Shape;14;p26"/>
          <p:cNvSpPr txBox="1">
            <a:spLocks noGrp="1"/>
          </p:cNvSpPr>
          <p:nvPr>
            <p:ph type="ctrTitle"/>
          </p:nvPr>
        </p:nvSpPr>
        <p:spPr>
          <a:xfrm>
            <a:off x="1371600" y="1803405"/>
            <a:ext cx="9448800" cy="1825096"/>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Century Gothic"/>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5" name="Google Shape;15;p26"/>
          <p:cNvSpPr txBox="1">
            <a:spLocks noGrp="1"/>
          </p:cNvSpPr>
          <p:nvPr>
            <p:ph type="subTitle" idx="1"/>
          </p:nvPr>
        </p:nvSpPr>
        <p:spPr>
          <a:xfrm>
            <a:off x="1371600" y="3632201"/>
            <a:ext cx="9448800" cy="685800"/>
          </a:xfrm>
          <a:prstGeom prst="rect">
            <a:avLst/>
          </a:prstGeom>
          <a:noFill/>
          <a:ln>
            <a:noFill/>
          </a:ln>
        </p:spPr>
        <p:txBody>
          <a:bodyPr spcFirstLastPara="1" wrap="square" lIns="91425" tIns="45700" rIns="91425" bIns="45700" anchor="t" anchorCtr="0">
            <a:normAutofit/>
          </a:bodyPr>
          <a:lstStyle>
            <a:lvl1pPr lvl="0" algn="l">
              <a:lnSpc>
                <a:spcPct val="90000"/>
              </a:lnSpc>
              <a:spcBef>
                <a:spcPts val="1000"/>
              </a:spcBef>
              <a:spcAft>
                <a:spcPts val="0"/>
              </a:spcAft>
              <a:buClr>
                <a:schemeClr val="dk1"/>
              </a:buClr>
              <a:buSzPts val="2000"/>
              <a:buNone/>
              <a:defRPr sz="20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
        <p:nvSpPr>
          <p:cNvPr id="16" name="Google Shape;16;p26"/>
          <p:cNvSpPr txBox="1">
            <a:spLocks noGrp="1"/>
          </p:cNvSpPr>
          <p:nvPr>
            <p:ph type="dt" idx="10"/>
          </p:nvPr>
        </p:nvSpPr>
        <p:spPr>
          <a:xfrm>
            <a:off x="7909561" y="4314328"/>
            <a:ext cx="2910840" cy="374642"/>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7" name="Google Shape;17;p26"/>
          <p:cNvSpPr txBox="1">
            <a:spLocks noGrp="1"/>
          </p:cNvSpPr>
          <p:nvPr>
            <p:ph type="ftr" idx="11"/>
          </p:nvPr>
        </p:nvSpPr>
        <p:spPr>
          <a:xfrm>
            <a:off x="1371600" y="4323845"/>
            <a:ext cx="64008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8" name="Google Shape;18;p26"/>
          <p:cNvSpPr txBox="1">
            <a:spLocks noGrp="1"/>
          </p:cNvSpPr>
          <p:nvPr>
            <p:ph type="sldNum" idx="12"/>
          </p:nvPr>
        </p:nvSpPr>
        <p:spPr>
          <a:xfrm>
            <a:off x="8077200" y="1430866"/>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9"/>
        <p:cNvGrpSpPr/>
        <p:nvPr/>
      </p:nvGrpSpPr>
      <p:grpSpPr>
        <a:xfrm>
          <a:off x="0" y="0"/>
          <a:ext cx="0" cy="0"/>
          <a:chOff x="0" y="0"/>
          <a:chExt cx="0" cy="0"/>
        </a:xfrm>
      </p:grpSpPr>
      <p:sp>
        <p:nvSpPr>
          <p:cNvPr id="20" name="Google Shape;20;p27"/>
          <p:cNvSpPr txBox="1">
            <a:spLocks noGrp="1"/>
          </p:cNvSpPr>
          <p:nvPr>
            <p:ph type="title"/>
          </p:nvPr>
        </p:nvSpPr>
        <p:spPr>
          <a:xfrm>
            <a:off x="2895600" y="764373"/>
            <a:ext cx="8610600" cy="1293028"/>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1" name="Google Shape;21;p27"/>
          <p:cNvSpPr txBox="1">
            <a:spLocks noGrp="1"/>
          </p:cNvSpPr>
          <p:nvPr>
            <p:ph type="body" idx="1"/>
          </p:nvPr>
        </p:nvSpPr>
        <p:spPr>
          <a:xfrm>
            <a:off x="685800" y="2194560"/>
            <a:ext cx="10820400" cy="4024125"/>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2" name="Google Shape;22;p27"/>
          <p:cNvSpPr txBox="1">
            <a:spLocks noGrp="1"/>
          </p:cNvSpPr>
          <p:nvPr>
            <p:ph type="dt" idx="10"/>
          </p:nvPr>
        </p:nvSpPr>
        <p:spPr>
          <a:xfrm>
            <a:off x="8595360" y="6356350"/>
            <a:ext cx="2910840" cy="365125"/>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3" name="Google Shape;23;p27"/>
          <p:cNvSpPr txBox="1">
            <a:spLocks noGrp="1"/>
          </p:cNvSpPr>
          <p:nvPr>
            <p:ph type="ftr" idx="11"/>
          </p:nvPr>
        </p:nvSpPr>
        <p:spPr>
          <a:xfrm>
            <a:off x="685800" y="6355845"/>
            <a:ext cx="77724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4" name="Google Shape;24;p27"/>
          <p:cNvSpPr txBox="1">
            <a:spLocks noGrp="1"/>
          </p:cNvSpPr>
          <p:nvPr>
            <p:ph type="sldNum" idx="12"/>
          </p:nvPr>
        </p:nvSpPr>
        <p:spPr>
          <a:xfrm>
            <a:off x="8763000" y="38100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matchingName="Section Header" type="secHead">
  <p:cSld name="SECTION_HEADER">
    <p:spTree>
      <p:nvGrpSpPr>
        <p:cNvPr id="1" name="Shape 25"/>
        <p:cNvGrpSpPr/>
        <p:nvPr/>
      </p:nvGrpSpPr>
      <p:grpSpPr>
        <a:xfrm>
          <a:off x="0" y="0"/>
          <a:ext cx="0" cy="0"/>
          <a:chOff x="0" y="0"/>
          <a:chExt cx="0" cy="0"/>
        </a:xfrm>
      </p:grpSpPr>
      <p:pic>
        <p:nvPicPr>
          <p:cNvPr id="26" name="Google Shape;26;p28" descr="C2-HD-BTM.png"/>
          <p:cNvPicPr preferRelativeResize="0"/>
          <p:nvPr/>
        </p:nvPicPr>
        <p:blipFill rotWithShape="1">
          <a:blip r:embed="rId2">
            <a:alphaModFix/>
          </a:blip>
          <a:srcRect/>
          <a:stretch/>
        </p:blipFill>
        <p:spPr>
          <a:xfrm>
            <a:off x="0" y="4375150"/>
            <a:ext cx="12192000" cy="2482850"/>
          </a:xfrm>
          <a:prstGeom prst="rect">
            <a:avLst/>
          </a:prstGeom>
          <a:noFill/>
          <a:ln>
            <a:noFill/>
          </a:ln>
        </p:spPr>
      </p:pic>
      <p:sp>
        <p:nvSpPr>
          <p:cNvPr id="27" name="Google Shape;27;p28"/>
          <p:cNvSpPr txBox="1">
            <a:spLocks noGrp="1"/>
          </p:cNvSpPr>
          <p:nvPr>
            <p:ph type="title"/>
          </p:nvPr>
        </p:nvSpPr>
        <p:spPr>
          <a:xfrm>
            <a:off x="685800" y="753533"/>
            <a:ext cx="10820399" cy="2801935"/>
          </a:xfrm>
          <a:prstGeom prst="rect">
            <a:avLst/>
          </a:prstGeom>
          <a:noFill/>
          <a:ln>
            <a:noFill/>
          </a:ln>
        </p:spPr>
        <p:txBody>
          <a:bodyPr spcFirstLastPara="1" wrap="square" lIns="91425" tIns="45700" rIns="91425" bIns="45700" anchor="b" anchorCtr="0">
            <a:normAutofit/>
          </a:bodyPr>
          <a:lstStyle>
            <a:lvl1pPr lvl="0" algn="r">
              <a:lnSpc>
                <a:spcPct val="90000"/>
              </a:lnSpc>
              <a:spcBef>
                <a:spcPts val="0"/>
              </a:spcBef>
              <a:spcAft>
                <a:spcPts val="0"/>
              </a:spcAft>
              <a:buClr>
                <a:schemeClr val="dk1"/>
              </a:buClr>
              <a:buSzPts val="4000"/>
              <a:buFont typeface="Century Gothic"/>
              <a:buNone/>
              <a:defRPr sz="4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8" name="Google Shape;28;p28"/>
          <p:cNvSpPr txBox="1">
            <a:spLocks noGrp="1"/>
          </p:cNvSpPr>
          <p:nvPr>
            <p:ph type="body" idx="1"/>
          </p:nvPr>
        </p:nvSpPr>
        <p:spPr>
          <a:xfrm>
            <a:off x="1024467" y="3641725"/>
            <a:ext cx="10490200" cy="955675"/>
          </a:xfrm>
          <a:prstGeom prst="rect">
            <a:avLst/>
          </a:prstGeom>
          <a:noFill/>
          <a:ln>
            <a:noFill/>
          </a:ln>
        </p:spPr>
        <p:txBody>
          <a:bodyPr spcFirstLastPara="1" wrap="square" lIns="91425" tIns="45700" rIns="91425" bIns="45700" anchor="t" anchorCtr="0">
            <a:normAutofit/>
          </a:bodyPr>
          <a:lstStyle>
            <a:lvl1pPr marL="457200" lvl="0" indent="-228600" algn="r">
              <a:lnSpc>
                <a:spcPct val="90000"/>
              </a:lnSpc>
              <a:spcBef>
                <a:spcPts val="1000"/>
              </a:spcBef>
              <a:spcAft>
                <a:spcPts val="0"/>
              </a:spcAft>
              <a:buClr>
                <a:srgbClr val="888888"/>
              </a:buClr>
              <a:buSzPts val="2200"/>
              <a:buNone/>
              <a:defRPr sz="22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29" name="Google Shape;29;p28"/>
          <p:cNvSpPr txBox="1">
            <a:spLocks noGrp="1"/>
          </p:cNvSpPr>
          <p:nvPr>
            <p:ph type="dt" idx="10"/>
          </p:nvPr>
        </p:nvSpPr>
        <p:spPr>
          <a:xfrm>
            <a:off x="7814452" y="381000"/>
            <a:ext cx="2910840" cy="365125"/>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0" name="Google Shape;30;p28"/>
          <p:cNvSpPr txBox="1">
            <a:spLocks noGrp="1"/>
          </p:cNvSpPr>
          <p:nvPr>
            <p:ph type="ftr" idx="11"/>
          </p:nvPr>
        </p:nvSpPr>
        <p:spPr>
          <a:xfrm>
            <a:off x="685800" y="381001"/>
            <a:ext cx="6991492" cy="36406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1" name="Google Shape;31;p28"/>
          <p:cNvSpPr txBox="1">
            <a:spLocks noGrp="1"/>
          </p:cNvSpPr>
          <p:nvPr>
            <p:ph type="sldNum" idx="12"/>
          </p:nvPr>
        </p:nvSpPr>
        <p:spPr>
          <a:xfrm>
            <a:off x="10862452" y="381000"/>
            <a:ext cx="643748"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2"/>
        <p:cNvGrpSpPr/>
        <p:nvPr/>
      </p:nvGrpSpPr>
      <p:grpSpPr>
        <a:xfrm>
          <a:off x="0" y="0"/>
          <a:ext cx="0" cy="0"/>
          <a:chOff x="0" y="0"/>
          <a:chExt cx="0" cy="0"/>
        </a:xfrm>
      </p:grpSpPr>
      <p:sp>
        <p:nvSpPr>
          <p:cNvPr id="33" name="Google Shape;33;p29"/>
          <p:cNvSpPr txBox="1">
            <a:spLocks noGrp="1"/>
          </p:cNvSpPr>
          <p:nvPr>
            <p:ph type="title"/>
          </p:nvPr>
        </p:nvSpPr>
        <p:spPr>
          <a:xfrm>
            <a:off x="2895600" y="764373"/>
            <a:ext cx="8610600" cy="1293028"/>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4" name="Google Shape;34;p29"/>
          <p:cNvSpPr txBox="1">
            <a:spLocks noGrp="1"/>
          </p:cNvSpPr>
          <p:nvPr>
            <p:ph type="body" idx="1"/>
          </p:nvPr>
        </p:nvSpPr>
        <p:spPr>
          <a:xfrm>
            <a:off x="685800" y="2194559"/>
            <a:ext cx="5334000" cy="4024125"/>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5" name="Google Shape;35;p29"/>
          <p:cNvSpPr txBox="1">
            <a:spLocks noGrp="1"/>
          </p:cNvSpPr>
          <p:nvPr>
            <p:ph type="body" idx="2"/>
          </p:nvPr>
        </p:nvSpPr>
        <p:spPr>
          <a:xfrm>
            <a:off x="6172200" y="2194559"/>
            <a:ext cx="5334000" cy="4024125"/>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6" name="Google Shape;36;p29"/>
          <p:cNvSpPr txBox="1">
            <a:spLocks noGrp="1"/>
          </p:cNvSpPr>
          <p:nvPr>
            <p:ph type="dt" idx="10"/>
          </p:nvPr>
        </p:nvSpPr>
        <p:spPr>
          <a:xfrm>
            <a:off x="8595360" y="6356350"/>
            <a:ext cx="2910840" cy="365125"/>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7" name="Google Shape;37;p29"/>
          <p:cNvSpPr txBox="1">
            <a:spLocks noGrp="1"/>
          </p:cNvSpPr>
          <p:nvPr>
            <p:ph type="ftr" idx="11"/>
          </p:nvPr>
        </p:nvSpPr>
        <p:spPr>
          <a:xfrm>
            <a:off x="685800" y="6355845"/>
            <a:ext cx="77724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8" name="Google Shape;38;p29"/>
          <p:cNvSpPr txBox="1">
            <a:spLocks noGrp="1"/>
          </p:cNvSpPr>
          <p:nvPr>
            <p:ph type="sldNum" idx="12"/>
          </p:nvPr>
        </p:nvSpPr>
        <p:spPr>
          <a:xfrm>
            <a:off x="8763000" y="38100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39"/>
        <p:cNvGrpSpPr/>
        <p:nvPr/>
      </p:nvGrpSpPr>
      <p:grpSpPr>
        <a:xfrm>
          <a:off x="0" y="0"/>
          <a:ext cx="0" cy="0"/>
          <a:chOff x="0" y="0"/>
          <a:chExt cx="0" cy="0"/>
        </a:xfrm>
      </p:grpSpPr>
      <p:sp>
        <p:nvSpPr>
          <p:cNvPr id="40" name="Google Shape;40;p30"/>
          <p:cNvSpPr txBox="1">
            <a:spLocks noGrp="1"/>
          </p:cNvSpPr>
          <p:nvPr>
            <p:ph type="title"/>
          </p:nvPr>
        </p:nvSpPr>
        <p:spPr>
          <a:xfrm>
            <a:off x="2895600" y="762000"/>
            <a:ext cx="8610600" cy="12954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1" name="Google Shape;41;p30"/>
          <p:cNvSpPr txBox="1">
            <a:spLocks noGrp="1"/>
          </p:cNvSpPr>
          <p:nvPr>
            <p:ph type="body" idx="1"/>
          </p:nvPr>
        </p:nvSpPr>
        <p:spPr>
          <a:xfrm>
            <a:off x="914409" y="2183802"/>
            <a:ext cx="5079991"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800"/>
              <a:buNone/>
              <a:defRPr sz="2800" b="0">
                <a:solidFill>
                  <a:schemeClr val="dk1"/>
                </a:solidFill>
              </a:defRPr>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42" name="Google Shape;42;p30"/>
          <p:cNvSpPr txBox="1">
            <a:spLocks noGrp="1"/>
          </p:cNvSpPr>
          <p:nvPr>
            <p:ph type="body" idx="2"/>
          </p:nvPr>
        </p:nvSpPr>
        <p:spPr>
          <a:xfrm>
            <a:off x="685800" y="3132666"/>
            <a:ext cx="5311775" cy="3086019"/>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3" name="Google Shape;43;p30"/>
          <p:cNvSpPr txBox="1">
            <a:spLocks noGrp="1"/>
          </p:cNvSpPr>
          <p:nvPr>
            <p:ph type="body" idx="3"/>
          </p:nvPr>
        </p:nvSpPr>
        <p:spPr>
          <a:xfrm>
            <a:off x="6400800" y="2183802"/>
            <a:ext cx="5105400"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800"/>
              <a:buNone/>
              <a:defRPr sz="2800" b="0">
                <a:solidFill>
                  <a:schemeClr val="dk1"/>
                </a:solidFill>
              </a:defRPr>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44" name="Google Shape;44;p30"/>
          <p:cNvSpPr txBox="1">
            <a:spLocks noGrp="1"/>
          </p:cNvSpPr>
          <p:nvPr>
            <p:ph type="body" idx="4"/>
          </p:nvPr>
        </p:nvSpPr>
        <p:spPr>
          <a:xfrm>
            <a:off x="6172200" y="3132666"/>
            <a:ext cx="5334000" cy="3086019"/>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5" name="Google Shape;45;p30"/>
          <p:cNvSpPr txBox="1">
            <a:spLocks noGrp="1"/>
          </p:cNvSpPr>
          <p:nvPr>
            <p:ph type="dt" idx="10"/>
          </p:nvPr>
        </p:nvSpPr>
        <p:spPr>
          <a:xfrm>
            <a:off x="8595360" y="6356350"/>
            <a:ext cx="2910840" cy="365125"/>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6" name="Google Shape;46;p30"/>
          <p:cNvSpPr txBox="1">
            <a:spLocks noGrp="1"/>
          </p:cNvSpPr>
          <p:nvPr>
            <p:ph type="ftr" idx="11"/>
          </p:nvPr>
        </p:nvSpPr>
        <p:spPr>
          <a:xfrm>
            <a:off x="685800" y="6355845"/>
            <a:ext cx="77724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7" name="Google Shape;47;p30"/>
          <p:cNvSpPr txBox="1">
            <a:spLocks noGrp="1"/>
          </p:cNvSpPr>
          <p:nvPr>
            <p:ph type="sldNum" idx="12"/>
          </p:nvPr>
        </p:nvSpPr>
        <p:spPr>
          <a:xfrm>
            <a:off x="8763000" y="38100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8"/>
        <p:cNvGrpSpPr/>
        <p:nvPr/>
      </p:nvGrpSpPr>
      <p:grpSpPr>
        <a:xfrm>
          <a:off x="0" y="0"/>
          <a:ext cx="0" cy="0"/>
          <a:chOff x="0" y="0"/>
          <a:chExt cx="0" cy="0"/>
        </a:xfrm>
      </p:grpSpPr>
      <p:sp>
        <p:nvSpPr>
          <p:cNvPr id="49" name="Google Shape;49;p31"/>
          <p:cNvSpPr txBox="1">
            <a:spLocks noGrp="1"/>
          </p:cNvSpPr>
          <p:nvPr>
            <p:ph type="title"/>
          </p:nvPr>
        </p:nvSpPr>
        <p:spPr>
          <a:xfrm>
            <a:off x="2895600" y="764373"/>
            <a:ext cx="8610600" cy="1293028"/>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0" name="Google Shape;50;p31"/>
          <p:cNvSpPr txBox="1">
            <a:spLocks noGrp="1"/>
          </p:cNvSpPr>
          <p:nvPr>
            <p:ph type="dt" idx="10"/>
          </p:nvPr>
        </p:nvSpPr>
        <p:spPr>
          <a:xfrm>
            <a:off x="8595360" y="6356350"/>
            <a:ext cx="2910840" cy="365125"/>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1" name="Google Shape;51;p31"/>
          <p:cNvSpPr txBox="1">
            <a:spLocks noGrp="1"/>
          </p:cNvSpPr>
          <p:nvPr>
            <p:ph type="ftr" idx="11"/>
          </p:nvPr>
        </p:nvSpPr>
        <p:spPr>
          <a:xfrm>
            <a:off x="685800" y="6355845"/>
            <a:ext cx="77724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2" name="Google Shape;52;p31"/>
          <p:cNvSpPr txBox="1">
            <a:spLocks noGrp="1"/>
          </p:cNvSpPr>
          <p:nvPr>
            <p:ph type="sldNum" idx="12"/>
          </p:nvPr>
        </p:nvSpPr>
        <p:spPr>
          <a:xfrm>
            <a:off x="8763000" y="38100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3"/>
        <p:cNvGrpSpPr/>
        <p:nvPr/>
      </p:nvGrpSpPr>
      <p:grpSpPr>
        <a:xfrm>
          <a:off x="0" y="0"/>
          <a:ext cx="0" cy="0"/>
          <a:chOff x="0" y="0"/>
          <a:chExt cx="0" cy="0"/>
        </a:xfrm>
      </p:grpSpPr>
      <p:sp>
        <p:nvSpPr>
          <p:cNvPr id="54" name="Google Shape;54;p32"/>
          <p:cNvSpPr txBox="1">
            <a:spLocks noGrp="1"/>
          </p:cNvSpPr>
          <p:nvPr>
            <p:ph type="dt" idx="10"/>
          </p:nvPr>
        </p:nvSpPr>
        <p:spPr>
          <a:xfrm>
            <a:off x="8595360" y="6356350"/>
            <a:ext cx="2910840" cy="365125"/>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5" name="Google Shape;55;p32"/>
          <p:cNvSpPr txBox="1">
            <a:spLocks noGrp="1"/>
          </p:cNvSpPr>
          <p:nvPr>
            <p:ph type="ftr" idx="11"/>
          </p:nvPr>
        </p:nvSpPr>
        <p:spPr>
          <a:xfrm>
            <a:off x="685800" y="6355845"/>
            <a:ext cx="77724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6" name="Google Shape;56;p32"/>
          <p:cNvSpPr txBox="1">
            <a:spLocks noGrp="1"/>
          </p:cNvSpPr>
          <p:nvPr>
            <p:ph type="sldNum" idx="12"/>
          </p:nvPr>
        </p:nvSpPr>
        <p:spPr>
          <a:xfrm>
            <a:off x="8763000" y="38100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7"/>
        <p:cNvGrpSpPr/>
        <p:nvPr/>
      </p:nvGrpSpPr>
      <p:grpSpPr>
        <a:xfrm>
          <a:off x="0" y="0"/>
          <a:ext cx="0" cy="0"/>
          <a:chOff x="0" y="0"/>
          <a:chExt cx="0" cy="0"/>
        </a:xfrm>
      </p:grpSpPr>
      <p:sp>
        <p:nvSpPr>
          <p:cNvPr id="58" name="Google Shape;58;p33"/>
          <p:cNvSpPr txBox="1">
            <a:spLocks noGrp="1"/>
          </p:cNvSpPr>
          <p:nvPr>
            <p:ph type="title"/>
          </p:nvPr>
        </p:nvSpPr>
        <p:spPr>
          <a:xfrm>
            <a:off x="685800" y="1524000"/>
            <a:ext cx="4114800"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entury Gothic"/>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9" name="Google Shape;59;p33"/>
          <p:cNvSpPr txBox="1">
            <a:spLocks noGrp="1"/>
          </p:cNvSpPr>
          <p:nvPr>
            <p:ph type="body" idx="1"/>
          </p:nvPr>
        </p:nvSpPr>
        <p:spPr>
          <a:xfrm>
            <a:off x="4995582" y="746759"/>
            <a:ext cx="6510618" cy="5471925"/>
          </a:xfrm>
          <a:prstGeom prst="rect">
            <a:avLst/>
          </a:prstGeom>
          <a:noFill/>
          <a:ln>
            <a:noFill/>
          </a:ln>
        </p:spPr>
        <p:txBody>
          <a:bodyPr spcFirstLastPara="1" wrap="square" lIns="91425" tIns="45700" rIns="91425" bIns="45700" anchor="ctr"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60" name="Google Shape;60;p33"/>
          <p:cNvSpPr txBox="1">
            <a:spLocks noGrp="1"/>
          </p:cNvSpPr>
          <p:nvPr>
            <p:ph type="body" idx="2"/>
          </p:nvPr>
        </p:nvSpPr>
        <p:spPr>
          <a:xfrm>
            <a:off x="685800" y="3124199"/>
            <a:ext cx="4114800" cy="3094485"/>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1" name="Google Shape;61;p33"/>
          <p:cNvSpPr txBox="1">
            <a:spLocks noGrp="1"/>
          </p:cNvSpPr>
          <p:nvPr>
            <p:ph type="dt" idx="10"/>
          </p:nvPr>
        </p:nvSpPr>
        <p:spPr>
          <a:xfrm>
            <a:off x="8595360" y="6356350"/>
            <a:ext cx="2910840" cy="365125"/>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2" name="Google Shape;62;p33"/>
          <p:cNvSpPr txBox="1">
            <a:spLocks noGrp="1"/>
          </p:cNvSpPr>
          <p:nvPr>
            <p:ph type="ftr" idx="11"/>
          </p:nvPr>
        </p:nvSpPr>
        <p:spPr>
          <a:xfrm>
            <a:off x="685800" y="6355845"/>
            <a:ext cx="77724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3" name="Google Shape;63;p33"/>
          <p:cNvSpPr txBox="1">
            <a:spLocks noGrp="1"/>
          </p:cNvSpPr>
          <p:nvPr>
            <p:ph type="sldNum" idx="12"/>
          </p:nvPr>
        </p:nvSpPr>
        <p:spPr>
          <a:xfrm>
            <a:off x="8763000" y="38100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4"/>
        <p:cNvGrpSpPr/>
        <p:nvPr/>
      </p:nvGrpSpPr>
      <p:grpSpPr>
        <a:xfrm>
          <a:off x="0" y="0"/>
          <a:ext cx="0" cy="0"/>
          <a:chOff x="0" y="0"/>
          <a:chExt cx="0" cy="0"/>
        </a:xfrm>
      </p:grpSpPr>
      <p:sp>
        <p:nvSpPr>
          <p:cNvPr id="65" name="Google Shape;65;p34"/>
          <p:cNvSpPr txBox="1">
            <a:spLocks noGrp="1"/>
          </p:cNvSpPr>
          <p:nvPr>
            <p:ph type="title"/>
          </p:nvPr>
        </p:nvSpPr>
        <p:spPr>
          <a:xfrm>
            <a:off x="685800" y="1524000"/>
            <a:ext cx="6873240"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entury Gothic"/>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6" name="Google Shape;66;p34"/>
          <p:cNvSpPr>
            <a:spLocks noGrp="1"/>
          </p:cNvSpPr>
          <p:nvPr>
            <p:ph type="pic" idx="2"/>
          </p:nvPr>
        </p:nvSpPr>
        <p:spPr>
          <a:xfrm>
            <a:off x="7861238" y="751241"/>
            <a:ext cx="3644962" cy="5467443"/>
          </a:xfrm>
          <a:prstGeom prst="rect">
            <a:avLst/>
          </a:prstGeom>
          <a:noFill/>
          <a:ln>
            <a:noFill/>
          </a:ln>
        </p:spPr>
      </p:sp>
      <p:sp>
        <p:nvSpPr>
          <p:cNvPr id="67" name="Google Shape;67;p34"/>
          <p:cNvSpPr txBox="1">
            <a:spLocks noGrp="1"/>
          </p:cNvSpPr>
          <p:nvPr>
            <p:ph type="body" idx="1"/>
          </p:nvPr>
        </p:nvSpPr>
        <p:spPr>
          <a:xfrm>
            <a:off x="685800" y="3124199"/>
            <a:ext cx="6873240" cy="3094485"/>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8" name="Google Shape;68;p34"/>
          <p:cNvSpPr txBox="1">
            <a:spLocks noGrp="1"/>
          </p:cNvSpPr>
          <p:nvPr>
            <p:ph type="dt" idx="10"/>
          </p:nvPr>
        </p:nvSpPr>
        <p:spPr>
          <a:xfrm>
            <a:off x="8595360" y="6356350"/>
            <a:ext cx="2910840" cy="365125"/>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9" name="Google Shape;69;p34"/>
          <p:cNvSpPr txBox="1">
            <a:spLocks noGrp="1"/>
          </p:cNvSpPr>
          <p:nvPr>
            <p:ph type="ftr" idx="11"/>
          </p:nvPr>
        </p:nvSpPr>
        <p:spPr>
          <a:xfrm>
            <a:off x="685800" y="6355845"/>
            <a:ext cx="77724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0" name="Google Shape;70;p34"/>
          <p:cNvSpPr txBox="1">
            <a:spLocks noGrp="1"/>
          </p:cNvSpPr>
          <p:nvPr>
            <p:ph type="sldNum" idx="12"/>
          </p:nvPr>
        </p:nvSpPr>
        <p:spPr>
          <a:xfrm>
            <a:off x="8763000" y="38100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Panoramic Picture with Caption">
  <p:cSld name="Panoramic Picture with Caption">
    <p:spTree>
      <p:nvGrpSpPr>
        <p:cNvPr id="1" name="Shape 71"/>
        <p:cNvGrpSpPr/>
        <p:nvPr/>
      </p:nvGrpSpPr>
      <p:grpSpPr>
        <a:xfrm>
          <a:off x="0" y="0"/>
          <a:ext cx="0" cy="0"/>
          <a:chOff x="0" y="0"/>
          <a:chExt cx="0" cy="0"/>
        </a:xfrm>
      </p:grpSpPr>
      <p:sp>
        <p:nvSpPr>
          <p:cNvPr id="72" name="Google Shape;72;p35"/>
          <p:cNvSpPr txBox="1">
            <a:spLocks noGrp="1"/>
          </p:cNvSpPr>
          <p:nvPr>
            <p:ph type="title"/>
          </p:nvPr>
        </p:nvSpPr>
        <p:spPr>
          <a:xfrm>
            <a:off x="685777" y="4697360"/>
            <a:ext cx="10822034" cy="819355"/>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entury Gothic"/>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3" name="Google Shape;73;p35"/>
          <p:cNvSpPr>
            <a:spLocks noGrp="1"/>
          </p:cNvSpPr>
          <p:nvPr>
            <p:ph type="pic" idx="2"/>
          </p:nvPr>
        </p:nvSpPr>
        <p:spPr>
          <a:xfrm>
            <a:off x="681727" y="941439"/>
            <a:ext cx="10821840" cy="3478161"/>
          </a:xfrm>
          <a:prstGeom prst="rect">
            <a:avLst/>
          </a:prstGeom>
          <a:noFill/>
          <a:ln>
            <a:noFill/>
          </a:ln>
        </p:spPr>
      </p:sp>
      <p:sp>
        <p:nvSpPr>
          <p:cNvPr id="74" name="Google Shape;74;p35"/>
          <p:cNvSpPr txBox="1">
            <a:spLocks noGrp="1"/>
          </p:cNvSpPr>
          <p:nvPr>
            <p:ph type="body" idx="1"/>
          </p:nvPr>
        </p:nvSpPr>
        <p:spPr>
          <a:xfrm>
            <a:off x="685800" y="5516715"/>
            <a:ext cx="10820400" cy="701969"/>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75" name="Google Shape;75;p35"/>
          <p:cNvSpPr txBox="1">
            <a:spLocks noGrp="1"/>
          </p:cNvSpPr>
          <p:nvPr>
            <p:ph type="dt" idx="10"/>
          </p:nvPr>
        </p:nvSpPr>
        <p:spPr>
          <a:xfrm>
            <a:off x="8595360" y="6356350"/>
            <a:ext cx="2910840" cy="365125"/>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6" name="Google Shape;76;p35"/>
          <p:cNvSpPr txBox="1">
            <a:spLocks noGrp="1"/>
          </p:cNvSpPr>
          <p:nvPr>
            <p:ph type="ftr" idx="11"/>
          </p:nvPr>
        </p:nvSpPr>
        <p:spPr>
          <a:xfrm>
            <a:off x="685800" y="6355845"/>
            <a:ext cx="77724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7" name="Google Shape;77;p35"/>
          <p:cNvSpPr txBox="1">
            <a:spLocks noGrp="1"/>
          </p:cNvSpPr>
          <p:nvPr>
            <p:ph type="sldNum" idx="12"/>
          </p:nvPr>
        </p:nvSpPr>
        <p:spPr>
          <a:xfrm>
            <a:off x="8763000" y="38100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matchingName="Title and Caption">
  <p:cSld name="Title and Caption">
    <p:spTree>
      <p:nvGrpSpPr>
        <p:cNvPr id="1" name="Shape 78"/>
        <p:cNvGrpSpPr/>
        <p:nvPr/>
      </p:nvGrpSpPr>
      <p:grpSpPr>
        <a:xfrm>
          <a:off x="0" y="0"/>
          <a:ext cx="0" cy="0"/>
          <a:chOff x="0" y="0"/>
          <a:chExt cx="0" cy="0"/>
        </a:xfrm>
      </p:grpSpPr>
      <p:pic>
        <p:nvPicPr>
          <p:cNvPr id="79" name="Google Shape;79;p36" descr="C2-HD-BTM.png"/>
          <p:cNvPicPr preferRelativeResize="0"/>
          <p:nvPr/>
        </p:nvPicPr>
        <p:blipFill rotWithShape="1">
          <a:blip r:embed="rId2">
            <a:alphaModFix/>
          </a:blip>
          <a:srcRect/>
          <a:stretch/>
        </p:blipFill>
        <p:spPr>
          <a:xfrm>
            <a:off x="0" y="4375150"/>
            <a:ext cx="12192000" cy="2482850"/>
          </a:xfrm>
          <a:prstGeom prst="rect">
            <a:avLst/>
          </a:prstGeom>
          <a:noFill/>
          <a:ln>
            <a:noFill/>
          </a:ln>
        </p:spPr>
      </p:pic>
      <p:sp>
        <p:nvSpPr>
          <p:cNvPr id="80" name="Google Shape;80;p36"/>
          <p:cNvSpPr txBox="1">
            <a:spLocks noGrp="1"/>
          </p:cNvSpPr>
          <p:nvPr>
            <p:ph type="title"/>
          </p:nvPr>
        </p:nvSpPr>
        <p:spPr>
          <a:xfrm>
            <a:off x="685800" y="753532"/>
            <a:ext cx="10820400" cy="2802467"/>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3200"/>
              <a:buFont typeface="Century Gothic"/>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81" name="Google Shape;81;p36"/>
          <p:cNvSpPr txBox="1">
            <a:spLocks noGrp="1"/>
          </p:cNvSpPr>
          <p:nvPr>
            <p:ph type="body" idx="1"/>
          </p:nvPr>
        </p:nvSpPr>
        <p:spPr>
          <a:xfrm>
            <a:off x="1024467" y="3649133"/>
            <a:ext cx="10130516" cy="999067"/>
          </a:xfrm>
          <a:prstGeom prst="rect">
            <a:avLst/>
          </a:prstGeom>
          <a:noFill/>
          <a:ln>
            <a:noFill/>
          </a:ln>
        </p:spPr>
        <p:txBody>
          <a:bodyPr spcFirstLastPara="1" wrap="square" lIns="91425" tIns="45700" rIns="91425" bIns="45700" anchor="ctr"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82" name="Google Shape;82;p36"/>
          <p:cNvSpPr txBox="1">
            <a:spLocks noGrp="1"/>
          </p:cNvSpPr>
          <p:nvPr>
            <p:ph type="dt" idx="10"/>
          </p:nvPr>
        </p:nvSpPr>
        <p:spPr>
          <a:xfrm>
            <a:off x="7814452" y="381000"/>
            <a:ext cx="2910840" cy="365125"/>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3" name="Google Shape;83;p36"/>
          <p:cNvSpPr txBox="1">
            <a:spLocks noGrp="1"/>
          </p:cNvSpPr>
          <p:nvPr>
            <p:ph type="ftr" idx="11"/>
          </p:nvPr>
        </p:nvSpPr>
        <p:spPr>
          <a:xfrm>
            <a:off x="685800" y="379941"/>
            <a:ext cx="6991492"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4" name="Google Shape;84;p36"/>
          <p:cNvSpPr txBox="1">
            <a:spLocks noGrp="1"/>
          </p:cNvSpPr>
          <p:nvPr>
            <p:ph type="sldNum" idx="12"/>
          </p:nvPr>
        </p:nvSpPr>
        <p:spPr>
          <a:xfrm>
            <a:off x="10862452" y="381000"/>
            <a:ext cx="643748"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matchingName="Quote with Caption">
  <p:cSld name="Quote with Caption">
    <p:spTree>
      <p:nvGrpSpPr>
        <p:cNvPr id="1" name="Shape 85"/>
        <p:cNvGrpSpPr/>
        <p:nvPr/>
      </p:nvGrpSpPr>
      <p:grpSpPr>
        <a:xfrm>
          <a:off x="0" y="0"/>
          <a:ext cx="0" cy="0"/>
          <a:chOff x="0" y="0"/>
          <a:chExt cx="0" cy="0"/>
        </a:xfrm>
      </p:grpSpPr>
      <p:pic>
        <p:nvPicPr>
          <p:cNvPr id="86" name="Google Shape;86;p37" descr="C2-HD-BTM.png"/>
          <p:cNvPicPr preferRelativeResize="0"/>
          <p:nvPr/>
        </p:nvPicPr>
        <p:blipFill rotWithShape="1">
          <a:blip r:embed="rId2">
            <a:alphaModFix/>
          </a:blip>
          <a:srcRect/>
          <a:stretch/>
        </p:blipFill>
        <p:spPr>
          <a:xfrm>
            <a:off x="0" y="4375150"/>
            <a:ext cx="12192000" cy="2482850"/>
          </a:xfrm>
          <a:prstGeom prst="rect">
            <a:avLst/>
          </a:prstGeom>
          <a:noFill/>
          <a:ln>
            <a:noFill/>
          </a:ln>
        </p:spPr>
      </p:pic>
      <p:sp>
        <p:nvSpPr>
          <p:cNvPr id="87" name="Google Shape;87;p37"/>
          <p:cNvSpPr txBox="1">
            <a:spLocks noGrp="1"/>
          </p:cNvSpPr>
          <p:nvPr>
            <p:ph type="title"/>
          </p:nvPr>
        </p:nvSpPr>
        <p:spPr>
          <a:xfrm>
            <a:off x="1024467" y="753533"/>
            <a:ext cx="10151533" cy="2604495"/>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3200"/>
              <a:buFont typeface="Century Gothic"/>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88" name="Google Shape;88;p37"/>
          <p:cNvSpPr txBox="1">
            <a:spLocks noGrp="1"/>
          </p:cNvSpPr>
          <p:nvPr>
            <p:ph type="body" idx="1"/>
          </p:nvPr>
        </p:nvSpPr>
        <p:spPr>
          <a:xfrm>
            <a:off x="1303865" y="3365556"/>
            <a:ext cx="9592736" cy="444443"/>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400"/>
              <a:buNone/>
              <a:defRPr sz="14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89" name="Google Shape;89;p37"/>
          <p:cNvSpPr txBox="1">
            <a:spLocks noGrp="1"/>
          </p:cNvSpPr>
          <p:nvPr>
            <p:ph type="body" idx="2"/>
          </p:nvPr>
        </p:nvSpPr>
        <p:spPr>
          <a:xfrm>
            <a:off x="1024467" y="3959862"/>
            <a:ext cx="10151533" cy="679871"/>
          </a:xfrm>
          <a:prstGeom prst="rect">
            <a:avLst/>
          </a:prstGeom>
          <a:noFill/>
          <a:ln>
            <a:noFill/>
          </a:ln>
        </p:spPr>
        <p:txBody>
          <a:bodyPr spcFirstLastPara="1" wrap="square" lIns="91425" tIns="45700" rIns="91425" bIns="45700" anchor="ctr"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90" name="Google Shape;90;p37"/>
          <p:cNvSpPr txBox="1">
            <a:spLocks noGrp="1"/>
          </p:cNvSpPr>
          <p:nvPr>
            <p:ph type="dt" idx="10"/>
          </p:nvPr>
        </p:nvSpPr>
        <p:spPr>
          <a:xfrm>
            <a:off x="7814452" y="381000"/>
            <a:ext cx="2910840" cy="365125"/>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91" name="Google Shape;91;p37"/>
          <p:cNvSpPr txBox="1">
            <a:spLocks noGrp="1"/>
          </p:cNvSpPr>
          <p:nvPr>
            <p:ph type="ftr" idx="11"/>
          </p:nvPr>
        </p:nvSpPr>
        <p:spPr>
          <a:xfrm>
            <a:off x="685800" y="379941"/>
            <a:ext cx="6991492"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92" name="Google Shape;92;p37"/>
          <p:cNvSpPr txBox="1">
            <a:spLocks noGrp="1"/>
          </p:cNvSpPr>
          <p:nvPr>
            <p:ph type="sldNum" idx="12"/>
          </p:nvPr>
        </p:nvSpPr>
        <p:spPr>
          <a:xfrm>
            <a:off x="10862452" y="381000"/>
            <a:ext cx="643748"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
        <p:nvSpPr>
          <p:cNvPr id="93" name="Google Shape;93;p37"/>
          <p:cNvSpPr txBox="1"/>
          <p:nvPr/>
        </p:nvSpPr>
        <p:spPr>
          <a:xfrm>
            <a:off x="476250" y="933450"/>
            <a:ext cx="609600" cy="584776"/>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chemeClr val="dk1"/>
              </a:buClr>
              <a:buSzPts val="8000"/>
              <a:buFont typeface="Century Gothic"/>
              <a:buNone/>
            </a:pPr>
            <a:r>
              <a:rPr lang="en-US" sz="8000" b="0" cap="none">
                <a:solidFill>
                  <a:schemeClr val="dk1"/>
                </a:solidFill>
                <a:latin typeface="Century Gothic"/>
                <a:ea typeface="Century Gothic"/>
                <a:cs typeface="Century Gothic"/>
                <a:sym typeface="Century Gothic"/>
              </a:rPr>
              <a:t>“</a:t>
            </a:r>
            <a:endParaRPr/>
          </a:p>
        </p:txBody>
      </p:sp>
      <p:sp>
        <p:nvSpPr>
          <p:cNvPr id="94" name="Google Shape;94;p37"/>
          <p:cNvSpPr txBox="1"/>
          <p:nvPr/>
        </p:nvSpPr>
        <p:spPr>
          <a:xfrm>
            <a:off x="10984230" y="2701290"/>
            <a:ext cx="609600" cy="584776"/>
          </a:xfrm>
          <a:prstGeom prst="rect">
            <a:avLst/>
          </a:prstGeom>
          <a:noFill/>
          <a:ln>
            <a:noFill/>
          </a:ln>
        </p:spPr>
        <p:txBody>
          <a:bodyPr spcFirstLastPara="1" wrap="square" lIns="91425" tIns="45700" rIns="91425" bIns="45700" anchor="ctr" anchorCtr="0">
            <a:noAutofit/>
          </a:bodyPr>
          <a:lstStyle/>
          <a:p>
            <a:pPr marL="0" marR="0" lvl="0" indent="0" algn="r" rtl="0">
              <a:spcBef>
                <a:spcPts val="0"/>
              </a:spcBef>
              <a:spcAft>
                <a:spcPts val="0"/>
              </a:spcAft>
              <a:buClr>
                <a:schemeClr val="dk1"/>
              </a:buClr>
              <a:buSzPts val="8000"/>
              <a:buFont typeface="Century Gothic"/>
              <a:buNone/>
            </a:pPr>
            <a:r>
              <a:rPr lang="en-US" sz="8000" b="0" cap="none">
                <a:solidFill>
                  <a:schemeClr val="dk1"/>
                </a:solidFill>
                <a:latin typeface="Century Gothic"/>
                <a:ea typeface="Century Gothic"/>
                <a:cs typeface="Century Gothic"/>
                <a:sym typeface="Century Gothic"/>
              </a:rPr>
              <a:t>”</a:t>
            </a:r>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matchingName="Name Card">
  <p:cSld name="Name Card">
    <p:spTree>
      <p:nvGrpSpPr>
        <p:cNvPr id="1" name="Shape 95"/>
        <p:cNvGrpSpPr/>
        <p:nvPr/>
      </p:nvGrpSpPr>
      <p:grpSpPr>
        <a:xfrm>
          <a:off x="0" y="0"/>
          <a:ext cx="0" cy="0"/>
          <a:chOff x="0" y="0"/>
          <a:chExt cx="0" cy="0"/>
        </a:xfrm>
      </p:grpSpPr>
      <p:pic>
        <p:nvPicPr>
          <p:cNvPr id="96" name="Google Shape;96;p38" descr="C2-HD-BTM.png"/>
          <p:cNvPicPr preferRelativeResize="0"/>
          <p:nvPr/>
        </p:nvPicPr>
        <p:blipFill rotWithShape="1">
          <a:blip r:embed="rId2">
            <a:alphaModFix/>
          </a:blip>
          <a:srcRect/>
          <a:stretch/>
        </p:blipFill>
        <p:spPr>
          <a:xfrm>
            <a:off x="0" y="4375150"/>
            <a:ext cx="12192000" cy="2482850"/>
          </a:xfrm>
          <a:prstGeom prst="rect">
            <a:avLst/>
          </a:prstGeom>
          <a:noFill/>
          <a:ln>
            <a:noFill/>
          </a:ln>
        </p:spPr>
      </p:pic>
      <p:sp>
        <p:nvSpPr>
          <p:cNvPr id="97" name="Google Shape;97;p38"/>
          <p:cNvSpPr txBox="1">
            <a:spLocks noGrp="1"/>
          </p:cNvSpPr>
          <p:nvPr>
            <p:ph type="title"/>
          </p:nvPr>
        </p:nvSpPr>
        <p:spPr>
          <a:xfrm>
            <a:off x="1024495" y="1124701"/>
            <a:ext cx="10146186" cy="2511835"/>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entury Gothic"/>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98" name="Google Shape;98;p38"/>
          <p:cNvSpPr txBox="1">
            <a:spLocks noGrp="1"/>
          </p:cNvSpPr>
          <p:nvPr>
            <p:ph type="body" idx="1"/>
          </p:nvPr>
        </p:nvSpPr>
        <p:spPr>
          <a:xfrm>
            <a:off x="1024467" y="3648315"/>
            <a:ext cx="10144654" cy="999885"/>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99" name="Google Shape;99;p38"/>
          <p:cNvSpPr txBox="1">
            <a:spLocks noGrp="1"/>
          </p:cNvSpPr>
          <p:nvPr>
            <p:ph type="dt" idx="10"/>
          </p:nvPr>
        </p:nvSpPr>
        <p:spPr>
          <a:xfrm>
            <a:off x="7814452" y="378883"/>
            <a:ext cx="2910840" cy="365125"/>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00" name="Google Shape;100;p38"/>
          <p:cNvSpPr txBox="1">
            <a:spLocks noGrp="1"/>
          </p:cNvSpPr>
          <p:nvPr>
            <p:ph type="ftr" idx="11"/>
          </p:nvPr>
        </p:nvSpPr>
        <p:spPr>
          <a:xfrm>
            <a:off x="685800" y="378883"/>
            <a:ext cx="6991492"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01" name="Google Shape;101;p38"/>
          <p:cNvSpPr txBox="1">
            <a:spLocks noGrp="1"/>
          </p:cNvSpPr>
          <p:nvPr>
            <p:ph type="sldNum" idx="12"/>
          </p:nvPr>
        </p:nvSpPr>
        <p:spPr>
          <a:xfrm>
            <a:off x="10862452" y="381000"/>
            <a:ext cx="643748"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3 Column">
  <p:cSld name="3 Column">
    <p:spTree>
      <p:nvGrpSpPr>
        <p:cNvPr id="1" name="Shape 102"/>
        <p:cNvGrpSpPr/>
        <p:nvPr/>
      </p:nvGrpSpPr>
      <p:grpSpPr>
        <a:xfrm>
          <a:off x="0" y="0"/>
          <a:ext cx="0" cy="0"/>
          <a:chOff x="0" y="0"/>
          <a:chExt cx="0" cy="0"/>
        </a:xfrm>
      </p:grpSpPr>
      <p:sp>
        <p:nvSpPr>
          <p:cNvPr id="103" name="Google Shape;103;p39"/>
          <p:cNvSpPr txBox="1">
            <a:spLocks noGrp="1"/>
          </p:cNvSpPr>
          <p:nvPr>
            <p:ph type="title"/>
          </p:nvPr>
        </p:nvSpPr>
        <p:spPr>
          <a:xfrm>
            <a:off x="2895600" y="761999"/>
            <a:ext cx="8610599" cy="1303867"/>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04" name="Google Shape;104;p39"/>
          <p:cNvSpPr txBox="1">
            <a:spLocks noGrp="1"/>
          </p:cNvSpPr>
          <p:nvPr>
            <p:ph type="body" idx="1"/>
          </p:nvPr>
        </p:nvSpPr>
        <p:spPr>
          <a:xfrm>
            <a:off x="685800" y="2202080"/>
            <a:ext cx="3456432" cy="617320"/>
          </a:xfrm>
          <a:prstGeom prst="rect">
            <a:avLst/>
          </a:prstGeom>
          <a:noFill/>
          <a:ln>
            <a:noFill/>
          </a:ln>
        </p:spPr>
        <p:txBody>
          <a:bodyPr spcFirstLastPara="1" wrap="square" lIns="91425" tIns="45700" rIns="91425" bIns="45700" anchor="b" anchorCtr="0">
            <a:noAutofit/>
          </a:bodyPr>
          <a:lstStyle>
            <a:lvl1pPr marL="457200" lvl="0" indent="-228600" algn="l">
              <a:lnSpc>
                <a:spcPct val="90000"/>
              </a:lnSpc>
              <a:spcBef>
                <a:spcPts val="1000"/>
              </a:spcBef>
              <a:spcAft>
                <a:spcPts val="0"/>
              </a:spcAft>
              <a:buClr>
                <a:schemeClr val="dk1"/>
              </a:buClr>
              <a:buSzPts val="2400"/>
              <a:buNone/>
              <a:defRPr sz="2400" b="0">
                <a:solidFill>
                  <a:schemeClr val="dk1"/>
                </a:solidFill>
              </a:defRPr>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105" name="Google Shape;105;p39"/>
          <p:cNvSpPr txBox="1">
            <a:spLocks noGrp="1"/>
          </p:cNvSpPr>
          <p:nvPr>
            <p:ph type="body" idx="2"/>
          </p:nvPr>
        </p:nvSpPr>
        <p:spPr>
          <a:xfrm>
            <a:off x="685799" y="2904565"/>
            <a:ext cx="3456432" cy="3314132"/>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400"/>
              <a:buNone/>
              <a:defRPr sz="1400"/>
            </a:lvl1pPr>
            <a:lvl2pPr marL="914400" lvl="1" indent="-228600" algn="l">
              <a:lnSpc>
                <a:spcPct val="90000"/>
              </a:lnSpc>
              <a:spcBef>
                <a:spcPts val="500"/>
              </a:spcBef>
              <a:spcAft>
                <a:spcPts val="0"/>
              </a:spcAft>
              <a:buClr>
                <a:schemeClr val="dk1"/>
              </a:buClr>
              <a:buSzPts val="1200"/>
              <a:buNone/>
              <a:defRPr sz="1200"/>
            </a:lvl2pPr>
            <a:lvl3pPr marL="1371600" lvl="2" indent="-228600" algn="l">
              <a:lnSpc>
                <a:spcPct val="90000"/>
              </a:lnSpc>
              <a:spcBef>
                <a:spcPts val="500"/>
              </a:spcBef>
              <a:spcAft>
                <a:spcPts val="0"/>
              </a:spcAft>
              <a:buClr>
                <a:schemeClr val="dk1"/>
              </a:buClr>
              <a:buSzPts val="1000"/>
              <a:buNone/>
              <a:defRPr sz="1000"/>
            </a:lvl3pPr>
            <a:lvl4pPr marL="1828800" lvl="3" indent="-228600" algn="l">
              <a:lnSpc>
                <a:spcPct val="90000"/>
              </a:lnSpc>
              <a:spcBef>
                <a:spcPts val="500"/>
              </a:spcBef>
              <a:spcAft>
                <a:spcPts val="0"/>
              </a:spcAft>
              <a:buClr>
                <a:schemeClr val="dk1"/>
              </a:buClr>
              <a:buSzPts val="900"/>
              <a:buNone/>
              <a:defRPr sz="900"/>
            </a:lvl4pPr>
            <a:lvl5pPr marL="2286000" lvl="4" indent="-228600" algn="l">
              <a:lnSpc>
                <a:spcPct val="90000"/>
              </a:lnSpc>
              <a:spcBef>
                <a:spcPts val="500"/>
              </a:spcBef>
              <a:spcAft>
                <a:spcPts val="0"/>
              </a:spcAft>
              <a:buClr>
                <a:schemeClr val="dk1"/>
              </a:buClr>
              <a:buSzPts val="900"/>
              <a:buNone/>
              <a:defRPr sz="900"/>
            </a:lvl5pPr>
            <a:lvl6pPr marL="2743200" lvl="5" indent="-228600" algn="l">
              <a:lnSpc>
                <a:spcPct val="90000"/>
              </a:lnSpc>
              <a:spcBef>
                <a:spcPts val="500"/>
              </a:spcBef>
              <a:spcAft>
                <a:spcPts val="0"/>
              </a:spcAft>
              <a:buClr>
                <a:schemeClr val="dk1"/>
              </a:buClr>
              <a:buSzPts val="900"/>
              <a:buNone/>
              <a:defRPr sz="900"/>
            </a:lvl6pPr>
            <a:lvl7pPr marL="3200400" lvl="6" indent="-228600" algn="l">
              <a:lnSpc>
                <a:spcPct val="90000"/>
              </a:lnSpc>
              <a:spcBef>
                <a:spcPts val="500"/>
              </a:spcBef>
              <a:spcAft>
                <a:spcPts val="0"/>
              </a:spcAft>
              <a:buClr>
                <a:schemeClr val="dk1"/>
              </a:buClr>
              <a:buSzPts val="900"/>
              <a:buNone/>
              <a:defRPr sz="900"/>
            </a:lvl7pPr>
            <a:lvl8pPr marL="3657600" lvl="7" indent="-228600" algn="l">
              <a:lnSpc>
                <a:spcPct val="90000"/>
              </a:lnSpc>
              <a:spcBef>
                <a:spcPts val="500"/>
              </a:spcBef>
              <a:spcAft>
                <a:spcPts val="0"/>
              </a:spcAft>
              <a:buClr>
                <a:schemeClr val="dk1"/>
              </a:buClr>
              <a:buSzPts val="900"/>
              <a:buNone/>
              <a:defRPr sz="900"/>
            </a:lvl8pPr>
            <a:lvl9pPr marL="4114800" lvl="8" indent="-228600" algn="l">
              <a:lnSpc>
                <a:spcPct val="90000"/>
              </a:lnSpc>
              <a:spcBef>
                <a:spcPts val="500"/>
              </a:spcBef>
              <a:spcAft>
                <a:spcPts val="0"/>
              </a:spcAft>
              <a:buClr>
                <a:schemeClr val="dk1"/>
              </a:buClr>
              <a:buSzPts val="900"/>
              <a:buNone/>
              <a:defRPr sz="900"/>
            </a:lvl9pPr>
          </a:lstStyle>
          <a:p>
            <a:endParaRPr/>
          </a:p>
        </p:txBody>
      </p:sp>
      <p:sp>
        <p:nvSpPr>
          <p:cNvPr id="106" name="Google Shape;106;p39"/>
          <p:cNvSpPr txBox="1">
            <a:spLocks noGrp="1"/>
          </p:cNvSpPr>
          <p:nvPr>
            <p:ph type="body" idx="3"/>
          </p:nvPr>
        </p:nvSpPr>
        <p:spPr>
          <a:xfrm>
            <a:off x="4368800" y="2201333"/>
            <a:ext cx="3456432" cy="626534"/>
          </a:xfrm>
          <a:prstGeom prst="rect">
            <a:avLst/>
          </a:prstGeom>
          <a:noFill/>
          <a:ln>
            <a:noFill/>
          </a:ln>
        </p:spPr>
        <p:txBody>
          <a:bodyPr spcFirstLastPara="1" wrap="square" lIns="91425" tIns="45700" rIns="91425" bIns="45700" anchor="b" anchorCtr="0">
            <a:noAutofit/>
          </a:bodyPr>
          <a:lstStyle>
            <a:lvl1pPr marL="457200" lvl="0" indent="-228600" algn="l">
              <a:lnSpc>
                <a:spcPct val="90000"/>
              </a:lnSpc>
              <a:spcBef>
                <a:spcPts val="1000"/>
              </a:spcBef>
              <a:spcAft>
                <a:spcPts val="0"/>
              </a:spcAft>
              <a:buClr>
                <a:schemeClr val="dk1"/>
              </a:buClr>
              <a:buSzPts val="2400"/>
              <a:buNone/>
              <a:defRPr sz="2400" b="0">
                <a:solidFill>
                  <a:schemeClr val="dk1"/>
                </a:solidFill>
              </a:defRPr>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107" name="Google Shape;107;p39"/>
          <p:cNvSpPr txBox="1">
            <a:spLocks noGrp="1"/>
          </p:cNvSpPr>
          <p:nvPr>
            <p:ph type="body" idx="4"/>
          </p:nvPr>
        </p:nvSpPr>
        <p:spPr>
          <a:xfrm>
            <a:off x="4366858" y="2904067"/>
            <a:ext cx="3456432" cy="331461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400"/>
              <a:buNone/>
              <a:defRPr sz="1400"/>
            </a:lvl1pPr>
            <a:lvl2pPr marL="914400" lvl="1" indent="-228600" algn="l">
              <a:lnSpc>
                <a:spcPct val="90000"/>
              </a:lnSpc>
              <a:spcBef>
                <a:spcPts val="500"/>
              </a:spcBef>
              <a:spcAft>
                <a:spcPts val="0"/>
              </a:spcAft>
              <a:buClr>
                <a:schemeClr val="dk1"/>
              </a:buClr>
              <a:buSzPts val="1200"/>
              <a:buNone/>
              <a:defRPr sz="1200"/>
            </a:lvl2pPr>
            <a:lvl3pPr marL="1371600" lvl="2" indent="-228600" algn="l">
              <a:lnSpc>
                <a:spcPct val="90000"/>
              </a:lnSpc>
              <a:spcBef>
                <a:spcPts val="500"/>
              </a:spcBef>
              <a:spcAft>
                <a:spcPts val="0"/>
              </a:spcAft>
              <a:buClr>
                <a:schemeClr val="dk1"/>
              </a:buClr>
              <a:buSzPts val="1000"/>
              <a:buNone/>
              <a:defRPr sz="1000"/>
            </a:lvl3pPr>
            <a:lvl4pPr marL="1828800" lvl="3" indent="-228600" algn="l">
              <a:lnSpc>
                <a:spcPct val="90000"/>
              </a:lnSpc>
              <a:spcBef>
                <a:spcPts val="500"/>
              </a:spcBef>
              <a:spcAft>
                <a:spcPts val="0"/>
              </a:spcAft>
              <a:buClr>
                <a:schemeClr val="dk1"/>
              </a:buClr>
              <a:buSzPts val="900"/>
              <a:buNone/>
              <a:defRPr sz="900"/>
            </a:lvl4pPr>
            <a:lvl5pPr marL="2286000" lvl="4" indent="-228600" algn="l">
              <a:lnSpc>
                <a:spcPct val="90000"/>
              </a:lnSpc>
              <a:spcBef>
                <a:spcPts val="500"/>
              </a:spcBef>
              <a:spcAft>
                <a:spcPts val="0"/>
              </a:spcAft>
              <a:buClr>
                <a:schemeClr val="dk1"/>
              </a:buClr>
              <a:buSzPts val="900"/>
              <a:buNone/>
              <a:defRPr sz="900"/>
            </a:lvl5pPr>
            <a:lvl6pPr marL="2743200" lvl="5" indent="-228600" algn="l">
              <a:lnSpc>
                <a:spcPct val="90000"/>
              </a:lnSpc>
              <a:spcBef>
                <a:spcPts val="500"/>
              </a:spcBef>
              <a:spcAft>
                <a:spcPts val="0"/>
              </a:spcAft>
              <a:buClr>
                <a:schemeClr val="dk1"/>
              </a:buClr>
              <a:buSzPts val="900"/>
              <a:buNone/>
              <a:defRPr sz="900"/>
            </a:lvl6pPr>
            <a:lvl7pPr marL="3200400" lvl="6" indent="-228600" algn="l">
              <a:lnSpc>
                <a:spcPct val="90000"/>
              </a:lnSpc>
              <a:spcBef>
                <a:spcPts val="500"/>
              </a:spcBef>
              <a:spcAft>
                <a:spcPts val="0"/>
              </a:spcAft>
              <a:buClr>
                <a:schemeClr val="dk1"/>
              </a:buClr>
              <a:buSzPts val="900"/>
              <a:buNone/>
              <a:defRPr sz="900"/>
            </a:lvl7pPr>
            <a:lvl8pPr marL="3657600" lvl="7" indent="-228600" algn="l">
              <a:lnSpc>
                <a:spcPct val="90000"/>
              </a:lnSpc>
              <a:spcBef>
                <a:spcPts val="500"/>
              </a:spcBef>
              <a:spcAft>
                <a:spcPts val="0"/>
              </a:spcAft>
              <a:buClr>
                <a:schemeClr val="dk1"/>
              </a:buClr>
              <a:buSzPts val="900"/>
              <a:buNone/>
              <a:defRPr sz="900"/>
            </a:lvl8pPr>
            <a:lvl9pPr marL="4114800" lvl="8" indent="-228600" algn="l">
              <a:lnSpc>
                <a:spcPct val="90000"/>
              </a:lnSpc>
              <a:spcBef>
                <a:spcPts val="500"/>
              </a:spcBef>
              <a:spcAft>
                <a:spcPts val="0"/>
              </a:spcAft>
              <a:buClr>
                <a:schemeClr val="dk1"/>
              </a:buClr>
              <a:buSzPts val="900"/>
              <a:buNone/>
              <a:defRPr sz="900"/>
            </a:lvl9pPr>
          </a:lstStyle>
          <a:p>
            <a:endParaRPr/>
          </a:p>
        </p:txBody>
      </p:sp>
      <p:sp>
        <p:nvSpPr>
          <p:cNvPr id="108" name="Google Shape;108;p39"/>
          <p:cNvSpPr txBox="1">
            <a:spLocks noGrp="1"/>
          </p:cNvSpPr>
          <p:nvPr>
            <p:ph type="body" idx="5"/>
          </p:nvPr>
        </p:nvSpPr>
        <p:spPr>
          <a:xfrm>
            <a:off x="8051800" y="2192866"/>
            <a:ext cx="3456432" cy="626534"/>
          </a:xfrm>
          <a:prstGeom prst="rect">
            <a:avLst/>
          </a:prstGeom>
          <a:noFill/>
          <a:ln>
            <a:noFill/>
          </a:ln>
        </p:spPr>
        <p:txBody>
          <a:bodyPr spcFirstLastPara="1" wrap="square" lIns="91425" tIns="45700" rIns="91425" bIns="45700" anchor="b" anchorCtr="0">
            <a:noAutofit/>
          </a:bodyPr>
          <a:lstStyle>
            <a:lvl1pPr marL="457200" lvl="0" indent="-228600" algn="l">
              <a:lnSpc>
                <a:spcPct val="90000"/>
              </a:lnSpc>
              <a:spcBef>
                <a:spcPts val="1000"/>
              </a:spcBef>
              <a:spcAft>
                <a:spcPts val="0"/>
              </a:spcAft>
              <a:buClr>
                <a:schemeClr val="dk1"/>
              </a:buClr>
              <a:buSzPts val="2400"/>
              <a:buNone/>
              <a:defRPr sz="2400" b="0">
                <a:solidFill>
                  <a:schemeClr val="dk1"/>
                </a:solidFill>
              </a:defRPr>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109" name="Google Shape;109;p39"/>
          <p:cNvSpPr txBox="1">
            <a:spLocks noGrp="1"/>
          </p:cNvSpPr>
          <p:nvPr>
            <p:ph type="body" idx="6"/>
          </p:nvPr>
        </p:nvSpPr>
        <p:spPr>
          <a:xfrm>
            <a:off x="8051801" y="2904565"/>
            <a:ext cx="3456432" cy="3314132"/>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400"/>
              <a:buNone/>
              <a:defRPr sz="1400"/>
            </a:lvl1pPr>
            <a:lvl2pPr marL="914400" lvl="1" indent="-228600" algn="l">
              <a:lnSpc>
                <a:spcPct val="90000"/>
              </a:lnSpc>
              <a:spcBef>
                <a:spcPts val="500"/>
              </a:spcBef>
              <a:spcAft>
                <a:spcPts val="0"/>
              </a:spcAft>
              <a:buClr>
                <a:schemeClr val="dk1"/>
              </a:buClr>
              <a:buSzPts val="1200"/>
              <a:buNone/>
              <a:defRPr sz="1200"/>
            </a:lvl2pPr>
            <a:lvl3pPr marL="1371600" lvl="2" indent="-228600" algn="l">
              <a:lnSpc>
                <a:spcPct val="90000"/>
              </a:lnSpc>
              <a:spcBef>
                <a:spcPts val="500"/>
              </a:spcBef>
              <a:spcAft>
                <a:spcPts val="0"/>
              </a:spcAft>
              <a:buClr>
                <a:schemeClr val="dk1"/>
              </a:buClr>
              <a:buSzPts val="1000"/>
              <a:buNone/>
              <a:defRPr sz="1000"/>
            </a:lvl3pPr>
            <a:lvl4pPr marL="1828800" lvl="3" indent="-228600" algn="l">
              <a:lnSpc>
                <a:spcPct val="90000"/>
              </a:lnSpc>
              <a:spcBef>
                <a:spcPts val="500"/>
              </a:spcBef>
              <a:spcAft>
                <a:spcPts val="0"/>
              </a:spcAft>
              <a:buClr>
                <a:schemeClr val="dk1"/>
              </a:buClr>
              <a:buSzPts val="900"/>
              <a:buNone/>
              <a:defRPr sz="900"/>
            </a:lvl4pPr>
            <a:lvl5pPr marL="2286000" lvl="4" indent="-228600" algn="l">
              <a:lnSpc>
                <a:spcPct val="90000"/>
              </a:lnSpc>
              <a:spcBef>
                <a:spcPts val="500"/>
              </a:spcBef>
              <a:spcAft>
                <a:spcPts val="0"/>
              </a:spcAft>
              <a:buClr>
                <a:schemeClr val="dk1"/>
              </a:buClr>
              <a:buSzPts val="900"/>
              <a:buNone/>
              <a:defRPr sz="900"/>
            </a:lvl5pPr>
            <a:lvl6pPr marL="2743200" lvl="5" indent="-228600" algn="l">
              <a:lnSpc>
                <a:spcPct val="90000"/>
              </a:lnSpc>
              <a:spcBef>
                <a:spcPts val="500"/>
              </a:spcBef>
              <a:spcAft>
                <a:spcPts val="0"/>
              </a:spcAft>
              <a:buClr>
                <a:schemeClr val="dk1"/>
              </a:buClr>
              <a:buSzPts val="900"/>
              <a:buNone/>
              <a:defRPr sz="900"/>
            </a:lvl6pPr>
            <a:lvl7pPr marL="3200400" lvl="6" indent="-228600" algn="l">
              <a:lnSpc>
                <a:spcPct val="90000"/>
              </a:lnSpc>
              <a:spcBef>
                <a:spcPts val="500"/>
              </a:spcBef>
              <a:spcAft>
                <a:spcPts val="0"/>
              </a:spcAft>
              <a:buClr>
                <a:schemeClr val="dk1"/>
              </a:buClr>
              <a:buSzPts val="900"/>
              <a:buNone/>
              <a:defRPr sz="900"/>
            </a:lvl7pPr>
            <a:lvl8pPr marL="3657600" lvl="7" indent="-228600" algn="l">
              <a:lnSpc>
                <a:spcPct val="90000"/>
              </a:lnSpc>
              <a:spcBef>
                <a:spcPts val="500"/>
              </a:spcBef>
              <a:spcAft>
                <a:spcPts val="0"/>
              </a:spcAft>
              <a:buClr>
                <a:schemeClr val="dk1"/>
              </a:buClr>
              <a:buSzPts val="900"/>
              <a:buNone/>
              <a:defRPr sz="900"/>
            </a:lvl8pPr>
            <a:lvl9pPr marL="4114800" lvl="8" indent="-228600" algn="l">
              <a:lnSpc>
                <a:spcPct val="90000"/>
              </a:lnSpc>
              <a:spcBef>
                <a:spcPts val="500"/>
              </a:spcBef>
              <a:spcAft>
                <a:spcPts val="0"/>
              </a:spcAft>
              <a:buClr>
                <a:schemeClr val="dk1"/>
              </a:buClr>
              <a:buSzPts val="900"/>
              <a:buNone/>
              <a:defRPr sz="900"/>
            </a:lvl9pPr>
          </a:lstStyle>
          <a:p>
            <a:endParaRPr/>
          </a:p>
        </p:txBody>
      </p:sp>
      <p:sp>
        <p:nvSpPr>
          <p:cNvPr id="110" name="Google Shape;110;p39"/>
          <p:cNvSpPr txBox="1">
            <a:spLocks noGrp="1"/>
          </p:cNvSpPr>
          <p:nvPr>
            <p:ph type="dt" idx="10"/>
          </p:nvPr>
        </p:nvSpPr>
        <p:spPr>
          <a:xfrm>
            <a:off x="8595360" y="6356350"/>
            <a:ext cx="2910840" cy="365125"/>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11" name="Google Shape;111;p39"/>
          <p:cNvSpPr txBox="1">
            <a:spLocks noGrp="1"/>
          </p:cNvSpPr>
          <p:nvPr>
            <p:ph type="ftr" idx="11"/>
          </p:nvPr>
        </p:nvSpPr>
        <p:spPr>
          <a:xfrm>
            <a:off x="685800" y="6355845"/>
            <a:ext cx="77724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12" name="Google Shape;112;p39"/>
          <p:cNvSpPr txBox="1">
            <a:spLocks noGrp="1"/>
          </p:cNvSpPr>
          <p:nvPr>
            <p:ph type="sldNum" idx="12"/>
          </p:nvPr>
        </p:nvSpPr>
        <p:spPr>
          <a:xfrm>
            <a:off x="8763000" y="38100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3 Picture Column">
  <p:cSld name="3 Picture Column">
    <p:spTree>
      <p:nvGrpSpPr>
        <p:cNvPr id="1" name="Shape 113"/>
        <p:cNvGrpSpPr/>
        <p:nvPr/>
      </p:nvGrpSpPr>
      <p:grpSpPr>
        <a:xfrm>
          <a:off x="0" y="0"/>
          <a:ext cx="0" cy="0"/>
          <a:chOff x="0" y="0"/>
          <a:chExt cx="0" cy="0"/>
        </a:xfrm>
      </p:grpSpPr>
      <p:sp>
        <p:nvSpPr>
          <p:cNvPr id="114" name="Google Shape;114;p40"/>
          <p:cNvSpPr txBox="1">
            <a:spLocks noGrp="1"/>
          </p:cNvSpPr>
          <p:nvPr>
            <p:ph type="title"/>
          </p:nvPr>
        </p:nvSpPr>
        <p:spPr>
          <a:xfrm>
            <a:off x="2895600" y="762000"/>
            <a:ext cx="8610599" cy="12954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15" name="Google Shape;115;p40"/>
          <p:cNvSpPr txBox="1">
            <a:spLocks noGrp="1"/>
          </p:cNvSpPr>
          <p:nvPr>
            <p:ph type="body" idx="1"/>
          </p:nvPr>
        </p:nvSpPr>
        <p:spPr>
          <a:xfrm>
            <a:off x="688618" y="4191000"/>
            <a:ext cx="3451582" cy="682765"/>
          </a:xfrm>
          <a:prstGeom prst="rect">
            <a:avLst/>
          </a:prstGeom>
          <a:noFill/>
          <a:ln>
            <a:noFill/>
          </a:ln>
        </p:spPr>
        <p:txBody>
          <a:bodyPr spcFirstLastPara="1" wrap="square" lIns="91425" tIns="45700" rIns="91425" bIns="45700" anchor="b" anchorCtr="0">
            <a:noAutofit/>
          </a:bodyPr>
          <a:lstStyle>
            <a:lvl1pPr marL="457200" lvl="0" indent="-228600" algn="l">
              <a:lnSpc>
                <a:spcPct val="90000"/>
              </a:lnSpc>
              <a:spcBef>
                <a:spcPts val="1000"/>
              </a:spcBef>
              <a:spcAft>
                <a:spcPts val="0"/>
              </a:spcAft>
              <a:buClr>
                <a:schemeClr val="dk1"/>
              </a:buClr>
              <a:buSzPts val="2400"/>
              <a:buNone/>
              <a:defRPr sz="2400" b="0">
                <a:solidFill>
                  <a:schemeClr val="dk1"/>
                </a:solidFill>
              </a:defRPr>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116" name="Google Shape;116;p40"/>
          <p:cNvSpPr>
            <a:spLocks noGrp="1"/>
          </p:cNvSpPr>
          <p:nvPr>
            <p:ph type="pic" idx="2"/>
          </p:nvPr>
        </p:nvSpPr>
        <p:spPr>
          <a:xfrm>
            <a:off x="688618" y="2362200"/>
            <a:ext cx="3451582" cy="1524000"/>
          </a:xfrm>
          <a:prstGeom prst="roundRect">
            <a:avLst>
              <a:gd name="adj" fmla="val 0"/>
            </a:avLst>
          </a:prstGeom>
          <a:noFill/>
          <a:ln>
            <a:noFill/>
          </a:ln>
          <a:effectLst>
            <a:outerShdw blurRad="50800" dist="50800" dir="5400000" algn="tl" rotWithShape="0">
              <a:srgbClr val="000000">
                <a:alpha val="42745"/>
              </a:srgbClr>
            </a:outerShdw>
          </a:effectLst>
        </p:spPr>
      </p:sp>
      <p:sp>
        <p:nvSpPr>
          <p:cNvPr id="117" name="Google Shape;117;p40"/>
          <p:cNvSpPr txBox="1">
            <a:spLocks noGrp="1"/>
          </p:cNvSpPr>
          <p:nvPr>
            <p:ph type="body" idx="3"/>
          </p:nvPr>
        </p:nvSpPr>
        <p:spPr>
          <a:xfrm>
            <a:off x="688618" y="4873764"/>
            <a:ext cx="3451582" cy="1344921"/>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400"/>
              <a:buNone/>
              <a:defRPr sz="1400"/>
            </a:lvl1pPr>
            <a:lvl2pPr marL="914400" lvl="1" indent="-228600" algn="l">
              <a:lnSpc>
                <a:spcPct val="90000"/>
              </a:lnSpc>
              <a:spcBef>
                <a:spcPts val="500"/>
              </a:spcBef>
              <a:spcAft>
                <a:spcPts val="0"/>
              </a:spcAft>
              <a:buClr>
                <a:schemeClr val="dk1"/>
              </a:buClr>
              <a:buSzPts val="1200"/>
              <a:buNone/>
              <a:defRPr sz="1200"/>
            </a:lvl2pPr>
            <a:lvl3pPr marL="1371600" lvl="2" indent="-228600" algn="l">
              <a:lnSpc>
                <a:spcPct val="90000"/>
              </a:lnSpc>
              <a:spcBef>
                <a:spcPts val="500"/>
              </a:spcBef>
              <a:spcAft>
                <a:spcPts val="0"/>
              </a:spcAft>
              <a:buClr>
                <a:schemeClr val="dk1"/>
              </a:buClr>
              <a:buSzPts val="1000"/>
              <a:buNone/>
              <a:defRPr sz="1000"/>
            </a:lvl3pPr>
            <a:lvl4pPr marL="1828800" lvl="3" indent="-228600" algn="l">
              <a:lnSpc>
                <a:spcPct val="90000"/>
              </a:lnSpc>
              <a:spcBef>
                <a:spcPts val="500"/>
              </a:spcBef>
              <a:spcAft>
                <a:spcPts val="0"/>
              </a:spcAft>
              <a:buClr>
                <a:schemeClr val="dk1"/>
              </a:buClr>
              <a:buSzPts val="900"/>
              <a:buNone/>
              <a:defRPr sz="900"/>
            </a:lvl4pPr>
            <a:lvl5pPr marL="2286000" lvl="4" indent="-228600" algn="l">
              <a:lnSpc>
                <a:spcPct val="90000"/>
              </a:lnSpc>
              <a:spcBef>
                <a:spcPts val="500"/>
              </a:spcBef>
              <a:spcAft>
                <a:spcPts val="0"/>
              </a:spcAft>
              <a:buClr>
                <a:schemeClr val="dk1"/>
              </a:buClr>
              <a:buSzPts val="900"/>
              <a:buNone/>
              <a:defRPr sz="900"/>
            </a:lvl5pPr>
            <a:lvl6pPr marL="2743200" lvl="5" indent="-228600" algn="l">
              <a:lnSpc>
                <a:spcPct val="90000"/>
              </a:lnSpc>
              <a:spcBef>
                <a:spcPts val="500"/>
              </a:spcBef>
              <a:spcAft>
                <a:spcPts val="0"/>
              </a:spcAft>
              <a:buClr>
                <a:schemeClr val="dk1"/>
              </a:buClr>
              <a:buSzPts val="900"/>
              <a:buNone/>
              <a:defRPr sz="900"/>
            </a:lvl6pPr>
            <a:lvl7pPr marL="3200400" lvl="6" indent="-228600" algn="l">
              <a:lnSpc>
                <a:spcPct val="90000"/>
              </a:lnSpc>
              <a:spcBef>
                <a:spcPts val="500"/>
              </a:spcBef>
              <a:spcAft>
                <a:spcPts val="0"/>
              </a:spcAft>
              <a:buClr>
                <a:schemeClr val="dk1"/>
              </a:buClr>
              <a:buSzPts val="900"/>
              <a:buNone/>
              <a:defRPr sz="900"/>
            </a:lvl7pPr>
            <a:lvl8pPr marL="3657600" lvl="7" indent="-228600" algn="l">
              <a:lnSpc>
                <a:spcPct val="90000"/>
              </a:lnSpc>
              <a:spcBef>
                <a:spcPts val="500"/>
              </a:spcBef>
              <a:spcAft>
                <a:spcPts val="0"/>
              </a:spcAft>
              <a:buClr>
                <a:schemeClr val="dk1"/>
              </a:buClr>
              <a:buSzPts val="900"/>
              <a:buNone/>
              <a:defRPr sz="900"/>
            </a:lvl8pPr>
            <a:lvl9pPr marL="4114800" lvl="8" indent="-228600" algn="l">
              <a:lnSpc>
                <a:spcPct val="90000"/>
              </a:lnSpc>
              <a:spcBef>
                <a:spcPts val="500"/>
              </a:spcBef>
              <a:spcAft>
                <a:spcPts val="0"/>
              </a:spcAft>
              <a:buClr>
                <a:schemeClr val="dk1"/>
              </a:buClr>
              <a:buSzPts val="900"/>
              <a:buNone/>
              <a:defRPr sz="900"/>
            </a:lvl9pPr>
          </a:lstStyle>
          <a:p>
            <a:endParaRPr/>
          </a:p>
        </p:txBody>
      </p:sp>
      <p:sp>
        <p:nvSpPr>
          <p:cNvPr id="118" name="Google Shape;118;p40"/>
          <p:cNvSpPr txBox="1">
            <a:spLocks noGrp="1"/>
          </p:cNvSpPr>
          <p:nvPr>
            <p:ph type="body" idx="4"/>
          </p:nvPr>
        </p:nvSpPr>
        <p:spPr>
          <a:xfrm>
            <a:off x="4374263" y="4191000"/>
            <a:ext cx="3448935" cy="682765"/>
          </a:xfrm>
          <a:prstGeom prst="rect">
            <a:avLst/>
          </a:prstGeom>
          <a:noFill/>
          <a:ln>
            <a:noFill/>
          </a:ln>
        </p:spPr>
        <p:txBody>
          <a:bodyPr spcFirstLastPara="1" wrap="square" lIns="91425" tIns="45700" rIns="91425" bIns="45700" anchor="b" anchorCtr="0">
            <a:noAutofit/>
          </a:bodyPr>
          <a:lstStyle>
            <a:lvl1pPr marL="457200" lvl="0" indent="-228600" algn="l">
              <a:lnSpc>
                <a:spcPct val="90000"/>
              </a:lnSpc>
              <a:spcBef>
                <a:spcPts val="1000"/>
              </a:spcBef>
              <a:spcAft>
                <a:spcPts val="0"/>
              </a:spcAft>
              <a:buClr>
                <a:schemeClr val="dk1"/>
              </a:buClr>
              <a:buSzPts val="2400"/>
              <a:buNone/>
              <a:defRPr sz="2400" b="0">
                <a:solidFill>
                  <a:schemeClr val="dk1"/>
                </a:solidFill>
              </a:defRPr>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119" name="Google Shape;119;p40"/>
          <p:cNvSpPr>
            <a:spLocks noGrp="1"/>
          </p:cNvSpPr>
          <p:nvPr>
            <p:ph type="pic" idx="5"/>
          </p:nvPr>
        </p:nvSpPr>
        <p:spPr>
          <a:xfrm>
            <a:off x="4374263" y="2362200"/>
            <a:ext cx="3448936" cy="1524000"/>
          </a:xfrm>
          <a:prstGeom prst="roundRect">
            <a:avLst>
              <a:gd name="adj" fmla="val 0"/>
            </a:avLst>
          </a:prstGeom>
          <a:noFill/>
          <a:ln>
            <a:noFill/>
          </a:ln>
          <a:effectLst>
            <a:outerShdw blurRad="50800" dist="50800" dir="5400000" algn="tl" rotWithShape="0">
              <a:srgbClr val="000000">
                <a:alpha val="42745"/>
              </a:srgbClr>
            </a:outerShdw>
          </a:effectLst>
        </p:spPr>
      </p:sp>
      <p:sp>
        <p:nvSpPr>
          <p:cNvPr id="120" name="Google Shape;120;p40"/>
          <p:cNvSpPr txBox="1">
            <a:spLocks noGrp="1"/>
          </p:cNvSpPr>
          <p:nvPr>
            <p:ph type="body" idx="6"/>
          </p:nvPr>
        </p:nvSpPr>
        <p:spPr>
          <a:xfrm>
            <a:off x="4374264" y="4873763"/>
            <a:ext cx="3448935" cy="1344921"/>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400"/>
              <a:buNone/>
              <a:defRPr sz="1400"/>
            </a:lvl1pPr>
            <a:lvl2pPr marL="914400" lvl="1" indent="-228600" algn="l">
              <a:lnSpc>
                <a:spcPct val="90000"/>
              </a:lnSpc>
              <a:spcBef>
                <a:spcPts val="500"/>
              </a:spcBef>
              <a:spcAft>
                <a:spcPts val="0"/>
              </a:spcAft>
              <a:buClr>
                <a:schemeClr val="dk1"/>
              </a:buClr>
              <a:buSzPts val="1200"/>
              <a:buNone/>
              <a:defRPr sz="1200"/>
            </a:lvl2pPr>
            <a:lvl3pPr marL="1371600" lvl="2" indent="-228600" algn="l">
              <a:lnSpc>
                <a:spcPct val="90000"/>
              </a:lnSpc>
              <a:spcBef>
                <a:spcPts val="500"/>
              </a:spcBef>
              <a:spcAft>
                <a:spcPts val="0"/>
              </a:spcAft>
              <a:buClr>
                <a:schemeClr val="dk1"/>
              </a:buClr>
              <a:buSzPts val="1000"/>
              <a:buNone/>
              <a:defRPr sz="1000"/>
            </a:lvl3pPr>
            <a:lvl4pPr marL="1828800" lvl="3" indent="-228600" algn="l">
              <a:lnSpc>
                <a:spcPct val="90000"/>
              </a:lnSpc>
              <a:spcBef>
                <a:spcPts val="500"/>
              </a:spcBef>
              <a:spcAft>
                <a:spcPts val="0"/>
              </a:spcAft>
              <a:buClr>
                <a:schemeClr val="dk1"/>
              </a:buClr>
              <a:buSzPts val="900"/>
              <a:buNone/>
              <a:defRPr sz="900"/>
            </a:lvl4pPr>
            <a:lvl5pPr marL="2286000" lvl="4" indent="-228600" algn="l">
              <a:lnSpc>
                <a:spcPct val="90000"/>
              </a:lnSpc>
              <a:spcBef>
                <a:spcPts val="500"/>
              </a:spcBef>
              <a:spcAft>
                <a:spcPts val="0"/>
              </a:spcAft>
              <a:buClr>
                <a:schemeClr val="dk1"/>
              </a:buClr>
              <a:buSzPts val="900"/>
              <a:buNone/>
              <a:defRPr sz="900"/>
            </a:lvl5pPr>
            <a:lvl6pPr marL="2743200" lvl="5" indent="-228600" algn="l">
              <a:lnSpc>
                <a:spcPct val="90000"/>
              </a:lnSpc>
              <a:spcBef>
                <a:spcPts val="500"/>
              </a:spcBef>
              <a:spcAft>
                <a:spcPts val="0"/>
              </a:spcAft>
              <a:buClr>
                <a:schemeClr val="dk1"/>
              </a:buClr>
              <a:buSzPts val="900"/>
              <a:buNone/>
              <a:defRPr sz="900"/>
            </a:lvl6pPr>
            <a:lvl7pPr marL="3200400" lvl="6" indent="-228600" algn="l">
              <a:lnSpc>
                <a:spcPct val="90000"/>
              </a:lnSpc>
              <a:spcBef>
                <a:spcPts val="500"/>
              </a:spcBef>
              <a:spcAft>
                <a:spcPts val="0"/>
              </a:spcAft>
              <a:buClr>
                <a:schemeClr val="dk1"/>
              </a:buClr>
              <a:buSzPts val="900"/>
              <a:buNone/>
              <a:defRPr sz="900"/>
            </a:lvl7pPr>
            <a:lvl8pPr marL="3657600" lvl="7" indent="-228600" algn="l">
              <a:lnSpc>
                <a:spcPct val="90000"/>
              </a:lnSpc>
              <a:spcBef>
                <a:spcPts val="500"/>
              </a:spcBef>
              <a:spcAft>
                <a:spcPts val="0"/>
              </a:spcAft>
              <a:buClr>
                <a:schemeClr val="dk1"/>
              </a:buClr>
              <a:buSzPts val="900"/>
              <a:buNone/>
              <a:defRPr sz="900"/>
            </a:lvl8pPr>
            <a:lvl9pPr marL="4114800" lvl="8" indent="-228600" algn="l">
              <a:lnSpc>
                <a:spcPct val="90000"/>
              </a:lnSpc>
              <a:spcBef>
                <a:spcPts val="500"/>
              </a:spcBef>
              <a:spcAft>
                <a:spcPts val="0"/>
              </a:spcAft>
              <a:buClr>
                <a:schemeClr val="dk1"/>
              </a:buClr>
              <a:buSzPts val="900"/>
              <a:buNone/>
              <a:defRPr sz="900"/>
            </a:lvl9pPr>
          </a:lstStyle>
          <a:p>
            <a:endParaRPr/>
          </a:p>
        </p:txBody>
      </p:sp>
      <p:sp>
        <p:nvSpPr>
          <p:cNvPr id="121" name="Google Shape;121;p40"/>
          <p:cNvSpPr txBox="1">
            <a:spLocks noGrp="1"/>
          </p:cNvSpPr>
          <p:nvPr>
            <p:ph type="body" idx="7"/>
          </p:nvPr>
        </p:nvSpPr>
        <p:spPr>
          <a:xfrm>
            <a:off x="8049731" y="4191000"/>
            <a:ext cx="3456469" cy="682765"/>
          </a:xfrm>
          <a:prstGeom prst="rect">
            <a:avLst/>
          </a:prstGeom>
          <a:noFill/>
          <a:ln>
            <a:noFill/>
          </a:ln>
        </p:spPr>
        <p:txBody>
          <a:bodyPr spcFirstLastPara="1" wrap="square" lIns="91425" tIns="45700" rIns="91425" bIns="45700" anchor="b" anchorCtr="0">
            <a:noAutofit/>
          </a:bodyPr>
          <a:lstStyle>
            <a:lvl1pPr marL="457200" lvl="0" indent="-228600" algn="l">
              <a:lnSpc>
                <a:spcPct val="90000"/>
              </a:lnSpc>
              <a:spcBef>
                <a:spcPts val="1000"/>
              </a:spcBef>
              <a:spcAft>
                <a:spcPts val="0"/>
              </a:spcAft>
              <a:buClr>
                <a:schemeClr val="dk1"/>
              </a:buClr>
              <a:buSzPts val="2400"/>
              <a:buNone/>
              <a:defRPr sz="2400" b="0">
                <a:solidFill>
                  <a:schemeClr val="dk1"/>
                </a:solidFill>
              </a:defRPr>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122" name="Google Shape;122;p40"/>
          <p:cNvSpPr>
            <a:spLocks noGrp="1"/>
          </p:cNvSpPr>
          <p:nvPr>
            <p:ph type="pic" idx="8"/>
          </p:nvPr>
        </p:nvSpPr>
        <p:spPr>
          <a:xfrm>
            <a:off x="8049855" y="2362200"/>
            <a:ext cx="3447878" cy="1524000"/>
          </a:xfrm>
          <a:prstGeom prst="roundRect">
            <a:avLst>
              <a:gd name="adj" fmla="val 0"/>
            </a:avLst>
          </a:prstGeom>
          <a:noFill/>
          <a:ln>
            <a:noFill/>
          </a:ln>
          <a:effectLst>
            <a:outerShdw blurRad="50800" dist="50800" dir="5400000" algn="tl" rotWithShape="0">
              <a:srgbClr val="000000">
                <a:alpha val="42745"/>
              </a:srgbClr>
            </a:outerShdw>
          </a:effectLst>
        </p:spPr>
      </p:sp>
      <p:sp>
        <p:nvSpPr>
          <p:cNvPr id="123" name="Google Shape;123;p40"/>
          <p:cNvSpPr txBox="1">
            <a:spLocks noGrp="1"/>
          </p:cNvSpPr>
          <p:nvPr>
            <p:ph type="body" idx="9"/>
          </p:nvPr>
        </p:nvSpPr>
        <p:spPr>
          <a:xfrm>
            <a:off x="8049731" y="4873761"/>
            <a:ext cx="3452445" cy="1344921"/>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400"/>
              <a:buNone/>
              <a:defRPr sz="1400"/>
            </a:lvl1pPr>
            <a:lvl2pPr marL="914400" lvl="1" indent="-228600" algn="l">
              <a:lnSpc>
                <a:spcPct val="90000"/>
              </a:lnSpc>
              <a:spcBef>
                <a:spcPts val="500"/>
              </a:spcBef>
              <a:spcAft>
                <a:spcPts val="0"/>
              </a:spcAft>
              <a:buClr>
                <a:schemeClr val="dk1"/>
              </a:buClr>
              <a:buSzPts val="1200"/>
              <a:buNone/>
              <a:defRPr sz="1200"/>
            </a:lvl2pPr>
            <a:lvl3pPr marL="1371600" lvl="2" indent="-228600" algn="l">
              <a:lnSpc>
                <a:spcPct val="90000"/>
              </a:lnSpc>
              <a:spcBef>
                <a:spcPts val="500"/>
              </a:spcBef>
              <a:spcAft>
                <a:spcPts val="0"/>
              </a:spcAft>
              <a:buClr>
                <a:schemeClr val="dk1"/>
              </a:buClr>
              <a:buSzPts val="1000"/>
              <a:buNone/>
              <a:defRPr sz="1000"/>
            </a:lvl3pPr>
            <a:lvl4pPr marL="1828800" lvl="3" indent="-228600" algn="l">
              <a:lnSpc>
                <a:spcPct val="90000"/>
              </a:lnSpc>
              <a:spcBef>
                <a:spcPts val="500"/>
              </a:spcBef>
              <a:spcAft>
                <a:spcPts val="0"/>
              </a:spcAft>
              <a:buClr>
                <a:schemeClr val="dk1"/>
              </a:buClr>
              <a:buSzPts val="900"/>
              <a:buNone/>
              <a:defRPr sz="900"/>
            </a:lvl4pPr>
            <a:lvl5pPr marL="2286000" lvl="4" indent="-228600" algn="l">
              <a:lnSpc>
                <a:spcPct val="90000"/>
              </a:lnSpc>
              <a:spcBef>
                <a:spcPts val="500"/>
              </a:spcBef>
              <a:spcAft>
                <a:spcPts val="0"/>
              </a:spcAft>
              <a:buClr>
                <a:schemeClr val="dk1"/>
              </a:buClr>
              <a:buSzPts val="900"/>
              <a:buNone/>
              <a:defRPr sz="900"/>
            </a:lvl5pPr>
            <a:lvl6pPr marL="2743200" lvl="5" indent="-228600" algn="l">
              <a:lnSpc>
                <a:spcPct val="90000"/>
              </a:lnSpc>
              <a:spcBef>
                <a:spcPts val="500"/>
              </a:spcBef>
              <a:spcAft>
                <a:spcPts val="0"/>
              </a:spcAft>
              <a:buClr>
                <a:schemeClr val="dk1"/>
              </a:buClr>
              <a:buSzPts val="900"/>
              <a:buNone/>
              <a:defRPr sz="900"/>
            </a:lvl6pPr>
            <a:lvl7pPr marL="3200400" lvl="6" indent="-228600" algn="l">
              <a:lnSpc>
                <a:spcPct val="90000"/>
              </a:lnSpc>
              <a:spcBef>
                <a:spcPts val="500"/>
              </a:spcBef>
              <a:spcAft>
                <a:spcPts val="0"/>
              </a:spcAft>
              <a:buClr>
                <a:schemeClr val="dk1"/>
              </a:buClr>
              <a:buSzPts val="900"/>
              <a:buNone/>
              <a:defRPr sz="900"/>
            </a:lvl7pPr>
            <a:lvl8pPr marL="3657600" lvl="7" indent="-228600" algn="l">
              <a:lnSpc>
                <a:spcPct val="90000"/>
              </a:lnSpc>
              <a:spcBef>
                <a:spcPts val="500"/>
              </a:spcBef>
              <a:spcAft>
                <a:spcPts val="0"/>
              </a:spcAft>
              <a:buClr>
                <a:schemeClr val="dk1"/>
              </a:buClr>
              <a:buSzPts val="900"/>
              <a:buNone/>
              <a:defRPr sz="900"/>
            </a:lvl8pPr>
            <a:lvl9pPr marL="4114800" lvl="8" indent="-228600" algn="l">
              <a:lnSpc>
                <a:spcPct val="90000"/>
              </a:lnSpc>
              <a:spcBef>
                <a:spcPts val="500"/>
              </a:spcBef>
              <a:spcAft>
                <a:spcPts val="0"/>
              </a:spcAft>
              <a:buClr>
                <a:schemeClr val="dk1"/>
              </a:buClr>
              <a:buSzPts val="900"/>
              <a:buNone/>
              <a:defRPr sz="900"/>
            </a:lvl9pPr>
          </a:lstStyle>
          <a:p>
            <a:endParaRPr/>
          </a:p>
        </p:txBody>
      </p:sp>
      <p:sp>
        <p:nvSpPr>
          <p:cNvPr id="124" name="Google Shape;124;p40"/>
          <p:cNvSpPr txBox="1">
            <a:spLocks noGrp="1"/>
          </p:cNvSpPr>
          <p:nvPr>
            <p:ph type="dt" idx="10"/>
          </p:nvPr>
        </p:nvSpPr>
        <p:spPr>
          <a:xfrm>
            <a:off x="8595360" y="6356350"/>
            <a:ext cx="2910840" cy="365125"/>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25" name="Google Shape;125;p40"/>
          <p:cNvSpPr txBox="1">
            <a:spLocks noGrp="1"/>
          </p:cNvSpPr>
          <p:nvPr>
            <p:ph type="ftr" idx="11"/>
          </p:nvPr>
        </p:nvSpPr>
        <p:spPr>
          <a:xfrm>
            <a:off x="685800" y="6355845"/>
            <a:ext cx="77724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26" name="Google Shape;126;p40"/>
          <p:cNvSpPr txBox="1">
            <a:spLocks noGrp="1"/>
          </p:cNvSpPr>
          <p:nvPr>
            <p:ph type="sldNum" idx="12"/>
          </p:nvPr>
        </p:nvSpPr>
        <p:spPr>
          <a:xfrm>
            <a:off x="8763000" y="38100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127"/>
        <p:cNvGrpSpPr/>
        <p:nvPr/>
      </p:nvGrpSpPr>
      <p:grpSpPr>
        <a:xfrm>
          <a:off x="0" y="0"/>
          <a:ext cx="0" cy="0"/>
          <a:chOff x="0" y="0"/>
          <a:chExt cx="0" cy="0"/>
        </a:xfrm>
      </p:grpSpPr>
      <p:sp>
        <p:nvSpPr>
          <p:cNvPr id="128" name="Google Shape;128;p41"/>
          <p:cNvSpPr txBox="1">
            <a:spLocks noGrp="1"/>
          </p:cNvSpPr>
          <p:nvPr>
            <p:ph type="title"/>
          </p:nvPr>
        </p:nvSpPr>
        <p:spPr>
          <a:xfrm>
            <a:off x="2895600" y="764373"/>
            <a:ext cx="8610600" cy="1293028"/>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29" name="Google Shape;129;p41"/>
          <p:cNvSpPr txBox="1">
            <a:spLocks noGrp="1"/>
          </p:cNvSpPr>
          <p:nvPr>
            <p:ph type="body" idx="1"/>
          </p:nvPr>
        </p:nvSpPr>
        <p:spPr>
          <a:xfrm rot="5400000">
            <a:off x="4083938" y="-1203579"/>
            <a:ext cx="4024125" cy="108204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30" name="Google Shape;130;p41"/>
          <p:cNvSpPr txBox="1">
            <a:spLocks noGrp="1"/>
          </p:cNvSpPr>
          <p:nvPr>
            <p:ph type="dt" idx="10"/>
          </p:nvPr>
        </p:nvSpPr>
        <p:spPr>
          <a:xfrm>
            <a:off x="8595360" y="6356350"/>
            <a:ext cx="2910840" cy="365125"/>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31" name="Google Shape;131;p41"/>
          <p:cNvSpPr txBox="1">
            <a:spLocks noGrp="1"/>
          </p:cNvSpPr>
          <p:nvPr>
            <p:ph type="ftr" idx="11"/>
          </p:nvPr>
        </p:nvSpPr>
        <p:spPr>
          <a:xfrm>
            <a:off x="685800" y="6355845"/>
            <a:ext cx="77724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32" name="Google Shape;132;p41"/>
          <p:cNvSpPr txBox="1">
            <a:spLocks noGrp="1"/>
          </p:cNvSpPr>
          <p:nvPr>
            <p:ph type="sldNum" idx="12"/>
          </p:nvPr>
        </p:nvSpPr>
        <p:spPr>
          <a:xfrm>
            <a:off x="8763000" y="38100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matchingName="Vertical Title and Text" type="vertTitleAndTx">
  <p:cSld name="VERTICAL_TITLE_AND_VERTICAL_TEXT">
    <p:spTree>
      <p:nvGrpSpPr>
        <p:cNvPr id="1" name="Shape 133"/>
        <p:cNvGrpSpPr/>
        <p:nvPr/>
      </p:nvGrpSpPr>
      <p:grpSpPr>
        <a:xfrm>
          <a:off x="0" y="0"/>
          <a:ext cx="0" cy="0"/>
          <a:chOff x="0" y="0"/>
          <a:chExt cx="0" cy="0"/>
        </a:xfrm>
      </p:grpSpPr>
      <p:pic>
        <p:nvPicPr>
          <p:cNvPr id="134" name="Google Shape;134;p42" descr="C2-HD-BTM.png"/>
          <p:cNvPicPr preferRelativeResize="0"/>
          <p:nvPr/>
        </p:nvPicPr>
        <p:blipFill rotWithShape="1">
          <a:blip r:embed="rId2">
            <a:alphaModFix/>
          </a:blip>
          <a:srcRect/>
          <a:stretch/>
        </p:blipFill>
        <p:spPr>
          <a:xfrm>
            <a:off x="0" y="4375150"/>
            <a:ext cx="12192000" cy="2482850"/>
          </a:xfrm>
          <a:prstGeom prst="rect">
            <a:avLst/>
          </a:prstGeom>
          <a:noFill/>
          <a:ln>
            <a:noFill/>
          </a:ln>
        </p:spPr>
      </p:pic>
      <p:sp>
        <p:nvSpPr>
          <p:cNvPr id="135" name="Google Shape;135;p42"/>
          <p:cNvSpPr txBox="1">
            <a:spLocks noGrp="1"/>
          </p:cNvSpPr>
          <p:nvPr>
            <p:ph type="title"/>
          </p:nvPr>
        </p:nvSpPr>
        <p:spPr>
          <a:xfrm rot="5400000">
            <a:off x="8525934" y="1667933"/>
            <a:ext cx="3903133" cy="20574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4000"/>
              <a:buFont typeface="Century Gothic"/>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36" name="Google Shape;136;p42"/>
          <p:cNvSpPr txBox="1">
            <a:spLocks noGrp="1"/>
          </p:cNvSpPr>
          <p:nvPr>
            <p:ph type="body" idx="1"/>
          </p:nvPr>
        </p:nvSpPr>
        <p:spPr>
          <a:xfrm rot="5400000">
            <a:off x="3175000" y="-1405467"/>
            <a:ext cx="3903133" cy="8204201"/>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37" name="Google Shape;137;p42"/>
          <p:cNvSpPr txBox="1">
            <a:spLocks noGrp="1"/>
          </p:cNvSpPr>
          <p:nvPr>
            <p:ph type="dt" idx="10"/>
          </p:nvPr>
        </p:nvSpPr>
        <p:spPr>
          <a:xfrm>
            <a:off x="7814452" y="379941"/>
            <a:ext cx="2910840" cy="365125"/>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38" name="Google Shape;138;p42"/>
          <p:cNvSpPr txBox="1">
            <a:spLocks noGrp="1"/>
          </p:cNvSpPr>
          <p:nvPr>
            <p:ph type="ftr" idx="11"/>
          </p:nvPr>
        </p:nvSpPr>
        <p:spPr>
          <a:xfrm>
            <a:off x="685800" y="381000"/>
            <a:ext cx="6991492"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39" name="Google Shape;139;p42"/>
          <p:cNvSpPr txBox="1">
            <a:spLocks noGrp="1"/>
          </p:cNvSpPr>
          <p:nvPr>
            <p:ph type="sldNum" idx="12"/>
          </p:nvPr>
        </p:nvSpPr>
        <p:spPr>
          <a:xfrm>
            <a:off x="10862452" y="381000"/>
            <a:ext cx="643748"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1.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pic>
        <p:nvPicPr>
          <p:cNvPr id="6" name="Google Shape;6;p25" descr="C2-HD-TOP.png"/>
          <p:cNvPicPr preferRelativeResize="0"/>
          <p:nvPr/>
        </p:nvPicPr>
        <p:blipFill rotWithShape="1">
          <a:blip r:embed="rId19">
            <a:alphaModFix/>
          </a:blip>
          <a:srcRect/>
          <a:stretch/>
        </p:blipFill>
        <p:spPr>
          <a:xfrm>
            <a:off x="0" y="0"/>
            <a:ext cx="12192000" cy="1441450"/>
          </a:xfrm>
          <a:prstGeom prst="rect">
            <a:avLst/>
          </a:prstGeom>
          <a:noFill/>
          <a:ln>
            <a:noFill/>
          </a:ln>
        </p:spPr>
      </p:pic>
      <p:sp>
        <p:nvSpPr>
          <p:cNvPr id="7" name="Google Shape;7;p25"/>
          <p:cNvSpPr txBox="1">
            <a:spLocks noGrp="1"/>
          </p:cNvSpPr>
          <p:nvPr>
            <p:ph type="title"/>
          </p:nvPr>
        </p:nvSpPr>
        <p:spPr>
          <a:xfrm>
            <a:off x="2895600" y="764373"/>
            <a:ext cx="8610600" cy="1293028"/>
          </a:xfrm>
          <a:prstGeom prst="rect">
            <a:avLst/>
          </a:prstGeom>
          <a:noFill/>
          <a:ln>
            <a:noFill/>
          </a:ln>
        </p:spPr>
        <p:txBody>
          <a:bodyPr spcFirstLastPara="1" wrap="square" lIns="91425" tIns="45700" rIns="91425" bIns="45700" anchor="ctr" anchorCtr="0">
            <a:normAutofit/>
          </a:bodyPr>
          <a:lstStyle>
            <a:lvl1pPr marR="0" lvl="0" algn="r" rtl="0">
              <a:lnSpc>
                <a:spcPct val="90000"/>
              </a:lnSpc>
              <a:spcBef>
                <a:spcPts val="0"/>
              </a:spcBef>
              <a:spcAft>
                <a:spcPts val="0"/>
              </a:spcAft>
              <a:buClr>
                <a:schemeClr val="dk1"/>
              </a:buClr>
              <a:buSzPts val="4000"/>
              <a:buFont typeface="Century Gothic"/>
              <a:buNone/>
              <a:defRPr sz="4000" b="0" i="0" u="none" strike="noStrike" cap="none">
                <a:solidFill>
                  <a:schemeClr val="dk1"/>
                </a:solidFill>
                <a:latin typeface="Century Gothic"/>
                <a:ea typeface="Century Gothic"/>
                <a:cs typeface="Century Gothic"/>
                <a:sym typeface="Century Gothic"/>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8" name="Google Shape;8;p25"/>
          <p:cNvSpPr txBox="1">
            <a:spLocks noGrp="1"/>
          </p:cNvSpPr>
          <p:nvPr>
            <p:ph type="body" idx="1"/>
          </p:nvPr>
        </p:nvSpPr>
        <p:spPr>
          <a:xfrm>
            <a:off x="685800" y="2194560"/>
            <a:ext cx="10820400" cy="4024125"/>
          </a:xfrm>
          <a:prstGeom prst="rect">
            <a:avLst/>
          </a:prstGeom>
          <a:noFill/>
          <a:ln>
            <a:noFill/>
          </a:ln>
        </p:spPr>
        <p:txBody>
          <a:bodyPr spcFirstLastPara="1" wrap="square" lIns="91425" tIns="45700" rIns="91425" bIns="45700" anchor="t" anchorCtr="0">
            <a:normAutofit/>
          </a:bodyPr>
          <a:lstStyle>
            <a:lvl1pPr marL="457200" marR="0" lvl="0" indent="-368300" algn="l" rtl="0">
              <a:lnSpc>
                <a:spcPct val="90000"/>
              </a:lnSpc>
              <a:spcBef>
                <a:spcPts val="1000"/>
              </a:spcBef>
              <a:spcAft>
                <a:spcPts val="0"/>
              </a:spcAft>
              <a:buClr>
                <a:schemeClr val="dk1"/>
              </a:buClr>
              <a:buSzPts val="2200"/>
              <a:buFont typeface="Arial"/>
              <a:buChar char="•"/>
              <a:defRPr sz="2200" b="0" i="0" u="none" strike="noStrike" cap="none">
                <a:solidFill>
                  <a:schemeClr val="dk1"/>
                </a:solidFill>
                <a:latin typeface="Century Gothic"/>
                <a:ea typeface="Century Gothic"/>
                <a:cs typeface="Century Gothic"/>
                <a:sym typeface="Century Gothic"/>
              </a:defRPr>
            </a:lvl1pPr>
            <a:lvl2pPr marL="914400" marR="0" lvl="1"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entury Gothic"/>
                <a:ea typeface="Century Gothic"/>
                <a:cs typeface="Century Gothic"/>
                <a:sym typeface="Century Gothic"/>
              </a:defRPr>
            </a:lvl2pPr>
            <a:lvl3pPr marL="1371600" marR="0" lvl="2"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entury Gothic"/>
                <a:ea typeface="Century Gothic"/>
                <a:cs typeface="Century Gothic"/>
                <a:sym typeface="Century Gothic"/>
              </a:defRPr>
            </a:lvl3pPr>
            <a:lvl4pPr marL="1828800" marR="0" lvl="3" indent="-330200" algn="l" rtl="0">
              <a:lnSpc>
                <a:spcPct val="90000"/>
              </a:lnSpc>
              <a:spcBef>
                <a:spcPts val="500"/>
              </a:spcBef>
              <a:spcAft>
                <a:spcPts val="0"/>
              </a:spcAft>
              <a:buClr>
                <a:schemeClr val="dk1"/>
              </a:buClr>
              <a:buSzPts val="1600"/>
              <a:buFont typeface="Arial"/>
              <a:buChar char="•"/>
              <a:defRPr sz="1600" b="0" i="0" u="none" strike="noStrike" cap="none">
                <a:solidFill>
                  <a:schemeClr val="dk1"/>
                </a:solidFill>
                <a:latin typeface="Century Gothic"/>
                <a:ea typeface="Century Gothic"/>
                <a:cs typeface="Century Gothic"/>
                <a:sym typeface="Century Gothic"/>
              </a:defRPr>
            </a:lvl4pPr>
            <a:lvl5pPr marL="2286000" marR="0" lvl="4" indent="-330200" algn="l" rtl="0">
              <a:lnSpc>
                <a:spcPct val="90000"/>
              </a:lnSpc>
              <a:spcBef>
                <a:spcPts val="500"/>
              </a:spcBef>
              <a:spcAft>
                <a:spcPts val="0"/>
              </a:spcAft>
              <a:buClr>
                <a:schemeClr val="dk1"/>
              </a:buClr>
              <a:buSzPts val="1600"/>
              <a:buFont typeface="Arial"/>
              <a:buChar char="•"/>
              <a:defRPr sz="1600" b="0" i="0" u="none" strike="noStrike" cap="none">
                <a:solidFill>
                  <a:schemeClr val="dk1"/>
                </a:solidFill>
                <a:latin typeface="Century Gothic"/>
                <a:ea typeface="Century Gothic"/>
                <a:cs typeface="Century Gothic"/>
                <a:sym typeface="Century Gothic"/>
              </a:defRPr>
            </a:lvl5pPr>
            <a:lvl6pPr marL="2743200" marR="0" lvl="5" indent="-330200" algn="l" rtl="0">
              <a:lnSpc>
                <a:spcPct val="90000"/>
              </a:lnSpc>
              <a:spcBef>
                <a:spcPts val="500"/>
              </a:spcBef>
              <a:spcAft>
                <a:spcPts val="0"/>
              </a:spcAft>
              <a:buClr>
                <a:schemeClr val="dk1"/>
              </a:buClr>
              <a:buSzPts val="1600"/>
              <a:buFont typeface="Arial"/>
              <a:buChar char="•"/>
              <a:defRPr sz="1600" b="0" i="0" u="none" strike="noStrike" cap="none">
                <a:solidFill>
                  <a:schemeClr val="dk1"/>
                </a:solidFill>
                <a:latin typeface="Century Gothic"/>
                <a:ea typeface="Century Gothic"/>
                <a:cs typeface="Century Gothic"/>
                <a:sym typeface="Century Gothic"/>
              </a:defRPr>
            </a:lvl6pPr>
            <a:lvl7pPr marL="3200400" marR="0" lvl="6" indent="-330200" algn="l" rtl="0">
              <a:lnSpc>
                <a:spcPct val="90000"/>
              </a:lnSpc>
              <a:spcBef>
                <a:spcPts val="500"/>
              </a:spcBef>
              <a:spcAft>
                <a:spcPts val="0"/>
              </a:spcAft>
              <a:buClr>
                <a:schemeClr val="dk1"/>
              </a:buClr>
              <a:buSzPts val="1600"/>
              <a:buFont typeface="Arial"/>
              <a:buChar char="•"/>
              <a:defRPr sz="1600" b="0" i="0" u="none" strike="noStrike" cap="none">
                <a:solidFill>
                  <a:schemeClr val="dk1"/>
                </a:solidFill>
                <a:latin typeface="Century Gothic"/>
                <a:ea typeface="Century Gothic"/>
                <a:cs typeface="Century Gothic"/>
                <a:sym typeface="Century Gothic"/>
              </a:defRPr>
            </a:lvl7pPr>
            <a:lvl8pPr marL="3657600" marR="0" lvl="7" indent="-330200" algn="l" rtl="0">
              <a:lnSpc>
                <a:spcPct val="90000"/>
              </a:lnSpc>
              <a:spcBef>
                <a:spcPts val="500"/>
              </a:spcBef>
              <a:spcAft>
                <a:spcPts val="0"/>
              </a:spcAft>
              <a:buClr>
                <a:schemeClr val="dk1"/>
              </a:buClr>
              <a:buSzPts val="1600"/>
              <a:buFont typeface="Arial"/>
              <a:buChar char="•"/>
              <a:defRPr sz="1600" b="0" i="0" u="none" strike="noStrike" cap="none">
                <a:solidFill>
                  <a:schemeClr val="dk1"/>
                </a:solidFill>
                <a:latin typeface="Century Gothic"/>
                <a:ea typeface="Century Gothic"/>
                <a:cs typeface="Century Gothic"/>
                <a:sym typeface="Century Gothic"/>
              </a:defRPr>
            </a:lvl8pPr>
            <a:lvl9pPr marL="4114800" marR="0" lvl="8" indent="-330200" algn="l" rtl="0">
              <a:lnSpc>
                <a:spcPct val="90000"/>
              </a:lnSpc>
              <a:spcBef>
                <a:spcPts val="500"/>
              </a:spcBef>
              <a:spcAft>
                <a:spcPts val="0"/>
              </a:spcAft>
              <a:buClr>
                <a:schemeClr val="dk1"/>
              </a:buClr>
              <a:buSzPts val="1600"/>
              <a:buFont typeface="Arial"/>
              <a:buChar char="•"/>
              <a:defRPr sz="1600" b="0" i="0" u="none" strike="noStrike" cap="none">
                <a:solidFill>
                  <a:schemeClr val="dk1"/>
                </a:solidFill>
                <a:latin typeface="Century Gothic"/>
                <a:ea typeface="Century Gothic"/>
                <a:cs typeface="Century Gothic"/>
                <a:sym typeface="Century Gothic"/>
              </a:defRPr>
            </a:lvl9pPr>
          </a:lstStyle>
          <a:p>
            <a:endParaRPr/>
          </a:p>
        </p:txBody>
      </p:sp>
      <p:sp>
        <p:nvSpPr>
          <p:cNvPr id="9" name="Google Shape;9;p25"/>
          <p:cNvSpPr txBox="1">
            <a:spLocks noGrp="1"/>
          </p:cNvSpPr>
          <p:nvPr>
            <p:ph type="dt" idx="10"/>
          </p:nvPr>
        </p:nvSpPr>
        <p:spPr>
          <a:xfrm>
            <a:off x="8595360" y="6356350"/>
            <a:ext cx="2910840" cy="365125"/>
          </a:xfrm>
          <a:prstGeom prst="rect">
            <a:avLst/>
          </a:prstGeom>
          <a:noFill/>
          <a:ln>
            <a:noFill/>
          </a:ln>
        </p:spPr>
        <p:txBody>
          <a:bodyPr spcFirstLastPara="1" wrap="square" lIns="91425" tIns="45700" rIns="91425" bIns="45700" anchor="ctr" anchorCtr="0">
            <a:noAutofit/>
          </a:bodyPr>
          <a:lstStyle>
            <a:lvl1pPr marR="0" lvl="0" algn="r" rtl="0">
              <a:spcBef>
                <a:spcPts val="0"/>
              </a:spcBef>
              <a:spcAft>
                <a:spcPts val="0"/>
              </a:spcAft>
              <a:buSzPts val="1400"/>
              <a:buNone/>
              <a:defRPr sz="1050" b="0" i="0" u="none" strike="noStrike" cap="none">
                <a:solidFill>
                  <a:srgbClr val="888888"/>
                </a:solidFill>
                <a:latin typeface="Century Gothic"/>
                <a:ea typeface="Century Gothic"/>
                <a:cs typeface="Century Gothic"/>
                <a:sym typeface="Century Gothic"/>
              </a:defRPr>
            </a:lvl1pPr>
            <a:lvl2pPr marR="0" lvl="1" algn="l" rtl="0">
              <a:spcBef>
                <a:spcPts val="0"/>
              </a:spcBef>
              <a:spcAft>
                <a:spcPts val="0"/>
              </a:spcAft>
              <a:buSzPts val="1400"/>
              <a:buNone/>
              <a:defRPr sz="1800" b="0" i="0" u="none" strike="noStrike" cap="none">
                <a:solidFill>
                  <a:schemeClr val="dk1"/>
                </a:solidFill>
                <a:latin typeface="Century Gothic"/>
                <a:ea typeface="Century Gothic"/>
                <a:cs typeface="Century Gothic"/>
                <a:sym typeface="Century Gothic"/>
              </a:defRPr>
            </a:lvl2pPr>
            <a:lvl3pPr marR="0" lvl="2" algn="l" rtl="0">
              <a:spcBef>
                <a:spcPts val="0"/>
              </a:spcBef>
              <a:spcAft>
                <a:spcPts val="0"/>
              </a:spcAft>
              <a:buSzPts val="1400"/>
              <a:buNone/>
              <a:defRPr sz="1800" b="0" i="0" u="none" strike="noStrike" cap="none">
                <a:solidFill>
                  <a:schemeClr val="dk1"/>
                </a:solidFill>
                <a:latin typeface="Century Gothic"/>
                <a:ea typeface="Century Gothic"/>
                <a:cs typeface="Century Gothic"/>
                <a:sym typeface="Century Gothic"/>
              </a:defRPr>
            </a:lvl3pPr>
            <a:lvl4pPr marR="0" lvl="3" algn="l" rtl="0">
              <a:spcBef>
                <a:spcPts val="0"/>
              </a:spcBef>
              <a:spcAft>
                <a:spcPts val="0"/>
              </a:spcAft>
              <a:buSzPts val="1400"/>
              <a:buNone/>
              <a:defRPr sz="1800" b="0" i="0" u="none" strike="noStrike" cap="none">
                <a:solidFill>
                  <a:schemeClr val="dk1"/>
                </a:solidFill>
                <a:latin typeface="Century Gothic"/>
                <a:ea typeface="Century Gothic"/>
                <a:cs typeface="Century Gothic"/>
                <a:sym typeface="Century Gothic"/>
              </a:defRPr>
            </a:lvl4pPr>
            <a:lvl5pPr marR="0" lvl="4" algn="l" rtl="0">
              <a:spcBef>
                <a:spcPts val="0"/>
              </a:spcBef>
              <a:spcAft>
                <a:spcPts val="0"/>
              </a:spcAft>
              <a:buSzPts val="1400"/>
              <a:buNone/>
              <a:defRPr sz="1800" b="0" i="0" u="none" strike="noStrike" cap="none">
                <a:solidFill>
                  <a:schemeClr val="dk1"/>
                </a:solidFill>
                <a:latin typeface="Century Gothic"/>
                <a:ea typeface="Century Gothic"/>
                <a:cs typeface="Century Gothic"/>
                <a:sym typeface="Century Gothic"/>
              </a:defRPr>
            </a:lvl5pPr>
            <a:lvl6pPr marR="0" lvl="5" algn="l" rtl="0">
              <a:spcBef>
                <a:spcPts val="0"/>
              </a:spcBef>
              <a:spcAft>
                <a:spcPts val="0"/>
              </a:spcAft>
              <a:buSzPts val="1400"/>
              <a:buNone/>
              <a:defRPr sz="1800" b="0" i="0" u="none" strike="noStrike" cap="none">
                <a:solidFill>
                  <a:schemeClr val="dk1"/>
                </a:solidFill>
                <a:latin typeface="Century Gothic"/>
                <a:ea typeface="Century Gothic"/>
                <a:cs typeface="Century Gothic"/>
                <a:sym typeface="Century Gothic"/>
              </a:defRPr>
            </a:lvl6pPr>
            <a:lvl7pPr marR="0" lvl="6" algn="l" rtl="0">
              <a:spcBef>
                <a:spcPts val="0"/>
              </a:spcBef>
              <a:spcAft>
                <a:spcPts val="0"/>
              </a:spcAft>
              <a:buSzPts val="1400"/>
              <a:buNone/>
              <a:defRPr sz="1800" b="0" i="0" u="none" strike="noStrike" cap="none">
                <a:solidFill>
                  <a:schemeClr val="dk1"/>
                </a:solidFill>
                <a:latin typeface="Century Gothic"/>
                <a:ea typeface="Century Gothic"/>
                <a:cs typeface="Century Gothic"/>
                <a:sym typeface="Century Gothic"/>
              </a:defRPr>
            </a:lvl7pPr>
            <a:lvl8pPr marR="0" lvl="7" algn="l" rtl="0">
              <a:spcBef>
                <a:spcPts val="0"/>
              </a:spcBef>
              <a:spcAft>
                <a:spcPts val="0"/>
              </a:spcAft>
              <a:buSzPts val="1400"/>
              <a:buNone/>
              <a:defRPr sz="1800" b="0" i="0" u="none" strike="noStrike" cap="none">
                <a:solidFill>
                  <a:schemeClr val="dk1"/>
                </a:solidFill>
                <a:latin typeface="Century Gothic"/>
                <a:ea typeface="Century Gothic"/>
                <a:cs typeface="Century Gothic"/>
                <a:sym typeface="Century Gothic"/>
              </a:defRPr>
            </a:lvl8pPr>
            <a:lvl9pPr marR="0" lvl="8" algn="l" rtl="0">
              <a:spcBef>
                <a:spcPts val="0"/>
              </a:spcBef>
              <a:spcAft>
                <a:spcPts val="0"/>
              </a:spcAft>
              <a:buSzPts val="1400"/>
              <a:buNone/>
              <a:defRPr sz="1800" b="0" i="0" u="none" strike="noStrike" cap="none">
                <a:solidFill>
                  <a:schemeClr val="dk1"/>
                </a:solidFill>
                <a:latin typeface="Century Gothic"/>
                <a:ea typeface="Century Gothic"/>
                <a:cs typeface="Century Gothic"/>
                <a:sym typeface="Century Gothic"/>
              </a:defRPr>
            </a:lvl9pPr>
          </a:lstStyle>
          <a:p>
            <a:endParaRPr/>
          </a:p>
        </p:txBody>
      </p:sp>
      <p:sp>
        <p:nvSpPr>
          <p:cNvPr id="10" name="Google Shape;10;p25"/>
          <p:cNvSpPr txBox="1">
            <a:spLocks noGrp="1"/>
          </p:cNvSpPr>
          <p:nvPr>
            <p:ph type="ftr" idx="11"/>
          </p:nvPr>
        </p:nvSpPr>
        <p:spPr>
          <a:xfrm>
            <a:off x="685800" y="6355845"/>
            <a:ext cx="77724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050" b="0" i="0" u="none" strike="noStrike" cap="none">
                <a:solidFill>
                  <a:srgbClr val="888888"/>
                </a:solidFill>
                <a:latin typeface="Century Gothic"/>
                <a:ea typeface="Century Gothic"/>
                <a:cs typeface="Century Gothic"/>
                <a:sym typeface="Century Gothic"/>
              </a:defRPr>
            </a:lvl1pPr>
            <a:lvl2pPr marR="0" lvl="1" algn="l" rtl="0">
              <a:spcBef>
                <a:spcPts val="0"/>
              </a:spcBef>
              <a:spcAft>
                <a:spcPts val="0"/>
              </a:spcAft>
              <a:buSzPts val="1400"/>
              <a:buNone/>
              <a:defRPr sz="1800" b="0" i="0" u="none" strike="noStrike" cap="none">
                <a:solidFill>
                  <a:schemeClr val="dk1"/>
                </a:solidFill>
                <a:latin typeface="Century Gothic"/>
                <a:ea typeface="Century Gothic"/>
                <a:cs typeface="Century Gothic"/>
                <a:sym typeface="Century Gothic"/>
              </a:defRPr>
            </a:lvl2pPr>
            <a:lvl3pPr marR="0" lvl="2" algn="l" rtl="0">
              <a:spcBef>
                <a:spcPts val="0"/>
              </a:spcBef>
              <a:spcAft>
                <a:spcPts val="0"/>
              </a:spcAft>
              <a:buSzPts val="1400"/>
              <a:buNone/>
              <a:defRPr sz="1800" b="0" i="0" u="none" strike="noStrike" cap="none">
                <a:solidFill>
                  <a:schemeClr val="dk1"/>
                </a:solidFill>
                <a:latin typeface="Century Gothic"/>
                <a:ea typeface="Century Gothic"/>
                <a:cs typeface="Century Gothic"/>
                <a:sym typeface="Century Gothic"/>
              </a:defRPr>
            </a:lvl3pPr>
            <a:lvl4pPr marR="0" lvl="3" algn="l" rtl="0">
              <a:spcBef>
                <a:spcPts val="0"/>
              </a:spcBef>
              <a:spcAft>
                <a:spcPts val="0"/>
              </a:spcAft>
              <a:buSzPts val="1400"/>
              <a:buNone/>
              <a:defRPr sz="1800" b="0" i="0" u="none" strike="noStrike" cap="none">
                <a:solidFill>
                  <a:schemeClr val="dk1"/>
                </a:solidFill>
                <a:latin typeface="Century Gothic"/>
                <a:ea typeface="Century Gothic"/>
                <a:cs typeface="Century Gothic"/>
                <a:sym typeface="Century Gothic"/>
              </a:defRPr>
            </a:lvl4pPr>
            <a:lvl5pPr marR="0" lvl="4" algn="l" rtl="0">
              <a:spcBef>
                <a:spcPts val="0"/>
              </a:spcBef>
              <a:spcAft>
                <a:spcPts val="0"/>
              </a:spcAft>
              <a:buSzPts val="1400"/>
              <a:buNone/>
              <a:defRPr sz="1800" b="0" i="0" u="none" strike="noStrike" cap="none">
                <a:solidFill>
                  <a:schemeClr val="dk1"/>
                </a:solidFill>
                <a:latin typeface="Century Gothic"/>
                <a:ea typeface="Century Gothic"/>
                <a:cs typeface="Century Gothic"/>
                <a:sym typeface="Century Gothic"/>
              </a:defRPr>
            </a:lvl5pPr>
            <a:lvl6pPr marR="0" lvl="5" algn="l" rtl="0">
              <a:spcBef>
                <a:spcPts val="0"/>
              </a:spcBef>
              <a:spcAft>
                <a:spcPts val="0"/>
              </a:spcAft>
              <a:buSzPts val="1400"/>
              <a:buNone/>
              <a:defRPr sz="1800" b="0" i="0" u="none" strike="noStrike" cap="none">
                <a:solidFill>
                  <a:schemeClr val="dk1"/>
                </a:solidFill>
                <a:latin typeface="Century Gothic"/>
                <a:ea typeface="Century Gothic"/>
                <a:cs typeface="Century Gothic"/>
                <a:sym typeface="Century Gothic"/>
              </a:defRPr>
            </a:lvl6pPr>
            <a:lvl7pPr marR="0" lvl="6" algn="l" rtl="0">
              <a:spcBef>
                <a:spcPts val="0"/>
              </a:spcBef>
              <a:spcAft>
                <a:spcPts val="0"/>
              </a:spcAft>
              <a:buSzPts val="1400"/>
              <a:buNone/>
              <a:defRPr sz="1800" b="0" i="0" u="none" strike="noStrike" cap="none">
                <a:solidFill>
                  <a:schemeClr val="dk1"/>
                </a:solidFill>
                <a:latin typeface="Century Gothic"/>
                <a:ea typeface="Century Gothic"/>
                <a:cs typeface="Century Gothic"/>
                <a:sym typeface="Century Gothic"/>
              </a:defRPr>
            </a:lvl7pPr>
            <a:lvl8pPr marR="0" lvl="7" algn="l" rtl="0">
              <a:spcBef>
                <a:spcPts val="0"/>
              </a:spcBef>
              <a:spcAft>
                <a:spcPts val="0"/>
              </a:spcAft>
              <a:buSzPts val="1400"/>
              <a:buNone/>
              <a:defRPr sz="1800" b="0" i="0" u="none" strike="noStrike" cap="none">
                <a:solidFill>
                  <a:schemeClr val="dk1"/>
                </a:solidFill>
                <a:latin typeface="Century Gothic"/>
                <a:ea typeface="Century Gothic"/>
                <a:cs typeface="Century Gothic"/>
                <a:sym typeface="Century Gothic"/>
              </a:defRPr>
            </a:lvl8pPr>
            <a:lvl9pPr marR="0" lvl="8" algn="l" rtl="0">
              <a:spcBef>
                <a:spcPts val="0"/>
              </a:spcBef>
              <a:spcAft>
                <a:spcPts val="0"/>
              </a:spcAft>
              <a:buSzPts val="1400"/>
              <a:buNone/>
              <a:defRPr sz="1800" b="0" i="0" u="none" strike="noStrike" cap="none">
                <a:solidFill>
                  <a:schemeClr val="dk1"/>
                </a:solidFill>
                <a:latin typeface="Century Gothic"/>
                <a:ea typeface="Century Gothic"/>
                <a:cs typeface="Century Gothic"/>
                <a:sym typeface="Century Gothic"/>
              </a:defRPr>
            </a:lvl9pPr>
          </a:lstStyle>
          <a:p>
            <a:endParaRPr/>
          </a:p>
        </p:txBody>
      </p:sp>
      <p:sp>
        <p:nvSpPr>
          <p:cNvPr id="11" name="Google Shape;11;p25"/>
          <p:cNvSpPr txBox="1">
            <a:spLocks noGrp="1"/>
          </p:cNvSpPr>
          <p:nvPr>
            <p:ph type="sldNum" idx="12"/>
          </p:nvPr>
        </p:nvSpPr>
        <p:spPr>
          <a:xfrm>
            <a:off x="8763000" y="38100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050" b="0" i="0" u="none" strike="noStrike" cap="none">
                <a:solidFill>
                  <a:srgbClr val="888888"/>
                </a:solidFill>
                <a:latin typeface="Century Gothic"/>
                <a:ea typeface="Century Gothic"/>
                <a:cs typeface="Century Gothic"/>
                <a:sym typeface="Century Gothic"/>
              </a:defRPr>
            </a:lvl1pPr>
            <a:lvl2pPr marL="0" marR="0" lvl="1" indent="0" algn="r" rtl="0">
              <a:spcBef>
                <a:spcPts val="0"/>
              </a:spcBef>
              <a:buNone/>
              <a:defRPr sz="1050" b="0" i="0" u="none" strike="noStrike" cap="none">
                <a:solidFill>
                  <a:srgbClr val="888888"/>
                </a:solidFill>
                <a:latin typeface="Century Gothic"/>
                <a:ea typeface="Century Gothic"/>
                <a:cs typeface="Century Gothic"/>
                <a:sym typeface="Century Gothic"/>
              </a:defRPr>
            </a:lvl2pPr>
            <a:lvl3pPr marL="0" marR="0" lvl="2" indent="0" algn="r" rtl="0">
              <a:spcBef>
                <a:spcPts val="0"/>
              </a:spcBef>
              <a:buNone/>
              <a:defRPr sz="1050" b="0" i="0" u="none" strike="noStrike" cap="none">
                <a:solidFill>
                  <a:srgbClr val="888888"/>
                </a:solidFill>
                <a:latin typeface="Century Gothic"/>
                <a:ea typeface="Century Gothic"/>
                <a:cs typeface="Century Gothic"/>
                <a:sym typeface="Century Gothic"/>
              </a:defRPr>
            </a:lvl3pPr>
            <a:lvl4pPr marL="0" marR="0" lvl="3" indent="0" algn="r" rtl="0">
              <a:spcBef>
                <a:spcPts val="0"/>
              </a:spcBef>
              <a:buNone/>
              <a:defRPr sz="1050" b="0" i="0" u="none" strike="noStrike" cap="none">
                <a:solidFill>
                  <a:srgbClr val="888888"/>
                </a:solidFill>
                <a:latin typeface="Century Gothic"/>
                <a:ea typeface="Century Gothic"/>
                <a:cs typeface="Century Gothic"/>
                <a:sym typeface="Century Gothic"/>
              </a:defRPr>
            </a:lvl4pPr>
            <a:lvl5pPr marL="0" marR="0" lvl="4" indent="0" algn="r" rtl="0">
              <a:spcBef>
                <a:spcPts val="0"/>
              </a:spcBef>
              <a:buNone/>
              <a:defRPr sz="1050" b="0" i="0" u="none" strike="noStrike" cap="none">
                <a:solidFill>
                  <a:srgbClr val="888888"/>
                </a:solidFill>
                <a:latin typeface="Century Gothic"/>
                <a:ea typeface="Century Gothic"/>
                <a:cs typeface="Century Gothic"/>
                <a:sym typeface="Century Gothic"/>
              </a:defRPr>
            </a:lvl5pPr>
            <a:lvl6pPr marL="0" marR="0" lvl="5" indent="0" algn="r" rtl="0">
              <a:spcBef>
                <a:spcPts val="0"/>
              </a:spcBef>
              <a:buNone/>
              <a:defRPr sz="1050" b="0" i="0" u="none" strike="noStrike" cap="none">
                <a:solidFill>
                  <a:srgbClr val="888888"/>
                </a:solidFill>
                <a:latin typeface="Century Gothic"/>
                <a:ea typeface="Century Gothic"/>
                <a:cs typeface="Century Gothic"/>
                <a:sym typeface="Century Gothic"/>
              </a:defRPr>
            </a:lvl6pPr>
            <a:lvl7pPr marL="0" marR="0" lvl="6" indent="0" algn="r" rtl="0">
              <a:spcBef>
                <a:spcPts val="0"/>
              </a:spcBef>
              <a:buNone/>
              <a:defRPr sz="1050" b="0" i="0" u="none" strike="noStrike" cap="none">
                <a:solidFill>
                  <a:srgbClr val="888888"/>
                </a:solidFill>
                <a:latin typeface="Century Gothic"/>
                <a:ea typeface="Century Gothic"/>
                <a:cs typeface="Century Gothic"/>
                <a:sym typeface="Century Gothic"/>
              </a:defRPr>
            </a:lvl7pPr>
            <a:lvl8pPr marL="0" marR="0" lvl="7" indent="0" algn="r" rtl="0">
              <a:spcBef>
                <a:spcPts val="0"/>
              </a:spcBef>
              <a:buNone/>
              <a:defRPr sz="1050" b="0" i="0" u="none" strike="noStrike" cap="none">
                <a:solidFill>
                  <a:srgbClr val="888888"/>
                </a:solidFill>
                <a:latin typeface="Century Gothic"/>
                <a:ea typeface="Century Gothic"/>
                <a:cs typeface="Century Gothic"/>
                <a:sym typeface="Century Gothic"/>
              </a:defRPr>
            </a:lvl8pPr>
            <a:lvl9pPr marL="0" marR="0" lvl="8" indent="0" algn="r" rtl="0">
              <a:spcBef>
                <a:spcPts val="0"/>
              </a:spcBef>
              <a:buNone/>
              <a:defRPr sz="1050" b="0" i="0" u="none" strike="noStrike" cap="none">
                <a:solidFill>
                  <a:srgbClr val="888888"/>
                </a:solidFill>
                <a:latin typeface="Century Gothic"/>
                <a:ea typeface="Century Gothic"/>
                <a:cs typeface="Century Gothic"/>
                <a:sym typeface="Century Gothic"/>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4.xml"/><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1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5.xml"/><Relationship Id="rId1" Type="http://schemas.openxmlformats.org/officeDocument/2006/relationships/slideLayout" Target="../slideLayouts/slideLayout2.xml"/><Relationship Id="rId5" Type="http://schemas.openxmlformats.org/officeDocument/2006/relationships/hyperlink" Target="https://www.samhsa.gov/data/data-we-collect/nsduh-national-survey-drug-use-and-health" TargetMode="External"/><Relationship Id="rId4" Type="http://schemas.openxmlformats.org/officeDocument/2006/relationships/image" Target="../media/image2.png"/></Relationships>
</file>

<file path=ppt/slides/_rels/slide1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7.xml"/><Relationship Id="rId1" Type="http://schemas.openxmlformats.org/officeDocument/2006/relationships/slideLayout" Target="../slideLayouts/slideLayout2.xml"/><Relationship Id="rId5" Type="http://schemas.openxmlformats.org/officeDocument/2006/relationships/image" Target="../media/image8.png"/><Relationship Id="rId4" Type="http://schemas.openxmlformats.org/officeDocument/2006/relationships/hyperlink" Target="https://www.oregon.gov/oha/PH/BIRTHDEATHCERTIFICATES/SURVEYS/OREGONHEALTHYTEENS/Documents/2019/2019%20State%20of%20Oregon%20Profile%20Report.pdf" TargetMode="External"/></Relationships>
</file>

<file path=ppt/slides/_rels/slide1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8.xml"/><Relationship Id="rId1" Type="http://schemas.openxmlformats.org/officeDocument/2006/relationships/slideLayout" Target="../slideLayouts/slideLayout2.xml"/><Relationship Id="rId4" Type="http://schemas.openxmlformats.org/officeDocument/2006/relationships/image" Target="../media/image9.jpg"/></Relationships>
</file>

<file path=ppt/slides/_rels/slide1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9.xml"/><Relationship Id="rId1" Type="http://schemas.openxmlformats.org/officeDocument/2006/relationships/slideLayout" Target="../slideLayouts/slideLayout2.xml"/><Relationship Id="rId5" Type="http://schemas.openxmlformats.org/officeDocument/2006/relationships/image" Target="../media/image10.png"/><Relationship Id="rId4" Type="http://schemas.openxmlformats.org/officeDocument/2006/relationships/image" Target="../media/image2.png"/></Relationships>
</file>

<file path=ppt/slides/_rels/slide2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0.xml"/><Relationship Id="rId1" Type="http://schemas.openxmlformats.org/officeDocument/2006/relationships/slideLayout" Target="../slideLayouts/slideLayout2.xml"/><Relationship Id="rId4" Type="http://schemas.openxmlformats.org/officeDocument/2006/relationships/image" Target="../media/image11.png"/></Relationships>
</file>

<file path=ppt/slides/_rels/slide2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1.xml"/><Relationship Id="rId1" Type="http://schemas.openxmlformats.org/officeDocument/2006/relationships/slideLayout" Target="../slideLayouts/slideLayout2.xml"/><Relationship Id="rId4" Type="http://schemas.openxmlformats.org/officeDocument/2006/relationships/image" Target="../media/image12.png"/></Relationships>
</file>

<file path=ppt/slides/_rels/slide2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2.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2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8" Type="http://schemas.openxmlformats.org/officeDocument/2006/relationships/hyperlink" Target="https://www.samhsa.gov/csap" TargetMode="External"/><Relationship Id="rId3" Type="http://schemas.openxmlformats.org/officeDocument/2006/relationships/image" Target="../media/image2.png"/><Relationship Id="rId7" Type="http://schemas.openxmlformats.org/officeDocument/2006/relationships/hyperlink" Target="https://youth.gov/youth-topics/substance-abuse/prevention" TargetMode="External"/><Relationship Id="rId2" Type="http://schemas.openxmlformats.org/officeDocument/2006/relationships/notesSlide" Target="../notesSlides/notesSlide24.xml"/><Relationship Id="rId1" Type="http://schemas.openxmlformats.org/officeDocument/2006/relationships/slideLayout" Target="../slideLayouts/slideLayout2.xml"/><Relationship Id="rId6" Type="http://schemas.openxmlformats.org/officeDocument/2006/relationships/hyperlink" Target="https://teen-safe.org/resources" TargetMode="External"/><Relationship Id="rId5" Type="http://schemas.openxmlformats.org/officeDocument/2006/relationships/hyperlink" Target="https://www.oregon.gov/oha/PH/BirthDeathCertificates/Surveys/StudentHealthSurvey/Pages/index.aspx" TargetMode="External"/><Relationship Id="rId4" Type="http://schemas.openxmlformats.org/officeDocument/2006/relationships/hyperlink" Target="https://www.oregon.gov/oha/PH/BirthDeathCertificates/Surveys/OregonHealthyTeens/Pages/index.aspx" TargetMode="External"/><Relationship Id="rId9" Type="http://schemas.openxmlformats.org/officeDocument/2006/relationships/hyperlink" Target="https://www.samhsa.gov/prevention" TargetMode="Externa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143"/>
        <p:cNvGrpSpPr/>
        <p:nvPr/>
      </p:nvGrpSpPr>
      <p:grpSpPr>
        <a:xfrm>
          <a:off x="0" y="0"/>
          <a:ext cx="0" cy="0"/>
          <a:chOff x="0" y="0"/>
          <a:chExt cx="0" cy="0"/>
        </a:xfrm>
      </p:grpSpPr>
      <p:sp>
        <p:nvSpPr>
          <p:cNvPr id="144" name="Google Shape;144;p1"/>
          <p:cNvSpPr txBox="1">
            <a:spLocks noGrp="1"/>
          </p:cNvSpPr>
          <p:nvPr>
            <p:ph type="ctrTitle"/>
          </p:nvPr>
        </p:nvSpPr>
        <p:spPr>
          <a:xfrm>
            <a:off x="7835900" y="673240"/>
            <a:ext cx="4025900" cy="3446373"/>
          </a:xfrm>
          <a:prstGeom prst="rect">
            <a:avLst/>
          </a:prstGeom>
          <a:noFill/>
          <a:ln>
            <a:noFill/>
          </a:ln>
        </p:spPr>
        <p:txBody>
          <a:bodyPr spcFirstLastPara="1" wrap="square" lIns="91425" tIns="45700" rIns="91425" bIns="45700" anchor="b" anchorCtr="0">
            <a:normAutofit/>
          </a:bodyPr>
          <a:lstStyle/>
          <a:p>
            <a:pPr marL="0" lvl="0" indent="0" algn="l" rtl="0">
              <a:lnSpc>
                <a:spcPct val="90000"/>
              </a:lnSpc>
              <a:spcBef>
                <a:spcPts val="0"/>
              </a:spcBef>
              <a:spcAft>
                <a:spcPts val="0"/>
              </a:spcAft>
              <a:buClr>
                <a:schemeClr val="dk1"/>
              </a:buClr>
              <a:buSzPts val="3400"/>
              <a:buFont typeface="Arial"/>
              <a:buNone/>
            </a:pPr>
            <a:r>
              <a:rPr lang="en-US" sz="3400" b="0" i="0" u="none" strike="noStrike">
                <a:latin typeface="Arial"/>
                <a:ea typeface="Arial"/>
                <a:cs typeface="Arial"/>
                <a:sym typeface="Arial"/>
              </a:rPr>
              <a:t>COMBATING ADOLESCENT</a:t>
            </a:r>
            <a:br>
              <a:rPr lang="en-US" sz="3400" b="0" i="0" u="none" strike="noStrike">
                <a:latin typeface="Arial"/>
                <a:ea typeface="Arial"/>
                <a:cs typeface="Arial"/>
                <a:sym typeface="Arial"/>
              </a:rPr>
            </a:br>
            <a:r>
              <a:rPr lang="en-US" sz="3400" b="0" i="0" u="none" strike="noStrike">
                <a:latin typeface="Arial"/>
                <a:ea typeface="Arial"/>
                <a:cs typeface="Arial"/>
                <a:sym typeface="Arial"/>
              </a:rPr>
              <a:t> SUBSTANCE</a:t>
            </a:r>
            <a:br>
              <a:rPr lang="en-US" sz="3400" b="0" i="0" u="none" strike="noStrike">
                <a:latin typeface="Arial"/>
                <a:ea typeface="Arial"/>
                <a:cs typeface="Arial"/>
                <a:sym typeface="Arial"/>
              </a:rPr>
            </a:br>
            <a:r>
              <a:rPr lang="en-US" sz="3400" b="0" i="0" u="none" strike="noStrike">
                <a:latin typeface="Arial"/>
                <a:ea typeface="Arial"/>
                <a:cs typeface="Arial"/>
                <a:sym typeface="Arial"/>
              </a:rPr>
              <a:t> ABUSE IN </a:t>
            </a:r>
            <a:br>
              <a:rPr lang="en-US" sz="3400" b="0" i="0" u="none" strike="noStrike">
                <a:latin typeface="Arial"/>
                <a:ea typeface="Arial"/>
                <a:cs typeface="Arial"/>
                <a:sym typeface="Arial"/>
              </a:rPr>
            </a:br>
            <a:r>
              <a:rPr lang="en-US" sz="3400" b="0" i="0" u="none" strike="noStrike">
                <a:latin typeface="Arial"/>
                <a:ea typeface="Arial"/>
                <a:cs typeface="Arial"/>
                <a:sym typeface="Arial"/>
              </a:rPr>
              <a:t>OREGON</a:t>
            </a:r>
            <a:br>
              <a:rPr lang="en-US" sz="3400" b="0"/>
            </a:br>
            <a:br>
              <a:rPr lang="en-US" sz="3400"/>
            </a:br>
            <a:endParaRPr sz="3400"/>
          </a:p>
        </p:txBody>
      </p:sp>
      <p:sp>
        <p:nvSpPr>
          <p:cNvPr id="145" name="Google Shape;145;p1"/>
          <p:cNvSpPr txBox="1">
            <a:spLocks noGrp="1"/>
          </p:cNvSpPr>
          <p:nvPr>
            <p:ph type="subTitle" idx="1"/>
          </p:nvPr>
        </p:nvSpPr>
        <p:spPr>
          <a:xfrm>
            <a:off x="8891020" y="3252157"/>
            <a:ext cx="3300980" cy="684844"/>
          </a:xfrm>
          <a:prstGeom prst="rect">
            <a:avLst/>
          </a:prstGeom>
          <a:noFill/>
          <a:ln>
            <a:noFill/>
          </a:ln>
        </p:spPr>
        <p:txBody>
          <a:bodyPr spcFirstLastPara="1" wrap="square" lIns="91425" tIns="45700" rIns="91425" bIns="45700" anchor="t" anchorCtr="0">
            <a:normAutofit/>
          </a:bodyPr>
          <a:lstStyle/>
          <a:p>
            <a:pPr marL="0" lvl="0" indent="0" algn="l" rtl="0">
              <a:lnSpc>
                <a:spcPct val="90000"/>
              </a:lnSpc>
              <a:spcBef>
                <a:spcPts val="0"/>
              </a:spcBef>
              <a:spcAft>
                <a:spcPts val="0"/>
              </a:spcAft>
              <a:buClr>
                <a:schemeClr val="dk1"/>
              </a:buClr>
              <a:buSzPts val="2000"/>
              <a:buNone/>
            </a:pPr>
            <a:r>
              <a:rPr lang="en-US" b="0" i="0" u="none" strike="noStrike">
                <a:latin typeface="Arial"/>
                <a:ea typeface="Arial"/>
                <a:cs typeface="Arial"/>
                <a:sym typeface="Arial"/>
              </a:rPr>
              <a:t>A Community-Centric Approach</a:t>
            </a:r>
            <a:endParaRPr/>
          </a:p>
        </p:txBody>
      </p:sp>
      <p:sp>
        <p:nvSpPr>
          <p:cNvPr id="146" name="Google Shape;146;p1"/>
          <p:cNvSpPr/>
          <p:nvPr/>
        </p:nvSpPr>
        <p:spPr>
          <a:xfrm>
            <a:off x="7946782" y="-1"/>
            <a:ext cx="4245218" cy="536715"/>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entury Gothic"/>
              <a:ea typeface="Century Gothic"/>
              <a:cs typeface="Century Gothic"/>
              <a:sym typeface="Century Gothic"/>
            </a:endParaRPr>
          </a:p>
        </p:txBody>
      </p:sp>
      <p:sp>
        <p:nvSpPr>
          <p:cNvPr id="147" name="Google Shape;147;p1"/>
          <p:cNvSpPr/>
          <p:nvPr/>
        </p:nvSpPr>
        <p:spPr>
          <a:xfrm>
            <a:off x="-1" y="0"/>
            <a:ext cx="7946781" cy="68580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entury Gothic"/>
              <a:ea typeface="Century Gothic"/>
              <a:cs typeface="Century Gothic"/>
              <a:sym typeface="Century Gothic"/>
            </a:endParaRPr>
          </a:p>
        </p:txBody>
      </p:sp>
      <p:sp>
        <p:nvSpPr>
          <p:cNvPr id="148" name="Google Shape;148;p1"/>
          <p:cNvSpPr/>
          <p:nvPr/>
        </p:nvSpPr>
        <p:spPr>
          <a:xfrm>
            <a:off x="643338" y="643464"/>
            <a:ext cx="6638814" cy="5571072"/>
          </a:xfrm>
          <a:prstGeom prst="roundRect">
            <a:avLst>
              <a:gd name="adj" fmla="val 2403"/>
            </a:avLst>
          </a:prstGeom>
          <a:solidFill>
            <a:srgbClr val="FFFFF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entury Gothic"/>
              <a:ea typeface="Century Gothic"/>
              <a:cs typeface="Century Gothic"/>
              <a:sym typeface="Century Gothic"/>
            </a:endParaRPr>
          </a:p>
        </p:txBody>
      </p:sp>
      <p:pic>
        <p:nvPicPr>
          <p:cNvPr id="149" name="Google Shape;149;p1" descr="30+ Bend Oregon Map Illustrations, Royalty-Free Vector Graphics &amp; Clip Art  - iStock"/>
          <p:cNvPicPr preferRelativeResize="0"/>
          <p:nvPr/>
        </p:nvPicPr>
        <p:blipFill rotWithShape="1">
          <a:blip r:embed="rId3">
            <a:alphaModFix/>
          </a:blip>
          <a:srcRect l="1717" r="1067" b="-2"/>
          <a:stretch/>
        </p:blipFill>
        <p:spPr>
          <a:xfrm>
            <a:off x="1293000" y="1286928"/>
            <a:ext cx="5339490" cy="4284145"/>
          </a:xfrm>
          <a:prstGeom prst="rect">
            <a:avLst/>
          </a:prstGeom>
          <a:noFill/>
          <a:ln>
            <a:noFill/>
          </a:ln>
        </p:spPr>
      </p:pic>
      <p:sp>
        <p:nvSpPr>
          <p:cNvPr id="150" name="Google Shape;150;p1"/>
          <p:cNvSpPr txBox="1"/>
          <p:nvPr/>
        </p:nvSpPr>
        <p:spPr>
          <a:xfrm>
            <a:off x="9581375" y="4855645"/>
            <a:ext cx="2635250" cy="685800"/>
          </a:xfrm>
          <a:prstGeom prst="rect">
            <a:avLst/>
          </a:prstGeom>
          <a:noFill/>
          <a:ln>
            <a:noFill/>
          </a:ln>
        </p:spPr>
        <p:txBody>
          <a:bodyPr spcFirstLastPara="1" wrap="square" lIns="91425" tIns="45700" rIns="91425" bIns="45700" anchor="t" anchorCtr="0">
            <a:normAutofit fontScale="85000" lnSpcReduction="10000"/>
          </a:bodyPr>
          <a:lstStyle/>
          <a:p>
            <a:pPr marL="0" marR="0" lvl="0" indent="0" algn="l" rtl="0">
              <a:lnSpc>
                <a:spcPct val="90000"/>
              </a:lnSpc>
              <a:spcBef>
                <a:spcPts val="0"/>
              </a:spcBef>
              <a:spcAft>
                <a:spcPts val="0"/>
              </a:spcAft>
              <a:buClr>
                <a:schemeClr val="dk1"/>
              </a:buClr>
              <a:buSzPct val="100000"/>
              <a:buFont typeface="Arial"/>
              <a:buNone/>
            </a:pPr>
            <a:r>
              <a:rPr lang="en-US" sz="2000" b="0" i="0" u="none" strike="noStrike" cap="none">
                <a:solidFill>
                  <a:schemeClr val="dk1"/>
                </a:solidFill>
                <a:latin typeface="Arial"/>
                <a:ea typeface="Arial"/>
                <a:cs typeface="Arial"/>
                <a:sym typeface="Arial"/>
              </a:rPr>
              <a:t>By</a:t>
            </a:r>
            <a:endParaRPr/>
          </a:p>
          <a:p>
            <a:pPr marL="0" marR="0" lvl="0" indent="0" algn="l" rtl="0">
              <a:lnSpc>
                <a:spcPct val="90000"/>
              </a:lnSpc>
              <a:spcBef>
                <a:spcPts val="1000"/>
              </a:spcBef>
              <a:spcAft>
                <a:spcPts val="0"/>
              </a:spcAft>
              <a:buClr>
                <a:schemeClr val="dk1"/>
              </a:buClr>
              <a:buSzPct val="100000"/>
              <a:buFont typeface="Arial"/>
              <a:buNone/>
            </a:pPr>
            <a:r>
              <a:rPr lang="en-US" sz="2000" b="0" i="0" u="none" strike="noStrike" cap="none">
                <a:solidFill>
                  <a:schemeClr val="dk1"/>
                </a:solidFill>
                <a:latin typeface="Arial"/>
                <a:ea typeface="Arial"/>
                <a:cs typeface="Arial"/>
                <a:sym typeface="Arial"/>
              </a:rPr>
              <a:t>Navin Kumar Balagopal</a:t>
            </a:r>
            <a:endParaRPr sz="2000" b="0" i="0" u="none" strike="noStrike" cap="none">
              <a:solidFill>
                <a:schemeClr val="dk1"/>
              </a:solidFill>
              <a:latin typeface="Century Gothic"/>
              <a:ea typeface="Century Gothic"/>
              <a:cs typeface="Century Gothic"/>
              <a:sym typeface="Century Gothic"/>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1000"/>
                                  </p:stCondLst>
                                  <p:childTnLst>
                                    <p:set>
                                      <p:cBhvr>
                                        <p:cTn id="6" dur="1" fill="hold">
                                          <p:stCondLst>
                                            <p:cond delay="0"/>
                                          </p:stCondLst>
                                        </p:cTn>
                                        <p:tgtEl>
                                          <p:spTgt spid="144"/>
                                        </p:tgtEl>
                                        <p:attrNameLst>
                                          <p:attrName>style.visibility</p:attrName>
                                        </p:attrNameLst>
                                      </p:cBhvr>
                                      <p:to>
                                        <p:strVal val="visible"/>
                                      </p:to>
                                    </p:set>
                                    <p:animEffect transition="in" filter="fade">
                                      <p:cBhvr>
                                        <p:cTn id="7" dur="400"/>
                                        <p:tgtEl>
                                          <p:spTgt spid="144"/>
                                        </p:tgtEl>
                                      </p:cBhvr>
                                    </p:animEffect>
                                  </p:childTnLst>
                                </p:cTn>
                              </p:par>
                              <p:par>
                                <p:cTn id="8" presetID="10" presetClass="entr" presetSubtype="0" fill="hold" nodeType="withEffect">
                                  <p:stCondLst>
                                    <p:cond delay="2000"/>
                                  </p:stCondLst>
                                  <p:childTnLst>
                                    <p:set>
                                      <p:cBhvr>
                                        <p:cTn id="9" dur="1" fill="hold">
                                          <p:stCondLst>
                                            <p:cond delay="0"/>
                                          </p:stCondLst>
                                        </p:cTn>
                                        <p:tgtEl>
                                          <p:spTgt spid="145">
                                            <p:txEl>
                                              <p:pRg st="0" end="0"/>
                                            </p:txEl>
                                          </p:spTgt>
                                        </p:tgtEl>
                                        <p:attrNameLst>
                                          <p:attrName>style.visibility</p:attrName>
                                        </p:attrNameLst>
                                      </p:cBhvr>
                                      <p:to>
                                        <p:strVal val="visible"/>
                                      </p:to>
                                    </p:set>
                                    <p:animEffect transition="in" filter="fade">
                                      <p:cBhvr>
                                        <p:cTn id="10" dur="400"/>
                                        <p:tgtEl>
                                          <p:spTgt spid="145">
                                            <p:txEl>
                                              <p:pRg st="0" end="0"/>
                                            </p:txEl>
                                          </p:spTgt>
                                        </p:tgtEl>
                                      </p:cBhvr>
                                    </p:animEffect>
                                  </p:childTnLst>
                                </p:cTn>
                              </p:par>
                              <p:par>
                                <p:cTn id="11" presetID="10" presetClass="entr" presetSubtype="0" fill="hold" nodeType="withEffect">
                                  <p:stCondLst>
                                    <p:cond delay="2000"/>
                                  </p:stCondLst>
                                  <p:childTnLst>
                                    <p:set>
                                      <p:cBhvr>
                                        <p:cTn id="12" dur="1" fill="hold">
                                          <p:stCondLst>
                                            <p:cond delay="0"/>
                                          </p:stCondLst>
                                        </p:cTn>
                                        <p:tgtEl>
                                          <p:spTgt spid="150">
                                            <p:txEl>
                                              <p:pRg st="0" end="0"/>
                                            </p:txEl>
                                          </p:spTgt>
                                        </p:tgtEl>
                                        <p:attrNameLst>
                                          <p:attrName>style.visibility</p:attrName>
                                        </p:attrNameLst>
                                      </p:cBhvr>
                                      <p:to>
                                        <p:strVal val="visible"/>
                                      </p:to>
                                    </p:set>
                                    <p:animEffect transition="in" filter="fade">
                                      <p:cBhvr>
                                        <p:cTn id="13" dur="400"/>
                                        <p:tgtEl>
                                          <p:spTgt spid="150">
                                            <p:txEl>
                                              <p:pRg st="0" end="0"/>
                                            </p:txEl>
                                          </p:spTgt>
                                        </p:tgtEl>
                                      </p:cBhvr>
                                    </p:animEffect>
                                  </p:childTnLst>
                                </p:cTn>
                              </p:par>
                              <p:par>
                                <p:cTn id="14" presetID="10" presetClass="entr" presetSubtype="0" fill="hold" nodeType="withEffect">
                                  <p:stCondLst>
                                    <p:cond delay="2000"/>
                                  </p:stCondLst>
                                  <p:childTnLst>
                                    <p:set>
                                      <p:cBhvr>
                                        <p:cTn id="15" dur="1" fill="hold">
                                          <p:stCondLst>
                                            <p:cond delay="0"/>
                                          </p:stCondLst>
                                        </p:cTn>
                                        <p:tgtEl>
                                          <p:spTgt spid="150">
                                            <p:txEl>
                                              <p:pRg st="1" end="1"/>
                                            </p:txEl>
                                          </p:spTgt>
                                        </p:tgtEl>
                                        <p:attrNameLst>
                                          <p:attrName>style.visibility</p:attrName>
                                        </p:attrNameLst>
                                      </p:cBhvr>
                                      <p:to>
                                        <p:strVal val="visible"/>
                                      </p:to>
                                    </p:set>
                                    <p:animEffect transition="in" filter="fade">
                                      <p:cBhvr>
                                        <p:cTn id="16" dur="400"/>
                                        <p:tgtEl>
                                          <p:spTgt spid="150">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154"/>
        <p:cNvGrpSpPr/>
        <p:nvPr/>
      </p:nvGrpSpPr>
      <p:grpSpPr>
        <a:xfrm>
          <a:off x="0" y="0"/>
          <a:ext cx="0" cy="0"/>
          <a:chOff x="0" y="0"/>
          <a:chExt cx="0" cy="0"/>
        </a:xfrm>
      </p:grpSpPr>
      <p:sp>
        <p:nvSpPr>
          <p:cNvPr id="155" name="Google Shape;155;p2"/>
          <p:cNvSpPr/>
          <p:nvPr/>
        </p:nvSpPr>
        <p:spPr>
          <a:xfrm>
            <a:off x="4636008" y="0"/>
            <a:ext cx="7555992" cy="6858000"/>
          </a:xfrm>
          <a:prstGeom prst="roundRect">
            <a:avLst>
              <a:gd name="adj" fmla="val 0"/>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entury Gothic"/>
              <a:ea typeface="Century Gothic"/>
              <a:cs typeface="Century Gothic"/>
              <a:sym typeface="Century Gothic"/>
            </a:endParaRPr>
          </a:p>
        </p:txBody>
      </p:sp>
      <p:sp>
        <p:nvSpPr>
          <p:cNvPr id="156" name="Google Shape;156;p2"/>
          <p:cNvSpPr/>
          <p:nvPr/>
        </p:nvSpPr>
        <p:spPr>
          <a:xfrm>
            <a:off x="0" y="0"/>
            <a:ext cx="4636008" cy="6858000"/>
          </a:xfrm>
          <a:prstGeom prst="rect">
            <a:avLst/>
          </a:prstGeom>
          <a:solidFill>
            <a:schemeClr val="dk1"/>
          </a:solidFill>
          <a:ln>
            <a:noFill/>
          </a:ln>
          <a:effectLst>
            <a:outerShdw blurRad="63500" dist="38100" algn="l" rotWithShape="0">
              <a:srgbClr val="000000">
                <a:alpha val="40000"/>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entury Gothic"/>
              <a:ea typeface="Century Gothic"/>
              <a:cs typeface="Century Gothic"/>
              <a:sym typeface="Century Gothic"/>
            </a:endParaRPr>
          </a:p>
        </p:txBody>
      </p:sp>
      <p:pic>
        <p:nvPicPr>
          <p:cNvPr id="157" name="Google Shape;157;p2"/>
          <p:cNvPicPr preferRelativeResize="0"/>
          <p:nvPr/>
        </p:nvPicPr>
        <p:blipFill rotWithShape="1">
          <a:blip r:embed="rId3">
            <a:alphaModFix/>
          </a:blip>
          <a:srcRect r="61974"/>
          <a:stretch/>
        </p:blipFill>
        <p:spPr>
          <a:xfrm>
            <a:off x="0" y="0"/>
            <a:ext cx="4636008" cy="1441450"/>
          </a:xfrm>
          <a:prstGeom prst="rect">
            <a:avLst/>
          </a:prstGeom>
          <a:noFill/>
          <a:ln>
            <a:noFill/>
          </a:ln>
        </p:spPr>
      </p:pic>
      <p:pic>
        <p:nvPicPr>
          <p:cNvPr id="158" name="Google Shape;158;p2"/>
          <p:cNvPicPr preferRelativeResize="0"/>
          <p:nvPr/>
        </p:nvPicPr>
        <p:blipFill rotWithShape="1">
          <a:blip r:embed="rId4">
            <a:alphaModFix/>
          </a:blip>
          <a:srcRect r="61974"/>
          <a:stretch/>
        </p:blipFill>
        <p:spPr>
          <a:xfrm>
            <a:off x="0" y="4375150"/>
            <a:ext cx="4636008" cy="2482850"/>
          </a:xfrm>
          <a:prstGeom prst="rect">
            <a:avLst/>
          </a:prstGeom>
          <a:noFill/>
          <a:ln>
            <a:noFill/>
          </a:ln>
        </p:spPr>
      </p:pic>
      <p:sp>
        <p:nvSpPr>
          <p:cNvPr id="159" name="Google Shape;159;p2"/>
          <p:cNvSpPr txBox="1">
            <a:spLocks noGrp="1"/>
          </p:cNvSpPr>
          <p:nvPr>
            <p:ph type="title"/>
          </p:nvPr>
        </p:nvSpPr>
        <p:spPr>
          <a:xfrm>
            <a:off x="685800" y="1066163"/>
            <a:ext cx="3306744" cy="5148371"/>
          </a:xfrm>
          <a:prstGeom prst="rect">
            <a:avLst/>
          </a:prstGeom>
          <a:noFill/>
          <a:ln>
            <a:noFill/>
          </a:ln>
        </p:spPr>
        <p:txBody>
          <a:bodyPr spcFirstLastPara="1" wrap="square" lIns="91425" tIns="45700" rIns="91425" bIns="45700" anchor="ctr" anchorCtr="0">
            <a:normAutofit/>
          </a:bodyPr>
          <a:lstStyle/>
          <a:p>
            <a:pPr marL="0" lvl="0" indent="0" algn="r" rtl="0">
              <a:lnSpc>
                <a:spcPct val="90000"/>
              </a:lnSpc>
              <a:spcBef>
                <a:spcPts val="0"/>
              </a:spcBef>
              <a:spcAft>
                <a:spcPts val="0"/>
              </a:spcAft>
              <a:buClr>
                <a:schemeClr val="lt1"/>
              </a:buClr>
              <a:buSzPts val="3100"/>
              <a:buFont typeface="Arial"/>
              <a:buNone/>
            </a:pPr>
            <a:r>
              <a:rPr lang="en-US" sz="3100" b="0" i="0" u="none" strike="noStrike">
                <a:solidFill>
                  <a:schemeClr val="lt1"/>
                </a:solidFill>
                <a:latin typeface="Arial"/>
                <a:ea typeface="Arial"/>
                <a:cs typeface="Arial"/>
                <a:sym typeface="Arial"/>
              </a:rPr>
              <a:t>BRIEF DESCRIPTION OF INTERVENTION</a:t>
            </a:r>
            <a:endParaRPr sz="3100">
              <a:solidFill>
                <a:schemeClr val="lt1"/>
              </a:solidFill>
            </a:endParaRPr>
          </a:p>
        </p:txBody>
      </p:sp>
      <p:grpSp>
        <p:nvGrpSpPr>
          <p:cNvPr id="160" name="Google Shape;160;p2"/>
          <p:cNvGrpSpPr/>
          <p:nvPr/>
        </p:nvGrpSpPr>
        <p:grpSpPr>
          <a:xfrm>
            <a:off x="5700712" y="746125"/>
            <a:ext cx="5447744" cy="5447744"/>
            <a:chOff x="421240" y="0"/>
            <a:chExt cx="5447744" cy="5447744"/>
          </a:xfrm>
        </p:grpSpPr>
        <p:sp>
          <p:nvSpPr>
            <p:cNvPr id="161" name="Google Shape;161;p2"/>
            <p:cNvSpPr/>
            <p:nvPr/>
          </p:nvSpPr>
          <p:spPr>
            <a:xfrm>
              <a:off x="421240" y="0"/>
              <a:ext cx="5447744" cy="5447744"/>
            </a:xfrm>
            <a:prstGeom prst="diamond">
              <a:avLst/>
            </a:prstGeom>
            <a:solidFill>
              <a:srgbClr val="DECAC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 name="Google Shape;162;p2"/>
            <p:cNvSpPr/>
            <p:nvPr/>
          </p:nvSpPr>
          <p:spPr>
            <a:xfrm>
              <a:off x="938776" y="517535"/>
              <a:ext cx="2124620" cy="2124620"/>
            </a:xfrm>
            <a:prstGeom prst="roundRect">
              <a:avLst>
                <a:gd name="adj" fmla="val 16667"/>
              </a:avLst>
            </a:prstGeom>
            <a:gradFill>
              <a:gsLst>
                <a:gs pos="0">
                  <a:srgbClr val="A83C60"/>
                </a:gs>
                <a:gs pos="78000">
                  <a:srgbClr val="A4004B"/>
                </a:gs>
                <a:gs pos="100000">
                  <a:srgbClr val="A4004B"/>
                </a:gs>
              </a:gsLst>
              <a:lin ang="54000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 name="Google Shape;163;p2"/>
            <p:cNvSpPr txBox="1"/>
            <p:nvPr/>
          </p:nvSpPr>
          <p:spPr>
            <a:xfrm>
              <a:off x="1042491" y="621250"/>
              <a:ext cx="1917190" cy="1917190"/>
            </a:xfrm>
            <a:prstGeom prst="rect">
              <a:avLst/>
            </a:prstGeom>
            <a:noFill/>
            <a:ln>
              <a:noFill/>
            </a:ln>
          </p:spPr>
          <p:txBody>
            <a:bodyPr spcFirstLastPara="1" wrap="square" lIns="68575" tIns="68575" rIns="68575" bIns="68575" anchor="ctr" anchorCtr="0">
              <a:noAutofit/>
            </a:bodyPr>
            <a:lstStyle/>
            <a:p>
              <a:pPr marL="0" marR="0" lvl="0" indent="0" algn="ctr" rtl="0">
                <a:lnSpc>
                  <a:spcPct val="90000"/>
                </a:lnSpc>
                <a:spcBef>
                  <a:spcPts val="0"/>
                </a:spcBef>
                <a:spcAft>
                  <a:spcPts val="0"/>
                </a:spcAft>
                <a:buClr>
                  <a:schemeClr val="lt1"/>
                </a:buClr>
                <a:buSzPts val="1800"/>
                <a:buFont typeface="Century Gothic"/>
                <a:buNone/>
              </a:pPr>
              <a:r>
                <a:rPr lang="en-US" sz="1800" b="0" i="0" u="none" strike="noStrike" cap="none">
                  <a:solidFill>
                    <a:schemeClr val="lt1"/>
                  </a:solidFill>
                  <a:latin typeface="Century Gothic"/>
                  <a:ea typeface="Century Gothic"/>
                  <a:cs typeface="Century Gothic"/>
                  <a:sym typeface="Century Gothic"/>
                </a:rPr>
                <a:t>● What is the issue you are hoping to address?</a:t>
              </a:r>
              <a:endParaRPr sz="1800" b="0" i="0" u="none" strike="noStrike" cap="none">
                <a:solidFill>
                  <a:schemeClr val="lt1"/>
                </a:solidFill>
                <a:latin typeface="Century Gothic"/>
                <a:ea typeface="Century Gothic"/>
                <a:cs typeface="Century Gothic"/>
                <a:sym typeface="Century Gothic"/>
              </a:endParaRPr>
            </a:p>
          </p:txBody>
        </p:sp>
        <p:sp>
          <p:nvSpPr>
            <p:cNvPr id="164" name="Google Shape;164;p2"/>
            <p:cNvSpPr/>
            <p:nvPr/>
          </p:nvSpPr>
          <p:spPr>
            <a:xfrm>
              <a:off x="3226829" y="517535"/>
              <a:ext cx="2124620" cy="2124620"/>
            </a:xfrm>
            <a:prstGeom prst="roundRect">
              <a:avLst>
                <a:gd name="adj" fmla="val 16667"/>
              </a:avLst>
            </a:prstGeom>
            <a:gradFill>
              <a:gsLst>
                <a:gs pos="0">
                  <a:srgbClr val="8942A0"/>
                </a:gs>
                <a:gs pos="78000">
                  <a:srgbClr val="801899"/>
                </a:gs>
                <a:gs pos="100000">
                  <a:srgbClr val="801899"/>
                </a:gs>
              </a:gsLst>
              <a:lin ang="54000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 name="Google Shape;165;p2"/>
            <p:cNvSpPr txBox="1"/>
            <p:nvPr/>
          </p:nvSpPr>
          <p:spPr>
            <a:xfrm>
              <a:off x="3330544" y="621250"/>
              <a:ext cx="1917190" cy="1917190"/>
            </a:xfrm>
            <a:prstGeom prst="rect">
              <a:avLst/>
            </a:prstGeom>
            <a:noFill/>
            <a:ln>
              <a:noFill/>
            </a:ln>
          </p:spPr>
          <p:txBody>
            <a:bodyPr spcFirstLastPara="1" wrap="square" lIns="68575" tIns="68575" rIns="68575" bIns="68575" anchor="ctr" anchorCtr="0">
              <a:noAutofit/>
            </a:bodyPr>
            <a:lstStyle/>
            <a:p>
              <a:pPr marL="0" marR="0" lvl="0" indent="0" algn="ctr" rtl="0">
                <a:lnSpc>
                  <a:spcPct val="90000"/>
                </a:lnSpc>
                <a:spcBef>
                  <a:spcPts val="0"/>
                </a:spcBef>
                <a:spcAft>
                  <a:spcPts val="0"/>
                </a:spcAft>
                <a:buClr>
                  <a:schemeClr val="lt1"/>
                </a:buClr>
                <a:buSzPts val="1800"/>
                <a:buFont typeface="Century Gothic"/>
                <a:buNone/>
              </a:pPr>
              <a:r>
                <a:rPr lang="en-US" sz="1800" b="0" i="0" u="none" strike="noStrike" cap="none">
                  <a:solidFill>
                    <a:schemeClr val="lt1"/>
                  </a:solidFill>
                  <a:latin typeface="Century Gothic"/>
                  <a:ea typeface="Century Gothic"/>
                  <a:cs typeface="Century Gothic"/>
                  <a:sym typeface="Century Gothic"/>
                </a:rPr>
                <a:t>● What would success look like?</a:t>
              </a:r>
              <a:endParaRPr sz="1800" b="0" i="0" u="none" strike="noStrike" cap="none">
                <a:solidFill>
                  <a:schemeClr val="lt1"/>
                </a:solidFill>
                <a:latin typeface="Century Gothic"/>
                <a:ea typeface="Century Gothic"/>
                <a:cs typeface="Century Gothic"/>
                <a:sym typeface="Century Gothic"/>
              </a:endParaRPr>
            </a:p>
          </p:txBody>
        </p:sp>
        <p:sp>
          <p:nvSpPr>
            <p:cNvPr id="166" name="Google Shape;166;p2"/>
            <p:cNvSpPr/>
            <p:nvPr/>
          </p:nvSpPr>
          <p:spPr>
            <a:xfrm>
              <a:off x="938776" y="2805588"/>
              <a:ext cx="2124620" cy="2124620"/>
            </a:xfrm>
            <a:prstGeom prst="roundRect">
              <a:avLst>
                <a:gd name="adj" fmla="val 16667"/>
              </a:avLst>
            </a:prstGeom>
            <a:gradFill>
              <a:gsLst>
                <a:gs pos="0">
                  <a:srgbClr val="9C7CEB"/>
                </a:gs>
                <a:gs pos="78000">
                  <a:srgbClr val="885CF0"/>
                </a:gs>
                <a:gs pos="100000">
                  <a:srgbClr val="885CF0"/>
                </a:gs>
              </a:gsLst>
              <a:lin ang="54000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7" name="Google Shape;167;p2"/>
            <p:cNvSpPr txBox="1"/>
            <p:nvPr/>
          </p:nvSpPr>
          <p:spPr>
            <a:xfrm>
              <a:off x="1042491" y="2909303"/>
              <a:ext cx="1917190" cy="1917190"/>
            </a:xfrm>
            <a:prstGeom prst="rect">
              <a:avLst/>
            </a:prstGeom>
            <a:noFill/>
            <a:ln>
              <a:noFill/>
            </a:ln>
          </p:spPr>
          <p:txBody>
            <a:bodyPr spcFirstLastPara="1" wrap="square" lIns="68575" tIns="68575" rIns="68575" bIns="68575" anchor="ctr" anchorCtr="0">
              <a:noAutofit/>
            </a:bodyPr>
            <a:lstStyle/>
            <a:p>
              <a:pPr marL="0" marR="0" lvl="0" indent="0" algn="ctr" rtl="0">
                <a:lnSpc>
                  <a:spcPct val="90000"/>
                </a:lnSpc>
                <a:spcBef>
                  <a:spcPts val="0"/>
                </a:spcBef>
                <a:spcAft>
                  <a:spcPts val="0"/>
                </a:spcAft>
                <a:buClr>
                  <a:schemeClr val="lt1"/>
                </a:buClr>
                <a:buSzPts val="1800"/>
                <a:buFont typeface="Century Gothic"/>
                <a:buNone/>
              </a:pPr>
              <a:r>
                <a:rPr lang="en-US" sz="1800" b="0" i="0" u="none" strike="noStrike" cap="none">
                  <a:solidFill>
                    <a:schemeClr val="lt1"/>
                  </a:solidFill>
                  <a:latin typeface="Century Gothic"/>
                  <a:ea typeface="Century Gothic"/>
                  <a:cs typeface="Century Gothic"/>
                  <a:sym typeface="Century Gothic"/>
                </a:rPr>
                <a:t>● Who is the target audience of this intervention?</a:t>
              </a:r>
              <a:endParaRPr sz="1800" b="0" i="0" u="none" strike="noStrike" cap="none">
                <a:solidFill>
                  <a:schemeClr val="lt1"/>
                </a:solidFill>
                <a:latin typeface="Century Gothic"/>
                <a:ea typeface="Century Gothic"/>
                <a:cs typeface="Century Gothic"/>
                <a:sym typeface="Century Gothic"/>
              </a:endParaRPr>
            </a:p>
          </p:txBody>
        </p:sp>
        <p:sp>
          <p:nvSpPr>
            <p:cNvPr id="168" name="Google Shape;168;p2"/>
            <p:cNvSpPr/>
            <p:nvPr/>
          </p:nvSpPr>
          <p:spPr>
            <a:xfrm>
              <a:off x="3226829" y="2805588"/>
              <a:ext cx="2124620" cy="2124620"/>
            </a:xfrm>
            <a:prstGeom prst="roundRect">
              <a:avLst>
                <a:gd name="adj" fmla="val 16667"/>
              </a:avLst>
            </a:prstGeom>
            <a:gradFill>
              <a:gsLst>
                <a:gs pos="0">
                  <a:srgbClr val="709DE5"/>
                </a:gs>
                <a:gs pos="78000">
                  <a:srgbClr val="508DE8"/>
                </a:gs>
                <a:gs pos="100000">
                  <a:srgbClr val="508DE8"/>
                </a:gs>
              </a:gsLst>
              <a:lin ang="54000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9" name="Google Shape;169;p2"/>
            <p:cNvSpPr txBox="1"/>
            <p:nvPr/>
          </p:nvSpPr>
          <p:spPr>
            <a:xfrm>
              <a:off x="3330544" y="2909303"/>
              <a:ext cx="1917190" cy="1917190"/>
            </a:xfrm>
            <a:prstGeom prst="rect">
              <a:avLst/>
            </a:prstGeom>
            <a:noFill/>
            <a:ln>
              <a:noFill/>
            </a:ln>
          </p:spPr>
          <p:txBody>
            <a:bodyPr spcFirstLastPara="1" wrap="square" lIns="68575" tIns="68575" rIns="68575" bIns="68575" anchor="ctr" anchorCtr="0">
              <a:noAutofit/>
            </a:bodyPr>
            <a:lstStyle/>
            <a:p>
              <a:pPr marL="0" marR="0" lvl="0" indent="0" algn="ctr" rtl="0">
                <a:lnSpc>
                  <a:spcPct val="90000"/>
                </a:lnSpc>
                <a:spcBef>
                  <a:spcPts val="0"/>
                </a:spcBef>
                <a:spcAft>
                  <a:spcPts val="0"/>
                </a:spcAft>
                <a:buClr>
                  <a:schemeClr val="lt1"/>
                </a:buClr>
                <a:buSzPts val="1800"/>
                <a:buFont typeface="Century Gothic"/>
                <a:buNone/>
              </a:pPr>
              <a:r>
                <a:rPr lang="en-US" sz="1800" b="0" i="0" u="none" strike="noStrike" cap="none">
                  <a:solidFill>
                    <a:schemeClr val="lt1"/>
                  </a:solidFill>
                  <a:latin typeface="Century Gothic"/>
                  <a:ea typeface="Century Gothic"/>
                  <a:cs typeface="Century Gothic"/>
                  <a:sym typeface="Century Gothic"/>
                </a:rPr>
                <a:t>● Who are the people or organizations in charge of implementing this intervention?</a:t>
              </a:r>
              <a:endParaRPr sz="1800" b="0" i="0" u="none" strike="noStrike" cap="none">
                <a:solidFill>
                  <a:schemeClr val="lt1"/>
                </a:solidFill>
                <a:latin typeface="Century Gothic"/>
                <a:ea typeface="Century Gothic"/>
                <a:cs typeface="Century Gothic"/>
                <a:sym typeface="Century Gothic"/>
              </a:endParaRPr>
            </a:p>
          </p:txBody>
        </p:sp>
      </p:gr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lt2"/>
        </a:solidFill>
        <a:effectLst/>
      </p:bgPr>
    </p:bg>
    <p:spTree>
      <p:nvGrpSpPr>
        <p:cNvPr id="1" name="Shape 173"/>
        <p:cNvGrpSpPr/>
        <p:nvPr/>
      </p:nvGrpSpPr>
      <p:grpSpPr>
        <a:xfrm>
          <a:off x="0" y="0"/>
          <a:ext cx="0" cy="0"/>
          <a:chOff x="0" y="0"/>
          <a:chExt cx="0" cy="0"/>
        </a:xfrm>
      </p:grpSpPr>
      <p:sp>
        <p:nvSpPr>
          <p:cNvPr id="174" name="Google Shape;174;p3"/>
          <p:cNvSpPr/>
          <p:nvPr/>
        </p:nvSpPr>
        <p:spPr>
          <a:xfrm>
            <a:off x="4636008" y="0"/>
            <a:ext cx="7555992" cy="6858000"/>
          </a:xfrm>
          <a:prstGeom prst="rect">
            <a:avLst/>
          </a:prstGeom>
          <a:solidFill>
            <a:schemeClr val="lt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entury Gothic"/>
              <a:buNone/>
            </a:pPr>
            <a:endParaRPr sz="1800" b="0" i="0" u="none" strike="noStrike" cap="none">
              <a:solidFill>
                <a:srgbClr val="FFFFFF"/>
              </a:solidFill>
              <a:latin typeface="Century Gothic"/>
              <a:ea typeface="Century Gothic"/>
              <a:cs typeface="Century Gothic"/>
              <a:sym typeface="Century Gothic"/>
            </a:endParaRPr>
          </a:p>
        </p:txBody>
      </p:sp>
      <p:sp>
        <p:nvSpPr>
          <p:cNvPr id="175" name="Google Shape;175;p3"/>
          <p:cNvSpPr/>
          <p:nvPr/>
        </p:nvSpPr>
        <p:spPr>
          <a:xfrm>
            <a:off x="0" y="0"/>
            <a:ext cx="4636008" cy="6858000"/>
          </a:xfrm>
          <a:prstGeom prst="rect">
            <a:avLst/>
          </a:prstGeom>
          <a:gradFill>
            <a:gsLst>
              <a:gs pos="0">
                <a:srgbClr val="4C4C4C"/>
              </a:gs>
              <a:gs pos="50000">
                <a:srgbClr val="292929"/>
              </a:gs>
              <a:gs pos="100000">
                <a:schemeClr val="dk1"/>
              </a:gs>
            </a:gsLst>
            <a:lin ang="5400000" scaled="0"/>
          </a:gradFill>
          <a:ln>
            <a:noFill/>
          </a:ln>
          <a:effectLst>
            <a:outerShdw blurRad="63500" dist="38100" algn="l" rotWithShape="0">
              <a:srgbClr val="000000">
                <a:alpha val="40000"/>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entury Gothic"/>
              <a:buNone/>
            </a:pPr>
            <a:endParaRPr sz="1800" b="0" i="0" u="none" strike="noStrike" cap="none">
              <a:solidFill>
                <a:srgbClr val="FFFFFF"/>
              </a:solidFill>
              <a:latin typeface="Century Gothic"/>
              <a:ea typeface="Century Gothic"/>
              <a:cs typeface="Century Gothic"/>
              <a:sym typeface="Century Gothic"/>
            </a:endParaRPr>
          </a:p>
        </p:txBody>
      </p:sp>
      <p:pic>
        <p:nvPicPr>
          <p:cNvPr id="176" name="Google Shape;176;p3"/>
          <p:cNvPicPr preferRelativeResize="0"/>
          <p:nvPr/>
        </p:nvPicPr>
        <p:blipFill rotWithShape="1">
          <a:blip r:embed="rId3">
            <a:alphaModFix/>
          </a:blip>
          <a:srcRect r="73640"/>
          <a:stretch/>
        </p:blipFill>
        <p:spPr>
          <a:xfrm>
            <a:off x="0" y="4038601"/>
            <a:ext cx="4636008" cy="2819400"/>
          </a:xfrm>
          <a:prstGeom prst="rect">
            <a:avLst/>
          </a:prstGeom>
          <a:noFill/>
          <a:ln>
            <a:noFill/>
          </a:ln>
        </p:spPr>
      </p:pic>
      <p:sp>
        <p:nvSpPr>
          <p:cNvPr id="177" name="Google Shape;177;p3"/>
          <p:cNvSpPr txBox="1">
            <a:spLocks noGrp="1"/>
          </p:cNvSpPr>
          <p:nvPr>
            <p:ph type="title"/>
          </p:nvPr>
        </p:nvSpPr>
        <p:spPr>
          <a:xfrm>
            <a:off x="643466" y="804335"/>
            <a:ext cx="3471333" cy="1799166"/>
          </a:xfrm>
          <a:prstGeom prst="rect">
            <a:avLst/>
          </a:prstGeom>
          <a:noFill/>
          <a:ln>
            <a:noFill/>
          </a:ln>
        </p:spPr>
        <p:txBody>
          <a:bodyPr spcFirstLastPara="1" wrap="square" lIns="91425" tIns="45700" rIns="91425" bIns="45700" anchor="ctr" anchorCtr="0">
            <a:normAutofit/>
          </a:bodyPr>
          <a:lstStyle/>
          <a:p>
            <a:pPr marL="0" lvl="0" indent="0" algn="r" rtl="0">
              <a:lnSpc>
                <a:spcPct val="90000"/>
              </a:lnSpc>
              <a:spcBef>
                <a:spcPts val="0"/>
              </a:spcBef>
              <a:spcAft>
                <a:spcPts val="0"/>
              </a:spcAft>
              <a:buClr>
                <a:srgbClr val="FFFFFF"/>
              </a:buClr>
              <a:buSzPts val="3100"/>
              <a:buFont typeface="Arial"/>
              <a:buNone/>
            </a:pPr>
            <a:r>
              <a:rPr lang="en-US" sz="3100" b="0" i="0">
                <a:solidFill>
                  <a:srgbClr val="FFFFFF"/>
                </a:solidFill>
                <a:latin typeface="Arial"/>
                <a:ea typeface="Arial"/>
                <a:cs typeface="Arial"/>
                <a:sym typeface="Arial"/>
              </a:rPr>
              <a:t>INTERVENTIONS &amp; THEORY OF CHANGE </a:t>
            </a:r>
            <a:endParaRPr sz="3100">
              <a:solidFill>
                <a:srgbClr val="FFFFFF"/>
              </a:solidFill>
            </a:endParaRPr>
          </a:p>
        </p:txBody>
      </p:sp>
      <p:sp>
        <p:nvSpPr>
          <p:cNvPr id="178" name="Google Shape;178;p3"/>
          <p:cNvSpPr txBox="1">
            <a:spLocks noGrp="1"/>
          </p:cNvSpPr>
          <p:nvPr>
            <p:ph type="body" idx="1"/>
          </p:nvPr>
        </p:nvSpPr>
        <p:spPr>
          <a:xfrm>
            <a:off x="5234722" y="804334"/>
            <a:ext cx="6271477" cy="5249333"/>
          </a:xfrm>
          <a:prstGeom prst="rect">
            <a:avLst/>
          </a:prstGeom>
          <a:noFill/>
          <a:ln>
            <a:noFill/>
          </a:ln>
        </p:spPr>
        <p:txBody>
          <a:bodyPr spcFirstLastPara="1" wrap="square" lIns="91425" tIns="45700" rIns="91425" bIns="45700" anchor="ctr" anchorCtr="0">
            <a:normAutofit/>
          </a:bodyPr>
          <a:lstStyle/>
          <a:p>
            <a:pPr marL="285750" lvl="0" indent="-285750" algn="l" rtl="0">
              <a:lnSpc>
                <a:spcPct val="90000"/>
              </a:lnSpc>
              <a:spcBef>
                <a:spcPts val="0"/>
              </a:spcBef>
              <a:spcAft>
                <a:spcPts val="0"/>
              </a:spcAft>
              <a:buClr>
                <a:schemeClr val="dk2"/>
              </a:buClr>
              <a:buSzPts val="1200"/>
              <a:buFont typeface="Arial"/>
              <a:buChar char="•"/>
            </a:pPr>
            <a:r>
              <a:rPr lang="en-US" sz="1200" b="1" i="0" u="none" strike="noStrike">
                <a:solidFill>
                  <a:schemeClr val="dk2"/>
                </a:solidFill>
                <a:latin typeface="Arial"/>
                <a:ea typeface="Arial"/>
                <a:cs typeface="Arial"/>
                <a:sym typeface="Arial"/>
              </a:rPr>
              <a:t>Issue Addressed:</a:t>
            </a:r>
            <a:endParaRPr sz="1200" b="1">
              <a:solidFill>
                <a:schemeClr val="dk2"/>
              </a:solidFill>
            </a:endParaRPr>
          </a:p>
          <a:p>
            <a:pPr marL="0" lvl="0" indent="0" algn="l" rtl="0">
              <a:lnSpc>
                <a:spcPct val="90000"/>
              </a:lnSpc>
              <a:spcBef>
                <a:spcPts val="0"/>
              </a:spcBef>
              <a:spcAft>
                <a:spcPts val="0"/>
              </a:spcAft>
              <a:buClr>
                <a:schemeClr val="dk2"/>
              </a:buClr>
              <a:buSzPts val="1200"/>
              <a:buNone/>
            </a:pPr>
            <a:r>
              <a:rPr lang="en-US" sz="1200" b="0" i="0" u="none" strike="noStrike">
                <a:solidFill>
                  <a:schemeClr val="dk2"/>
                </a:solidFill>
                <a:latin typeface="Arial"/>
                <a:ea typeface="Arial"/>
                <a:cs typeface="Arial"/>
                <a:sym typeface="Arial"/>
              </a:rPr>
              <a:t>The primary issue aimed at addressing through this intervention is the high rate of substance abuse among adolescents in Oregon, which mirrors a broader national trend. Substance abuse in this age group can lead to a multitude of problems including poor academic performance, mental health issues, and a potential lifetime of addiction.</a:t>
            </a:r>
            <a:endParaRPr/>
          </a:p>
          <a:p>
            <a:pPr marL="228600" lvl="0" indent="-152400" algn="l" rtl="0">
              <a:lnSpc>
                <a:spcPct val="90000"/>
              </a:lnSpc>
              <a:spcBef>
                <a:spcPts val="0"/>
              </a:spcBef>
              <a:spcAft>
                <a:spcPts val="0"/>
              </a:spcAft>
              <a:buClr>
                <a:schemeClr val="dk1"/>
              </a:buClr>
              <a:buSzPts val="1200"/>
              <a:buNone/>
            </a:pPr>
            <a:endParaRPr sz="1200" b="0">
              <a:solidFill>
                <a:schemeClr val="dk2"/>
              </a:solidFill>
            </a:endParaRPr>
          </a:p>
          <a:p>
            <a:pPr marL="342900" lvl="0" indent="-342900" algn="l" rtl="0">
              <a:lnSpc>
                <a:spcPct val="90000"/>
              </a:lnSpc>
              <a:spcBef>
                <a:spcPts val="0"/>
              </a:spcBef>
              <a:spcAft>
                <a:spcPts val="0"/>
              </a:spcAft>
              <a:buClr>
                <a:schemeClr val="dk2"/>
              </a:buClr>
              <a:buSzPts val="1200"/>
              <a:buFont typeface="Arial"/>
              <a:buChar char="•"/>
            </a:pPr>
            <a:r>
              <a:rPr lang="en-US" sz="1200" b="1" i="0" u="none" strike="noStrike">
                <a:solidFill>
                  <a:schemeClr val="dk2"/>
                </a:solidFill>
                <a:latin typeface="Arial"/>
                <a:ea typeface="Arial"/>
                <a:cs typeface="Arial"/>
                <a:sym typeface="Arial"/>
              </a:rPr>
              <a:t>Vision of Success:</a:t>
            </a:r>
            <a:endParaRPr sz="1200" b="1">
              <a:solidFill>
                <a:schemeClr val="dk2"/>
              </a:solidFill>
            </a:endParaRPr>
          </a:p>
          <a:p>
            <a:pPr marL="0" lvl="0" indent="0" algn="l" rtl="0">
              <a:lnSpc>
                <a:spcPct val="90000"/>
              </a:lnSpc>
              <a:spcBef>
                <a:spcPts val="0"/>
              </a:spcBef>
              <a:spcAft>
                <a:spcPts val="0"/>
              </a:spcAft>
              <a:buClr>
                <a:schemeClr val="dk2"/>
              </a:buClr>
              <a:buSzPts val="1200"/>
              <a:buNone/>
            </a:pPr>
            <a:r>
              <a:rPr lang="en-US" sz="1200" b="0" i="0" u="none" strike="noStrike">
                <a:solidFill>
                  <a:schemeClr val="dk2"/>
                </a:solidFill>
                <a:latin typeface="Arial"/>
                <a:ea typeface="Arial"/>
                <a:cs typeface="Arial"/>
                <a:sym typeface="Arial"/>
              </a:rPr>
              <a:t>Success would manifest as a significant reduction in the rates of substance abuse among adolescents within the community. This would be measured through a decrease in the percentage of teens reporting drug and alcohol use, improved academic performances, better mental health statistics, and a reduced rate of substance-related incidents within the community.</a:t>
            </a:r>
            <a:endParaRPr/>
          </a:p>
          <a:p>
            <a:pPr marL="228600" lvl="0" indent="-152400" algn="l" rtl="0">
              <a:lnSpc>
                <a:spcPct val="90000"/>
              </a:lnSpc>
              <a:spcBef>
                <a:spcPts val="0"/>
              </a:spcBef>
              <a:spcAft>
                <a:spcPts val="0"/>
              </a:spcAft>
              <a:buClr>
                <a:schemeClr val="dk1"/>
              </a:buClr>
              <a:buSzPts val="1200"/>
              <a:buNone/>
            </a:pPr>
            <a:endParaRPr sz="1200" b="0">
              <a:solidFill>
                <a:schemeClr val="dk2"/>
              </a:solidFill>
            </a:endParaRPr>
          </a:p>
          <a:p>
            <a:pPr marL="342900" lvl="0" indent="-342900" algn="l" rtl="0">
              <a:lnSpc>
                <a:spcPct val="90000"/>
              </a:lnSpc>
              <a:spcBef>
                <a:spcPts val="0"/>
              </a:spcBef>
              <a:spcAft>
                <a:spcPts val="0"/>
              </a:spcAft>
              <a:buClr>
                <a:schemeClr val="dk2"/>
              </a:buClr>
              <a:buSzPts val="1200"/>
              <a:buFont typeface="Arial"/>
              <a:buChar char="•"/>
            </a:pPr>
            <a:r>
              <a:rPr lang="en-US" sz="1200" b="1" i="0" u="none" strike="noStrike">
                <a:solidFill>
                  <a:schemeClr val="dk2"/>
                </a:solidFill>
                <a:latin typeface="Arial"/>
                <a:ea typeface="Arial"/>
                <a:cs typeface="Arial"/>
                <a:sym typeface="Arial"/>
              </a:rPr>
              <a:t>Target Audience:</a:t>
            </a:r>
            <a:endParaRPr sz="1200" b="1">
              <a:solidFill>
                <a:schemeClr val="dk2"/>
              </a:solidFill>
            </a:endParaRPr>
          </a:p>
          <a:p>
            <a:pPr marL="0" lvl="0" indent="0" algn="l" rtl="0">
              <a:lnSpc>
                <a:spcPct val="90000"/>
              </a:lnSpc>
              <a:spcBef>
                <a:spcPts val="0"/>
              </a:spcBef>
              <a:spcAft>
                <a:spcPts val="0"/>
              </a:spcAft>
              <a:buClr>
                <a:schemeClr val="dk2"/>
              </a:buClr>
              <a:buSzPts val="1200"/>
              <a:buNone/>
            </a:pPr>
            <a:r>
              <a:rPr lang="en-US" sz="1200" b="0" i="0" u="none" strike="noStrike">
                <a:solidFill>
                  <a:schemeClr val="dk2"/>
                </a:solidFill>
                <a:latin typeface="Arial"/>
                <a:ea typeface="Arial"/>
                <a:cs typeface="Arial"/>
                <a:sym typeface="Arial"/>
              </a:rPr>
              <a:t>The core target audience for this intervention is adolescents aged 12 to 20 residing in Oregon, with a particular focus on those in lower socioeconomic statuses as they often have less access to preventative resources and treatment.</a:t>
            </a:r>
            <a:endParaRPr/>
          </a:p>
          <a:p>
            <a:pPr marL="228600" lvl="0" indent="-152400" algn="l" rtl="0">
              <a:lnSpc>
                <a:spcPct val="90000"/>
              </a:lnSpc>
              <a:spcBef>
                <a:spcPts val="0"/>
              </a:spcBef>
              <a:spcAft>
                <a:spcPts val="0"/>
              </a:spcAft>
              <a:buClr>
                <a:schemeClr val="dk1"/>
              </a:buClr>
              <a:buSzPts val="1200"/>
              <a:buNone/>
            </a:pPr>
            <a:endParaRPr sz="1200" b="0">
              <a:solidFill>
                <a:schemeClr val="dk2"/>
              </a:solidFill>
            </a:endParaRPr>
          </a:p>
          <a:p>
            <a:pPr marL="342900" lvl="0" indent="-342900" algn="l" rtl="0">
              <a:lnSpc>
                <a:spcPct val="90000"/>
              </a:lnSpc>
              <a:spcBef>
                <a:spcPts val="0"/>
              </a:spcBef>
              <a:spcAft>
                <a:spcPts val="0"/>
              </a:spcAft>
              <a:buClr>
                <a:schemeClr val="dk2"/>
              </a:buClr>
              <a:buSzPts val="1200"/>
              <a:buFont typeface="Arial"/>
              <a:buChar char="•"/>
            </a:pPr>
            <a:r>
              <a:rPr lang="en-US" sz="1200" b="1" i="0" u="none" strike="noStrike">
                <a:solidFill>
                  <a:schemeClr val="dk2"/>
                </a:solidFill>
                <a:latin typeface="Arial"/>
                <a:ea typeface="Arial"/>
                <a:cs typeface="Arial"/>
                <a:sym typeface="Arial"/>
              </a:rPr>
              <a:t>Implementing Bodies:</a:t>
            </a:r>
            <a:endParaRPr sz="1200" b="1">
              <a:solidFill>
                <a:schemeClr val="dk2"/>
              </a:solidFill>
            </a:endParaRPr>
          </a:p>
          <a:p>
            <a:pPr marL="0" lvl="0" indent="0" algn="l" rtl="0">
              <a:lnSpc>
                <a:spcPct val="90000"/>
              </a:lnSpc>
              <a:spcBef>
                <a:spcPts val="0"/>
              </a:spcBef>
              <a:spcAft>
                <a:spcPts val="0"/>
              </a:spcAft>
              <a:buClr>
                <a:schemeClr val="dk2"/>
              </a:buClr>
              <a:buSzPts val="1200"/>
              <a:buNone/>
            </a:pPr>
            <a:r>
              <a:rPr lang="en-US" sz="1200" b="0" i="0" u="none" strike="noStrike">
                <a:solidFill>
                  <a:schemeClr val="dk2"/>
                </a:solidFill>
                <a:latin typeface="Arial"/>
                <a:ea typeface="Arial"/>
                <a:cs typeface="Arial"/>
                <a:sym typeface="Arial"/>
              </a:rPr>
              <a:t>The intervention will be spearheaded by a coalition comprising the Oregon Health Authority, local schools, community organizations specializing in substance abuse prevention, and local healthcare providers. Engaging a diverse group of stakeholders will ensure a holistic approach to addressing adolescent substance abuse in Oregon, while also fostering community buy-in and sustainability.</a:t>
            </a:r>
            <a:endParaRPr sz="1200" b="0">
              <a:solidFill>
                <a:schemeClr val="dk2"/>
              </a:solidFill>
            </a:endParaRPr>
          </a:p>
          <a:p>
            <a:pPr marL="0" lvl="0" indent="0" algn="l" rtl="0">
              <a:lnSpc>
                <a:spcPct val="90000"/>
              </a:lnSpc>
              <a:spcBef>
                <a:spcPts val="1000"/>
              </a:spcBef>
              <a:spcAft>
                <a:spcPts val="0"/>
              </a:spcAft>
              <a:buClr>
                <a:schemeClr val="dk1"/>
              </a:buClr>
              <a:buSzPts val="1200"/>
              <a:buNone/>
            </a:pPr>
            <a:endParaRPr sz="1200">
              <a:solidFill>
                <a:schemeClr val="dk2"/>
              </a:solidFill>
            </a:endParaRPr>
          </a:p>
          <a:p>
            <a:pPr marL="228600" lvl="0" indent="-152400" algn="l" rtl="0">
              <a:lnSpc>
                <a:spcPct val="90000"/>
              </a:lnSpc>
              <a:spcBef>
                <a:spcPts val="1000"/>
              </a:spcBef>
              <a:spcAft>
                <a:spcPts val="0"/>
              </a:spcAft>
              <a:buClr>
                <a:schemeClr val="dk1"/>
              </a:buClr>
              <a:buSzPts val="1200"/>
              <a:buNone/>
            </a:pPr>
            <a:endParaRPr sz="1200">
              <a:solidFill>
                <a:schemeClr val="dk2"/>
              </a:solidFill>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182"/>
        <p:cNvGrpSpPr/>
        <p:nvPr/>
      </p:nvGrpSpPr>
      <p:grpSpPr>
        <a:xfrm>
          <a:off x="0" y="0"/>
          <a:ext cx="0" cy="0"/>
          <a:chOff x="0" y="0"/>
          <a:chExt cx="0" cy="0"/>
        </a:xfrm>
      </p:grpSpPr>
      <p:sp>
        <p:nvSpPr>
          <p:cNvPr id="183" name="Google Shape;183;p4"/>
          <p:cNvSpPr/>
          <p:nvPr/>
        </p:nvSpPr>
        <p:spPr>
          <a:xfrm>
            <a:off x="0" y="0"/>
            <a:ext cx="12192000" cy="68580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entury Gothic"/>
              <a:ea typeface="Century Gothic"/>
              <a:cs typeface="Century Gothic"/>
              <a:sym typeface="Century Gothic"/>
            </a:endParaRPr>
          </a:p>
        </p:txBody>
      </p:sp>
      <p:pic>
        <p:nvPicPr>
          <p:cNvPr id="184" name="Google Shape;184;p4"/>
          <p:cNvPicPr preferRelativeResize="0"/>
          <p:nvPr/>
        </p:nvPicPr>
        <p:blipFill rotWithShape="1">
          <a:blip r:embed="rId3">
            <a:alphaModFix/>
          </a:blip>
          <a:srcRect/>
          <a:stretch/>
        </p:blipFill>
        <p:spPr>
          <a:xfrm>
            <a:off x="0" y="0"/>
            <a:ext cx="12192000" cy="1441450"/>
          </a:xfrm>
          <a:prstGeom prst="rect">
            <a:avLst/>
          </a:prstGeom>
          <a:noFill/>
          <a:ln>
            <a:noFill/>
          </a:ln>
        </p:spPr>
      </p:pic>
      <p:sp>
        <p:nvSpPr>
          <p:cNvPr id="185" name="Google Shape;185;p4"/>
          <p:cNvSpPr txBox="1">
            <a:spLocks noGrp="1"/>
          </p:cNvSpPr>
          <p:nvPr>
            <p:ph type="title"/>
          </p:nvPr>
        </p:nvSpPr>
        <p:spPr>
          <a:xfrm>
            <a:off x="685799" y="1017869"/>
            <a:ext cx="3977639" cy="1346703"/>
          </a:xfrm>
          <a:prstGeom prst="rect">
            <a:avLst/>
          </a:prstGeom>
          <a:noFill/>
          <a:ln>
            <a:noFill/>
          </a:ln>
        </p:spPr>
        <p:txBody>
          <a:bodyPr spcFirstLastPara="1" wrap="square" lIns="91425" tIns="45700" rIns="91425" bIns="45700" anchor="b" anchorCtr="0">
            <a:normAutofit fontScale="90000"/>
          </a:bodyPr>
          <a:lstStyle/>
          <a:p>
            <a:pPr marL="0" lvl="0" indent="0" algn="l" rtl="0">
              <a:lnSpc>
                <a:spcPct val="90000"/>
              </a:lnSpc>
              <a:spcBef>
                <a:spcPts val="0"/>
              </a:spcBef>
              <a:spcAft>
                <a:spcPts val="0"/>
              </a:spcAft>
              <a:buClr>
                <a:schemeClr val="dk1"/>
              </a:buClr>
              <a:buSzPct val="100000"/>
              <a:buFont typeface="Arial"/>
              <a:buNone/>
            </a:pPr>
            <a:r>
              <a:rPr lang="en-US" sz="3200" b="1" i="0" u="none" strike="noStrike">
                <a:latin typeface="Arial"/>
                <a:ea typeface="Arial"/>
                <a:cs typeface="Arial"/>
                <a:sym typeface="Arial"/>
              </a:rPr>
              <a:t>ISSUE ADDRESSED:</a:t>
            </a:r>
            <a:br>
              <a:rPr lang="en-US" sz="3200" b="1"/>
            </a:br>
            <a:endParaRPr sz="3200"/>
          </a:p>
        </p:txBody>
      </p:sp>
      <p:pic>
        <p:nvPicPr>
          <p:cNvPr id="186" name="Google Shape;186;p4" descr="A close-up of a document&#10;&#10;Description automatically generated"/>
          <p:cNvPicPr preferRelativeResize="0"/>
          <p:nvPr/>
        </p:nvPicPr>
        <p:blipFill rotWithShape="1">
          <a:blip r:embed="rId4">
            <a:alphaModFix/>
          </a:blip>
          <a:srcRect r="4896" b="2"/>
          <a:stretch/>
        </p:blipFill>
        <p:spPr>
          <a:xfrm>
            <a:off x="4972699" y="1017870"/>
            <a:ext cx="6533501" cy="4929070"/>
          </a:xfrm>
          <a:prstGeom prst="rect">
            <a:avLst/>
          </a:prstGeom>
          <a:noFill/>
          <a:ln>
            <a:noFill/>
          </a:ln>
        </p:spPr>
      </p:pic>
      <p:grpSp>
        <p:nvGrpSpPr>
          <p:cNvPr id="187" name="Google Shape;187;p4"/>
          <p:cNvGrpSpPr/>
          <p:nvPr/>
        </p:nvGrpSpPr>
        <p:grpSpPr>
          <a:xfrm>
            <a:off x="687343" y="2449258"/>
            <a:ext cx="3974552" cy="3684741"/>
            <a:chOff x="1543" y="84685"/>
            <a:chExt cx="3974552" cy="3684741"/>
          </a:xfrm>
        </p:grpSpPr>
        <p:sp>
          <p:nvSpPr>
            <p:cNvPr id="188" name="Google Shape;188;p4"/>
            <p:cNvSpPr/>
            <p:nvPr/>
          </p:nvSpPr>
          <p:spPr>
            <a:xfrm>
              <a:off x="1543" y="84685"/>
              <a:ext cx="1656063" cy="828031"/>
            </a:xfrm>
            <a:prstGeom prst="roundRect">
              <a:avLst>
                <a:gd name="adj" fmla="val 10000"/>
              </a:avLst>
            </a:prstGeom>
            <a:solidFill>
              <a:srgbClr val="E3214D"/>
            </a:solidFill>
            <a:ln w="1270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9" name="Google Shape;189;p4"/>
            <p:cNvSpPr txBox="1"/>
            <p:nvPr/>
          </p:nvSpPr>
          <p:spPr>
            <a:xfrm>
              <a:off x="25795" y="108937"/>
              <a:ext cx="1607559" cy="779527"/>
            </a:xfrm>
            <a:prstGeom prst="rect">
              <a:avLst/>
            </a:prstGeom>
            <a:noFill/>
            <a:ln>
              <a:noFill/>
            </a:ln>
          </p:spPr>
          <p:txBody>
            <a:bodyPr spcFirstLastPara="1" wrap="square" lIns="6350" tIns="6350" rIns="6350" bIns="6350" anchor="ctr" anchorCtr="0">
              <a:noAutofit/>
            </a:bodyPr>
            <a:lstStyle/>
            <a:p>
              <a:pPr marL="0" marR="0" lvl="0" indent="0" algn="ctr" rtl="0">
                <a:lnSpc>
                  <a:spcPct val="90000"/>
                </a:lnSpc>
                <a:spcBef>
                  <a:spcPts val="0"/>
                </a:spcBef>
                <a:spcAft>
                  <a:spcPts val="0"/>
                </a:spcAft>
                <a:buClr>
                  <a:schemeClr val="lt1"/>
                </a:buClr>
                <a:buSzPts val="1000"/>
                <a:buFont typeface="Century Gothic"/>
                <a:buNone/>
              </a:pPr>
              <a:r>
                <a:rPr lang="en-US" sz="1000" b="0" i="0" u="none" strike="noStrike" cap="none">
                  <a:solidFill>
                    <a:schemeClr val="lt1"/>
                  </a:solidFill>
                  <a:latin typeface="Century Gothic"/>
                  <a:ea typeface="Century Gothic"/>
                  <a:cs typeface="Century Gothic"/>
                  <a:sym typeface="Century Gothic"/>
                </a:rPr>
                <a:t>The intervention primarily targets the escalating rates of substance abuse among adolescents in Oregon.</a:t>
              </a:r>
              <a:endParaRPr sz="1000" b="0" i="0" u="none" strike="noStrike" cap="none">
                <a:solidFill>
                  <a:schemeClr val="lt1"/>
                </a:solidFill>
                <a:latin typeface="Century Gothic"/>
                <a:ea typeface="Century Gothic"/>
                <a:cs typeface="Century Gothic"/>
                <a:sym typeface="Century Gothic"/>
              </a:endParaRPr>
            </a:p>
          </p:txBody>
        </p:sp>
        <p:sp>
          <p:nvSpPr>
            <p:cNvPr id="190" name="Google Shape;190;p4"/>
            <p:cNvSpPr/>
            <p:nvPr/>
          </p:nvSpPr>
          <p:spPr>
            <a:xfrm>
              <a:off x="1543" y="1036921"/>
              <a:ext cx="1656063" cy="828031"/>
            </a:xfrm>
            <a:prstGeom prst="roundRect">
              <a:avLst>
                <a:gd name="adj" fmla="val 10000"/>
              </a:avLst>
            </a:prstGeom>
            <a:solidFill>
              <a:srgbClr val="E3214D"/>
            </a:solidFill>
            <a:ln w="1270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1" name="Google Shape;191;p4"/>
            <p:cNvSpPr txBox="1"/>
            <p:nvPr/>
          </p:nvSpPr>
          <p:spPr>
            <a:xfrm>
              <a:off x="25795" y="1061173"/>
              <a:ext cx="1607559" cy="779527"/>
            </a:xfrm>
            <a:prstGeom prst="rect">
              <a:avLst/>
            </a:prstGeom>
            <a:noFill/>
            <a:ln>
              <a:noFill/>
            </a:ln>
          </p:spPr>
          <p:txBody>
            <a:bodyPr spcFirstLastPara="1" wrap="square" lIns="6350" tIns="6350" rIns="6350" bIns="6350" anchor="ctr" anchorCtr="0">
              <a:noAutofit/>
            </a:bodyPr>
            <a:lstStyle/>
            <a:p>
              <a:pPr marL="0" marR="0" lvl="0" indent="0" algn="ctr" rtl="0">
                <a:lnSpc>
                  <a:spcPct val="90000"/>
                </a:lnSpc>
                <a:spcBef>
                  <a:spcPts val="0"/>
                </a:spcBef>
                <a:spcAft>
                  <a:spcPts val="0"/>
                </a:spcAft>
                <a:buClr>
                  <a:schemeClr val="lt1"/>
                </a:buClr>
                <a:buSzPts val="1000"/>
                <a:buFont typeface="Century Gothic"/>
                <a:buNone/>
              </a:pPr>
              <a:r>
                <a:rPr lang="en-US" sz="1000" b="0" i="0" u="none" strike="noStrike" cap="none">
                  <a:solidFill>
                    <a:schemeClr val="lt1"/>
                  </a:solidFill>
                  <a:latin typeface="Century Gothic"/>
                  <a:ea typeface="Century Gothic"/>
                  <a:cs typeface="Century Gothic"/>
                  <a:sym typeface="Century Gothic"/>
                </a:rPr>
                <a:t>This problem is reflective of a larger national issue, indicating a need for urgent action.</a:t>
              </a:r>
              <a:endParaRPr sz="1000" b="0" i="0" u="none" strike="noStrike" cap="none">
                <a:solidFill>
                  <a:schemeClr val="lt1"/>
                </a:solidFill>
                <a:latin typeface="Century Gothic"/>
                <a:ea typeface="Century Gothic"/>
                <a:cs typeface="Century Gothic"/>
                <a:sym typeface="Century Gothic"/>
              </a:endParaRPr>
            </a:p>
          </p:txBody>
        </p:sp>
        <p:sp>
          <p:nvSpPr>
            <p:cNvPr id="192" name="Google Shape;192;p4"/>
            <p:cNvSpPr/>
            <p:nvPr/>
          </p:nvSpPr>
          <p:spPr>
            <a:xfrm>
              <a:off x="1543" y="1989158"/>
              <a:ext cx="1656063" cy="828031"/>
            </a:xfrm>
            <a:prstGeom prst="roundRect">
              <a:avLst>
                <a:gd name="adj" fmla="val 10000"/>
              </a:avLst>
            </a:prstGeom>
            <a:solidFill>
              <a:srgbClr val="E3214D"/>
            </a:solidFill>
            <a:ln w="1270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3" name="Google Shape;193;p4"/>
            <p:cNvSpPr txBox="1"/>
            <p:nvPr/>
          </p:nvSpPr>
          <p:spPr>
            <a:xfrm>
              <a:off x="25795" y="2013410"/>
              <a:ext cx="1607559" cy="779527"/>
            </a:xfrm>
            <a:prstGeom prst="rect">
              <a:avLst/>
            </a:prstGeom>
            <a:noFill/>
            <a:ln>
              <a:noFill/>
            </a:ln>
          </p:spPr>
          <p:txBody>
            <a:bodyPr spcFirstLastPara="1" wrap="square" lIns="6350" tIns="6350" rIns="6350" bIns="6350" anchor="ctr" anchorCtr="0">
              <a:noAutofit/>
            </a:bodyPr>
            <a:lstStyle/>
            <a:p>
              <a:pPr marL="0" marR="0" lvl="0" indent="0" algn="ctr" rtl="0">
                <a:lnSpc>
                  <a:spcPct val="90000"/>
                </a:lnSpc>
                <a:spcBef>
                  <a:spcPts val="0"/>
                </a:spcBef>
                <a:spcAft>
                  <a:spcPts val="0"/>
                </a:spcAft>
                <a:buClr>
                  <a:schemeClr val="lt1"/>
                </a:buClr>
                <a:buSzPts val="1000"/>
                <a:buFont typeface="Century Gothic"/>
                <a:buNone/>
              </a:pPr>
              <a:r>
                <a:rPr lang="en-US" sz="1000" b="0" i="0" u="none" strike="noStrike" cap="none">
                  <a:solidFill>
                    <a:schemeClr val="lt1"/>
                  </a:solidFill>
                  <a:latin typeface="Century Gothic"/>
                  <a:ea typeface="Century Gothic"/>
                  <a:cs typeface="Century Gothic"/>
                  <a:sym typeface="Century Gothic"/>
                </a:rPr>
                <a:t>Consequences of substance abuse in adolescents:</a:t>
              </a:r>
              <a:endParaRPr sz="1000" b="0" i="0" u="none" strike="noStrike" cap="none">
                <a:solidFill>
                  <a:schemeClr val="lt1"/>
                </a:solidFill>
                <a:latin typeface="Century Gothic"/>
                <a:ea typeface="Century Gothic"/>
                <a:cs typeface="Century Gothic"/>
                <a:sym typeface="Century Gothic"/>
              </a:endParaRPr>
            </a:p>
          </p:txBody>
        </p:sp>
        <p:sp>
          <p:nvSpPr>
            <p:cNvPr id="194" name="Google Shape;194;p4"/>
            <p:cNvSpPr/>
            <p:nvPr/>
          </p:nvSpPr>
          <p:spPr>
            <a:xfrm rot="-3310531">
              <a:off x="1408827" y="1907720"/>
              <a:ext cx="1159983" cy="38671"/>
            </a:xfrm>
            <a:custGeom>
              <a:avLst/>
              <a:gdLst/>
              <a:ahLst/>
              <a:cxnLst/>
              <a:rect l="l" t="t" r="r" b="b"/>
              <a:pathLst>
                <a:path w="120000" h="120000" extrusionOk="0">
                  <a:moveTo>
                    <a:pt x="0" y="59998"/>
                  </a:moveTo>
                  <a:lnTo>
                    <a:pt x="120000" y="59998"/>
                  </a:lnTo>
                </a:path>
              </a:pathLst>
            </a:custGeom>
            <a:noFill/>
            <a:ln w="12700" cap="flat" cmpd="sng">
              <a:solidFill>
                <a:srgbClr val="7D1F94"/>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5" name="Google Shape;195;p4"/>
            <p:cNvSpPr txBox="1"/>
            <p:nvPr/>
          </p:nvSpPr>
          <p:spPr>
            <a:xfrm rot="-3310531">
              <a:off x="1959819" y="1898056"/>
              <a:ext cx="57999" cy="57999"/>
            </a:xfrm>
            <a:prstGeom prst="rect">
              <a:avLst/>
            </a:prstGeom>
            <a:noFill/>
            <a:ln>
              <a:noFill/>
            </a:ln>
          </p:spPr>
          <p:txBody>
            <a:bodyPr spcFirstLastPara="1" wrap="square" lIns="12700" tIns="0" rIns="12700" bIns="0" anchor="ctr" anchorCtr="0">
              <a:noAutofit/>
            </a:bodyPr>
            <a:lstStyle/>
            <a:p>
              <a:pPr marL="0" marR="0" lvl="0" indent="0" algn="ctr" rtl="0">
                <a:lnSpc>
                  <a:spcPct val="90000"/>
                </a:lnSpc>
                <a:spcBef>
                  <a:spcPts val="0"/>
                </a:spcBef>
                <a:spcAft>
                  <a:spcPts val="0"/>
                </a:spcAft>
                <a:buClr>
                  <a:schemeClr val="dk1"/>
                </a:buClr>
                <a:buSzPts val="500"/>
                <a:buFont typeface="Century Gothic"/>
                <a:buNone/>
              </a:pPr>
              <a:endParaRPr sz="500" b="0" i="0" u="none" strike="noStrike" cap="none">
                <a:solidFill>
                  <a:schemeClr val="dk1"/>
                </a:solidFill>
                <a:latin typeface="Century Gothic"/>
                <a:ea typeface="Century Gothic"/>
                <a:cs typeface="Century Gothic"/>
                <a:sym typeface="Century Gothic"/>
              </a:endParaRPr>
            </a:p>
          </p:txBody>
        </p:sp>
        <p:sp>
          <p:nvSpPr>
            <p:cNvPr id="196" name="Google Shape;196;p4"/>
            <p:cNvSpPr/>
            <p:nvPr/>
          </p:nvSpPr>
          <p:spPr>
            <a:xfrm>
              <a:off x="2320032" y="1036921"/>
              <a:ext cx="1656063" cy="828031"/>
            </a:xfrm>
            <a:prstGeom prst="roundRect">
              <a:avLst>
                <a:gd name="adj" fmla="val 10000"/>
              </a:avLst>
            </a:prstGeom>
            <a:solidFill>
              <a:srgbClr val="7D1F94"/>
            </a:solidFill>
            <a:ln w="1270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7" name="Google Shape;197;p4"/>
            <p:cNvSpPr txBox="1"/>
            <p:nvPr/>
          </p:nvSpPr>
          <p:spPr>
            <a:xfrm>
              <a:off x="2344284" y="1061173"/>
              <a:ext cx="1607559" cy="779527"/>
            </a:xfrm>
            <a:prstGeom prst="rect">
              <a:avLst/>
            </a:prstGeom>
            <a:noFill/>
            <a:ln>
              <a:noFill/>
            </a:ln>
          </p:spPr>
          <p:txBody>
            <a:bodyPr spcFirstLastPara="1" wrap="square" lIns="6350" tIns="6350" rIns="6350" bIns="6350" anchor="ctr" anchorCtr="0">
              <a:noAutofit/>
            </a:bodyPr>
            <a:lstStyle/>
            <a:p>
              <a:pPr marL="0" marR="0" lvl="0" indent="0" algn="ctr" rtl="0">
                <a:lnSpc>
                  <a:spcPct val="90000"/>
                </a:lnSpc>
                <a:spcBef>
                  <a:spcPts val="0"/>
                </a:spcBef>
                <a:spcAft>
                  <a:spcPts val="0"/>
                </a:spcAft>
                <a:buClr>
                  <a:schemeClr val="lt1"/>
                </a:buClr>
                <a:buSzPts val="1000"/>
                <a:buFont typeface="Arial"/>
                <a:buNone/>
              </a:pPr>
              <a:r>
                <a:rPr lang="en-US" sz="1000" b="0" i="0" u="none" strike="noStrike" cap="none">
                  <a:solidFill>
                    <a:schemeClr val="lt1"/>
                  </a:solidFill>
                  <a:latin typeface="Century Gothic"/>
                  <a:ea typeface="Century Gothic"/>
                  <a:cs typeface="Century Gothic"/>
                  <a:sym typeface="Century Gothic"/>
                </a:rPr>
                <a:t>1. Deterioration in academic performance</a:t>
              </a:r>
              <a:endParaRPr sz="1000" b="0" i="0" u="none" strike="noStrike" cap="none">
                <a:solidFill>
                  <a:schemeClr val="lt1"/>
                </a:solidFill>
                <a:latin typeface="Century Gothic"/>
                <a:ea typeface="Century Gothic"/>
                <a:cs typeface="Century Gothic"/>
                <a:sym typeface="Century Gothic"/>
              </a:endParaRPr>
            </a:p>
          </p:txBody>
        </p:sp>
        <p:sp>
          <p:nvSpPr>
            <p:cNvPr id="198" name="Google Shape;198;p4"/>
            <p:cNvSpPr/>
            <p:nvPr/>
          </p:nvSpPr>
          <p:spPr>
            <a:xfrm>
              <a:off x="1657606" y="2383838"/>
              <a:ext cx="662425" cy="38671"/>
            </a:xfrm>
            <a:custGeom>
              <a:avLst/>
              <a:gdLst/>
              <a:ahLst/>
              <a:cxnLst/>
              <a:rect l="l" t="t" r="r" b="b"/>
              <a:pathLst>
                <a:path w="120000" h="120000" extrusionOk="0">
                  <a:moveTo>
                    <a:pt x="0" y="59998"/>
                  </a:moveTo>
                  <a:lnTo>
                    <a:pt x="120000" y="59998"/>
                  </a:lnTo>
                </a:path>
              </a:pathLst>
            </a:custGeom>
            <a:noFill/>
            <a:ln w="12700" cap="flat" cmpd="sng">
              <a:solidFill>
                <a:srgbClr val="7D1F94"/>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9" name="Google Shape;199;p4"/>
            <p:cNvSpPr txBox="1"/>
            <p:nvPr/>
          </p:nvSpPr>
          <p:spPr>
            <a:xfrm>
              <a:off x="1972258" y="2386613"/>
              <a:ext cx="33121" cy="33121"/>
            </a:xfrm>
            <a:prstGeom prst="rect">
              <a:avLst/>
            </a:prstGeom>
            <a:noFill/>
            <a:ln>
              <a:noFill/>
            </a:ln>
          </p:spPr>
          <p:txBody>
            <a:bodyPr spcFirstLastPara="1" wrap="square" lIns="12700" tIns="0" rIns="12700" bIns="0" anchor="ctr" anchorCtr="0">
              <a:noAutofit/>
            </a:bodyPr>
            <a:lstStyle/>
            <a:p>
              <a:pPr marL="0" marR="0" lvl="0" indent="0" algn="ctr" rtl="0">
                <a:lnSpc>
                  <a:spcPct val="90000"/>
                </a:lnSpc>
                <a:spcBef>
                  <a:spcPts val="0"/>
                </a:spcBef>
                <a:spcAft>
                  <a:spcPts val="0"/>
                </a:spcAft>
                <a:buClr>
                  <a:schemeClr val="dk1"/>
                </a:buClr>
                <a:buSzPts val="500"/>
                <a:buFont typeface="Century Gothic"/>
                <a:buNone/>
              </a:pPr>
              <a:endParaRPr sz="500" b="0" i="0" u="none" strike="noStrike" cap="none">
                <a:solidFill>
                  <a:schemeClr val="dk1"/>
                </a:solidFill>
                <a:latin typeface="Century Gothic"/>
                <a:ea typeface="Century Gothic"/>
                <a:cs typeface="Century Gothic"/>
                <a:sym typeface="Century Gothic"/>
              </a:endParaRPr>
            </a:p>
          </p:txBody>
        </p:sp>
        <p:sp>
          <p:nvSpPr>
            <p:cNvPr id="200" name="Google Shape;200;p4"/>
            <p:cNvSpPr/>
            <p:nvPr/>
          </p:nvSpPr>
          <p:spPr>
            <a:xfrm>
              <a:off x="2320032" y="1989158"/>
              <a:ext cx="1656063" cy="828031"/>
            </a:xfrm>
            <a:prstGeom prst="roundRect">
              <a:avLst>
                <a:gd name="adj" fmla="val 10000"/>
              </a:avLst>
            </a:prstGeom>
            <a:solidFill>
              <a:srgbClr val="7D1F94"/>
            </a:solidFill>
            <a:ln w="1270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1" name="Google Shape;201;p4"/>
            <p:cNvSpPr txBox="1"/>
            <p:nvPr/>
          </p:nvSpPr>
          <p:spPr>
            <a:xfrm>
              <a:off x="2344284" y="2013410"/>
              <a:ext cx="1607559" cy="779527"/>
            </a:xfrm>
            <a:prstGeom prst="rect">
              <a:avLst/>
            </a:prstGeom>
            <a:noFill/>
            <a:ln>
              <a:noFill/>
            </a:ln>
          </p:spPr>
          <p:txBody>
            <a:bodyPr spcFirstLastPara="1" wrap="square" lIns="6350" tIns="6350" rIns="6350" bIns="6350" anchor="ctr" anchorCtr="0">
              <a:noAutofit/>
            </a:bodyPr>
            <a:lstStyle/>
            <a:p>
              <a:pPr marL="0" marR="0" lvl="0" indent="0" algn="ctr" rtl="0">
                <a:lnSpc>
                  <a:spcPct val="90000"/>
                </a:lnSpc>
                <a:spcBef>
                  <a:spcPts val="0"/>
                </a:spcBef>
                <a:spcAft>
                  <a:spcPts val="0"/>
                </a:spcAft>
                <a:buClr>
                  <a:schemeClr val="lt1"/>
                </a:buClr>
                <a:buSzPts val="1000"/>
                <a:buFont typeface="Arial"/>
                <a:buNone/>
              </a:pPr>
              <a:r>
                <a:rPr lang="en-US" sz="1000" b="0" i="0" u="none" strike="noStrike" cap="none">
                  <a:solidFill>
                    <a:schemeClr val="lt1"/>
                  </a:solidFill>
                  <a:latin typeface="Century Gothic"/>
                  <a:ea typeface="Century Gothic"/>
                  <a:cs typeface="Century Gothic"/>
                  <a:sym typeface="Century Gothic"/>
                </a:rPr>
                <a:t>2. Emergence or exacerbation of mental health issues</a:t>
              </a:r>
              <a:endParaRPr sz="1000" b="0" i="0" u="none" strike="noStrike" cap="none">
                <a:solidFill>
                  <a:schemeClr val="lt1"/>
                </a:solidFill>
                <a:latin typeface="Century Gothic"/>
                <a:ea typeface="Century Gothic"/>
                <a:cs typeface="Century Gothic"/>
                <a:sym typeface="Century Gothic"/>
              </a:endParaRPr>
            </a:p>
          </p:txBody>
        </p:sp>
        <p:sp>
          <p:nvSpPr>
            <p:cNvPr id="202" name="Google Shape;202;p4"/>
            <p:cNvSpPr/>
            <p:nvPr/>
          </p:nvSpPr>
          <p:spPr>
            <a:xfrm rot="3310531">
              <a:off x="1408827" y="2859956"/>
              <a:ext cx="1159983" cy="38671"/>
            </a:xfrm>
            <a:custGeom>
              <a:avLst/>
              <a:gdLst/>
              <a:ahLst/>
              <a:cxnLst/>
              <a:rect l="l" t="t" r="r" b="b"/>
              <a:pathLst>
                <a:path w="120000" h="120000" extrusionOk="0">
                  <a:moveTo>
                    <a:pt x="0" y="59998"/>
                  </a:moveTo>
                  <a:lnTo>
                    <a:pt x="120000" y="59998"/>
                  </a:lnTo>
                </a:path>
              </a:pathLst>
            </a:custGeom>
            <a:noFill/>
            <a:ln w="12700" cap="flat" cmpd="sng">
              <a:solidFill>
                <a:srgbClr val="7D1F94"/>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3" name="Google Shape;203;p4"/>
            <p:cNvSpPr txBox="1"/>
            <p:nvPr/>
          </p:nvSpPr>
          <p:spPr>
            <a:xfrm rot="3310531">
              <a:off x="1959819" y="2850293"/>
              <a:ext cx="57999" cy="57999"/>
            </a:xfrm>
            <a:prstGeom prst="rect">
              <a:avLst/>
            </a:prstGeom>
            <a:noFill/>
            <a:ln>
              <a:noFill/>
            </a:ln>
          </p:spPr>
          <p:txBody>
            <a:bodyPr spcFirstLastPara="1" wrap="square" lIns="12700" tIns="0" rIns="12700" bIns="0" anchor="ctr" anchorCtr="0">
              <a:noAutofit/>
            </a:bodyPr>
            <a:lstStyle/>
            <a:p>
              <a:pPr marL="0" marR="0" lvl="0" indent="0" algn="ctr" rtl="0">
                <a:lnSpc>
                  <a:spcPct val="90000"/>
                </a:lnSpc>
                <a:spcBef>
                  <a:spcPts val="0"/>
                </a:spcBef>
                <a:spcAft>
                  <a:spcPts val="0"/>
                </a:spcAft>
                <a:buClr>
                  <a:schemeClr val="dk1"/>
                </a:buClr>
                <a:buSzPts val="500"/>
                <a:buFont typeface="Century Gothic"/>
                <a:buNone/>
              </a:pPr>
              <a:endParaRPr sz="500" b="0" i="0" u="none" strike="noStrike" cap="none">
                <a:solidFill>
                  <a:schemeClr val="dk1"/>
                </a:solidFill>
                <a:latin typeface="Century Gothic"/>
                <a:ea typeface="Century Gothic"/>
                <a:cs typeface="Century Gothic"/>
                <a:sym typeface="Century Gothic"/>
              </a:endParaRPr>
            </a:p>
          </p:txBody>
        </p:sp>
        <p:sp>
          <p:nvSpPr>
            <p:cNvPr id="204" name="Google Shape;204;p4"/>
            <p:cNvSpPr/>
            <p:nvPr/>
          </p:nvSpPr>
          <p:spPr>
            <a:xfrm>
              <a:off x="2320032" y="2941395"/>
              <a:ext cx="1656063" cy="828031"/>
            </a:xfrm>
            <a:prstGeom prst="roundRect">
              <a:avLst>
                <a:gd name="adj" fmla="val 10000"/>
              </a:avLst>
            </a:prstGeom>
            <a:solidFill>
              <a:srgbClr val="7D1F94"/>
            </a:solidFill>
            <a:ln w="1270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5" name="Google Shape;205;p4"/>
            <p:cNvSpPr txBox="1"/>
            <p:nvPr/>
          </p:nvSpPr>
          <p:spPr>
            <a:xfrm>
              <a:off x="2344284" y="2965647"/>
              <a:ext cx="1607559" cy="779527"/>
            </a:xfrm>
            <a:prstGeom prst="rect">
              <a:avLst/>
            </a:prstGeom>
            <a:noFill/>
            <a:ln>
              <a:noFill/>
            </a:ln>
          </p:spPr>
          <p:txBody>
            <a:bodyPr spcFirstLastPara="1" wrap="square" lIns="6350" tIns="6350" rIns="6350" bIns="6350" anchor="ctr" anchorCtr="0">
              <a:noAutofit/>
            </a:bodyPr>
            <a:lstStyle/>
            <a:p>
              <a:pPr marL="0" marR="0" lvl="0" indent="0" algn="ctr" rtl="0">
                <a:lnSpc>
                  <a:spcPct val="90000"/>
                </a:lnSpc>
                <a:spcBef>
                  <a:spcPts val="0"/>
                </a:spcBef>
                <a:spcAft>
                  <a:spcPts val="0"/>
                </a:spcAft>
                <a:buClr>
                  <a:schemeClr val="lt1"/>
                </a:buClr>
                <a:buSzPts val="1000"/>
                <a:buFont typeface="Arial"/>
                <a:buNone/>
              </a:pPr>
              <a:r>
                <a:rPr lang="en-US" sz="1000" b="0" i="0" u="none" strike="noStrike" cap="none">
                  <a:solidFill>
                    <a:schemeClr val="lt1"/>
                  </a:solidFill>
                  <a:latin typeface="Century Gothic"/>
                  <a:ea typeface="Century Gothic"/>
                  <a:cs typeface="Century Gothic"/>
                  <a:sym typeface="Century Gothic"/>
                </a:rPr>
                <a:t>3. Potential onset of lifelong addiction issues</a:t>
              </a:r>
              <a:endParaRPr sz="1000" b="0" i="0" u="none" strike="noStrike" cap="none">
                <a:solidFill>
                  <a:schemeClr val="lt1"/>
                </a:solidFill>
                <a:latin typeface="Century Gothic"/>
                <a:ea typeface="Century Gothic"/>
                <a:cs typeface="Century Gothic"/>
                <a:sym typeface="Century Gothic"/>
              </a:endParaRPr>
            </a:p>
          </p:txBody>
        </p:sp>
      </p:gr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09"/>
        <p:cNvGrpSpPr/>
        <p:nvPr/>
      </p:nvGrpSpPr>
      <p:grpSpPr>
        <a:xfrm>
          <a:off x="0" y="0"/>
          <a:ext cx="0" cy="0"/>
          <a:chOff x="0" y="0"/>
          <a:chExt cx="0" cy="0"/>
        </a:xfrm>
      </p:grpSpPr>
      <p:sp>
        <p:nvSpPr>
          <p:cNvPr id="210" name="Google Shape;210;p5"/>
          <p:cNvSpPr/>
          <p:nvPr/>
        </p:nvSpPr>
        <p:spPr>
          <a:xfrm>
            <a:off x="4636008" y="0"/>
            <a:ext cx="7555992" cy="6858000"/>
          </a:xfrm>
          <a:prstGeom prst="roundRect">
            <a:avLst>
              <a:gd name="adj" fmla="val 0"/>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entury Gothic"/>
              <a:ea typeface="Century Gothic"/>
              <a:cs typeface="Century Gothic"/>
              <a:sym typeface="Century Gothic"/>
            </a:endParaRPr>
          </a:p>
        </p:txBody>
      </p:sp>
      <p:sp>
        <p:nvSpPr>
          <p:cNvPr id="211" name="Google Shape;211;p5"/>
          <p:cNvSpPr/>
          <p:nvPr/>
        </p:nvSpPr>
        <p:spPr>
          <a:xfrm>
            <a:off x="0" y="0"/>
            <a:ext cx="4636008" cy="6858000"/>
          </a:xfrm>
          <a:prstGeom prst="rect">
            <a:avLst/>
          </a:prstGeom>
          <a:solidFill>
            <a:schemeClr val="dk1"/>
          </a:solidFill>
          <a:ln>
            <a:noFill/>
          </a:ln>
          <a:effectLst>
            <a:outerShdw blurRad="63500" dist="38100" algn="l" rotWithShape="0">
              <a:srgbClr val="000000">
                <a:alpha val="40000"/>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entury Gothic"/>
              <a:ea typeface="Century Gothic"/>
              <a:cs typeface="Century Gothic"/>
              <a:sym typeface="Century Gothic"/>
            </a:endParaRPr>
          </a:p>
        </p:txBody>
      </p:sp>
      <p:pic>
        <p:nvPicPr>
          <p:cNvPr id="212" name="Google Shape;212;p5"/>
          <p:cNvPicPr preferRelativeResize="0"/>
          <p:nvPr/>
        </p:nvPicPr>
        <p:blipFill rotWithShape="1">
          <a:blip r:embed="rId3">
            <a:alphaModFix/>
          </a:blip>
          <a:srcRect r="61974"/>
          <a:stretch/>
        </p:blipFill>
        <p:spPr>
          <a:xfrm>
            <a:off x="0" y="0"/>
            <a:ext cx="4636008" cy="1441450"/>
          </a:xfrm>
          <a:prstGeom prst="rect">
            <a:avLst/>
          </a:prstGeom>
          <a:noFill/>
          <a:ln>
            <a:noFill/>
          </a:ln>
        </p:spPr>
      </p:pic>
      <p:pic>
        <p:nvPicPr>
          <p:cNvPr id="213" name="Google Shape;213;p5"/>
          <p:cNvPicPr preferRelativeResize="0"/>
          <p:nvPr/>
        </p:nvPicPr>
        <p:blipFill rotWithShape="1">
          <a:blip r:embed="rId4">
            <a:alphaModFix/>
          </a:blip>
          <a:srcRect r="61974"/>
          <a:stretch/>
        </p:blipFill>
        <p:spPr>
          <a:xfrm>
            <a:off x="0" y="4375150"/>
            <a:ext cx="4636008" cy="2482850"/>
          </a:xfrm>
          <a:prstGeom prst="rect">
            <a:avLst/>
          </a:prstGeom>
          <a:noFill/>
          <a:ln>
            <a:noFill/>
          </a:ln>
        </p:spPr>
      </p:pic>
      <p:sp>
        <p:nvSpPr>
          <p:cNvPr id="214" name="Google Shape;214;p5"/>
          <p:cNvSpPr txBox="1">
            <a:spLocks noGrp="1"/>
          </p:cNvSpPr>
          <p:nvPr>
            <p:ph type="title"/>
          </p:nvPr>
        </p:nvSpPr>
        <p:spPr>
          <a:xfrm>
            <a:off x="685800" y="1066163"/>
            <a:ext cx="3306744" cy="5148371"/>
          </a:xfrm>
          <a:prstGeom prst="rect">
            <a:avLst/>
          </a:prstGeom>
          <a:noFill/>
          <a:ln>
            <a:noFill/>
          </a:ln>
        </p:spPr>
        <p:txBody>
          <a:bodyPr spcFirstLastPara="1" wrap="square" lIns="91425" tIns="45700" rIns="91425" bIns="45700" anchor="ctr" anchorCtr="0">
            <a:normAutofit/>
          </a:bodyPr>
          <a:lstStyle/>
          <a:p>
            <a:pPr marL="0" lvl="0" indent="0" algn="r" rtl="0">
              <a:lnSpc>
                <a:spcPct val="90000"/>
              </a:lnSpc>
              <a:spcBef>
                <a:spcPts val="0"/>
              </a:spcBef>
              <a:spcAft>
                <a:spcPts val="0"/>
              </a:spcAft>
              <a:buClr>
                <a:schemeClr val="lt1"/>
              </a:buClr>
              <a:buSzPts val="4000"/>
              <a:buFont typeface="Century Gothic"/>
              <a:buNone/>
            </a:pPr>
            <a:r>
              <a:rPr lang="en-US">
                <a:solidFill>
                  <a:schemeClr val="lt1"/>
                </a:solidFill>
              </a:rPr>
              <a:t>VISION OF SUCCESS</a:t>
            </a:r>
            <a:endParaRPr/>
          </a:p>
        </p:txBody>
      </p:sp>
      <p:grpSp>
        <p:nvGrpSpPr>
          <p:cNvPr id="215" name="Google Shape;215;p5"/>
          <p:cNvGrpSpPr/>
          <p:nvPr/>
        </p:nvGrpSpPr>
        <p:grpSpPr>
          <a:xfrm>
            <a:off x="5279472" y="748581"/>
            <a:ext cx="6290226" cy="5442831"/>
            <a:chOff x="0" y="2456"/>
            <a:chExt cx="6290226" cy="5442831"/>
          </a:xfrm>
        </p:grpSpPr>
        <p:sp>
          <p:nvSpPr>
            <p:cNvPr id="216" name="Google Shape;216;p5"/>
            <p:cNvSpPr/>
            <p:nvPr/>
          </p:nvSpPr>
          <p:spPr>
            <a:xfrm>
              <a:off x="0" y="3288002"/>
              <a:ext cx="6290226" cy="2157285"/>
            </a:xfrm>
            <a:prstGeom prst="rect">
              <a:avLst/>
            </a:prstGeom>
            <a:gradFill>
              <a:gsLst>
                <a:gs pos="0">
                  <a:srgbClr val="A83C60"/>
                </a:gs>
                <a:gs pos="78000">
                  <a:srgbClr val="A4004B"/>
                </a:gs>
                <a:gs pos="100000">
                  <a:srgbClr val="A4004B"/>
                </a:gs>
              </a:gsLst>
              <a:lin ang="54000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7" name="Google Shape;217;p5"/>
            <p:cNvSpPr txBox="1"/>
            <p:nvPr/>
          </p:nvSpPr>
          <p:spPr>
            <a:xfrm>
              <a:off x="0" y="3288002"/>
              <a:ext cx="6290226" cy="1164934"/>
            </a:xfrm>
            <a:prstGeom prst="rect">
              <a:avLst/>
            </a:prstGeom>
            <a:noFill/>
            <a:ln>
              <a:noFill/>
            </a:ln>
          </p:spPr>
          <p:txBody>
            <a:bodyPr spcFirstLastPara="1" wrap="square" lIns="227575" tIns="227575" rIns="227575" bIns="227575" anchor="ctr" anchorCtr="0">
              <a:noAutofit/>
            </a:bodyPr>
            <a:lstStyle/>
            <a:p>
              <a:pPr marL="0" marR="0" lvl="0" indent="0" algn="ctr" rtl="0">
                <a:lnSpc>
                  <a:spcPct val="90000"/>
                </a:lnSpc>
                <a:spcBef>
                  <a:spcPts val="0"/>
                </a:spcBef>
                <a:spcAft>
                  <a:spcPts val="0"/>
                </a:spcAft>
                <a:buClr>
                  <a:schemeClr val="lt1"/>
                </a:buClr>
                <a:buSzPts val="3200"/>
                <a:buFont typeface="Century Gothic"/>
                <a:buNone/>
              </a:pPr>
              <a:r>
                <a:rPr lang="en-US" sz="3200" b="0" i="0" u="none" strike="noStrike" cap="none">
                  <a:solidFill>
                    <a:schemeClr val="lt1"/>
                  </a:solidFill>
                  <a:latin typeface="Century Gothic"/>
                  <a:ea typeface="Century Gothic"/>
                  <a:cs typeface="Century Gothic"/>
                  <a:sym typeface="Century Gothic"/>
                </a:rPr>
                <a:t>Measurable Outcomes:</a:t>
              </a:r>
              <a:endParaRPr sz="3200" b="0" i="0" u="none" strike="noStrike" cap="none">
                <a:solidFill>
                  <a:schemeClr val="lt1"/>
                </a:solidFill>
                <a:latin typeface="Century Gothic"/>
                <a:ea typeface="Century Gothic"/>
                <a:cs typeface="Century Gothic"/>
                <a:sym typeface="Century Gothic"/>
              </a:endParaRPr>
            </a:p>
          </p:txBody>
        </p:sp>
        <p:sp>
          <p:nvSpPr>
            <p:cNvPr id="218" name="Google Shape;218;p5"/>
            <p:cNvSpPr/>
            <p:nvPr/>
          </p:nvSpPr>
          <p:spPr>
            <a:xfrm>
              <a:off x="0" y="4409791"/>
              <a:ext cx="1572556" cy="992351"/>
            </a:xfrm>
            <a:prstGeom prst="rect">
              <a:avLst/>
            </a:prstGeom>
            <a:solidFill>
              <a:srgbClr val="DECACF">
                <a:alpha val="89803"/>
              </a:srgbClr>
            </a:solidFill>
            <a:ln w="9525" cap="flat" cmpd="sng">
              <a:solidFill>
                <a:srgbClr val="DECACF">
                  <a:alpha val="89803"/>
                </a:srgbClr>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9" name="Google Shape;219;p5"/>
            <p:cNvSpPr txBox="1"/>
            <p:nvPr/>
          </p:nvSpPr>
          <p:spPr>
            <a:xfrm>
              <a:off x="0" y="4409791"/>
              <a:ext cx="1572556" cy="992351"/>
            </a:xfrm>
            <a:prstGeom prst="rect">
              <a:avLst/>
            </a:prstGeom>
            <a:noFill/>
            <a:ln>
              <a:noFill/>
            </a:ln>
          </p:spPr>
          <p:txBody>
            <a:bodyPr spcFirstLastPara="1" wrap="square" lIns="71100" tIns="12700" rIns="71100" bIns="12700" anchor="ctr" anchorCtr="0">
              <a:noAutofit/>
            </a:bodyPr>
            <a:lstStyle/>
            <a:p>
              <a:pPr marL="0" marR="0" lvl="0" indent="0" algn="ctr" rtl="0">
                <a:lnSpc>
                  <a:spcPct val="90000"/>
                </a:lnSpc>
                <a:spcBef>
                  <a:spcPts val="0"/>
                </a:spcBef>
                <a:spcAft>
                  <a:spcPts val="0"/>
                </a:spcAft>
                <a:buClr>
                  <a:schemeClr val="dk1"/>
                </a:buClr>
                <a:buSzPts val="1000"/>
                <a:buFont typeface="Century Gothic"/>
                <a:buNone/>
              </a:pPr>
              <a:r>
                <a:rPr lang="en-US" sz="1000" b="0" i="0" u="none" strike="noStrike" cap="none">
                  <a:solidFill>
                    <a:schemeClr val="dk1"/>
                  </a:solidFill>
                  <a:latin typeface="Century Gothic"/>
                  <a:ea typeface="Century Gothic"/>
                  <a:cs typeface="Century Gothic"/>
                  <a:sym typeface="Century Gothic"/>
                </a:rPr>
                <a:t>Decrease in the percentage of adolescents reporting drug and alcohol use.</a:t>
              </a:r>
              <a:endParaRPr sz="1000" b="0" i="0" u="none" strike="noStrike" cap="none">
                <a:solidFill>
                  <a:schemeClr val="dk1"/>
                </a:solidFill>
                <a:latin typeface="Century Gothic"/>
                <a:ea typeface="Century Gothic"/>
                <a:cs typeface="Century Gothic"/>
                <a:sym typeface="Century Gothic"/>
              </a:endParaRPr>
            </a:p>
          </p:txBody>
        </p:sp>
        <p:sp>
          <p:nvSpPr>
            <p:cNvPr id="220" name="Google Shape;220;p5"/>
            <p:cNvSpPr/>
            <p:nvPr/>
          </p:nvSpPr>
          <p:spPr>
            <a:xfrm>
              <a:off x="1572556" y="4409791"/>
              <a:ext cx="1572556" cy="992351"/>
            </a:xfrm>
            <a:prstGeom prst="rect">
              <a:avLst/>
            </a:prstGeom>
            <a:solidFill>
              <a:srgbClr val="DCC9D4">
                <a:alpha val="89803"/>
              </a:srgbClr>
            </a:solidFill>
            <a:ln w="9525" cap="flat" cmpd="sng">
              <a:solidFill>
                <a:srgbClr val="DCC9D4">
                  <a:alpha val="89803"/>
                </a:srgbClr>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1" name="Google Shape;221;p5"/>
            <p:cNvSpPr txBox="1"/>
            <p:nvPr/>
          </p:nvSpPr>
          <p:spPr>
            <a:xfrm>
              <a:off x="1572556" y="4409791"/>
              <a:ext cx="1572556" cy="992351"/>
            </a:xfrm>
            <a:prstGeom prst="rect">
              <a:avLst/>
            </a:prstGeom>
            <a:noFill/>
            <a:ln>
              <a:noFill/>
            </a:ln>
          </p:spPr>
          <p:txBody>
            <a:bodyPr spcFirstLastPara="1" wrap="square" lIns="71100" tIns="12700" rIns="71100" bIns="12700" anchor="ctr" anchorCtr="0">
              <a:noAutofit/>
            </a:bodyPr>
            <a:lstStyle/>
            <a:p>
              <a:pPr marL="0" marR="0" lvl="0" indent="0" algn="ctr" rtl="0">
                <a:lnSpc>
                  <a:spcPct val="90000"/>
                </a:lnSpc>
                <a:spcBef>
                  <a:spcPts val="0"/>
                </a:spcBef>
                <a:spcAft>
                  <a:spcPts val="0"/>
                </a:spcAft>
                <a:buClr>
                  <a:schemeClr val="dk1"/>
                </a:buClr>
                <a:buSzPts val="1000"/>
                <a:buFont typeface="Century Gothic"/>
                <a:buNone/>
              </a:pPr>
              <a:r>
                <a:rPr lang="en-US" sz="1000" b="0" i="0" u="none" strike="noStrike" cap="none">
                  <a:solidFill>
                    <a:schemeClr val="dk1"/>
                  </a:solidFill>
                  <a:latin typeface="Century Gothic"/>
                  <a:ea typeface="Century Gothic"/>
                  <a:cs typeface="Century Gothic"/>
                  <a:sym typeface="Century Gothic"/>
                </a:rPr>
                <a:t>Improvement in academic performance indicators among the target age group.</a:t>
              </a:r>
              <a:endParaRPr sz="1000" b="0" i="0" u="none" strike="noStrike" cap="none">
                <a:solidFill>
                  <a:schemeClr val="dk1"/>
                </a:solidFill>
                <a:latin typeface="Century Gothic"/>
                <a:ea typeface="Century Gothic"/>
                <a:cs typeface="Century Gothic"/>
                <a:sym typeface="Century Gothic"/>
              </a:endParaRPr>
            </a:p>
          </p:txBody>
        </p:sp>
        <p:sp>
          <p:nvSpPr>
            <p:cNvPr id="222" name="Google Shape;222;p5"/>
            <p:cNvSpPr/>
            <p:nvPr/>
          </p:nvSpPr>
          <p:spPr>
            <a:xfrm>
              <a:off x="3145113" y="4409791"/>
              <a:ext cx="1572556" cy="992351"/>
            </a:xfrm>
            <a:prstGeom prst="rect">
              <a:avLst/>
            </a:prstGeom>
            <a:solidFill>
              <a:srgbClr val="DBCADA">
                <a:alpha val="89803"/>
              </a:srgbClr>
            </a:solidFill>
            <a:ln w="9525" cap="flat" cmpd="sng">
              <a:solidFill>
                <a:srgbClr val="DBCADA">
                  <a:alpha val="89803"/>
                </a:srgbClr>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3" name="Google Shape;223;p5"/>
            <p:cNvSpPr txBox="1"/>
            <p:nvPr/>
          </p:nvSpPr>
          <p:spPr>
            <a:xfrm>
              <a:off x="3145113" y="4409791"/>
              <a:ext cx="1572556" cy="992351"/>
            </a:xfrm>
            <a:prstGeom prst="rect">
              <a:avLst/>
            </a:prstGeom>
            <a:noFill/>
            <a:ln>
              <a:noFill/>
            </a:ln>
          </p:spPr>
          <p:txBody>
            <a:bodyPr spcFirstLastPara="1" wrap="square" lIns="71100" tIns="12700" rIns="71100" bIns="12700" anchor="ctr" anchorCtr="0">
              <a:noAutofit/>
            </a:bodyPr>
            <a:lstStyle/>
            <a:p>
              <a:pPr marL="0" marR="0" lvl="0" indent="0" algn="ctr" rtl="0">
                <a:lnSpc>
                  <a:spcPct val="90000"/>
                </a:lnSpc>
                <a:spcBef>
                  <a:spcPts val="0"/>
                </a:spcBef>
                <a:spcAft>
                  <a:spcPts val="0"/>
                </a:spcAft>
                <a:buClr>
                  <a:schemeClr val="dk1"/>
                </a:buClr>
                <a:buSzPts val="1000"/>
                <a:buFont typeface="Century Gothic"/>
                <a:buNone/>
              </a:pPr>
              <a:r>
                <a:rPr lang="en-US" sz="1000" b="0" i="0" u="none" strike="noStrike" cap="none">
                  <a:solidFill>
                    <a:schemeClr val="dk1"/>
                  </a:solidFill>
                  <a:latin typeface="Century Gothic"/>
                  <a:ea typeface="Century Gothic"/>
                  <a:cs typeface="Century Gothic"/>
                  <a:sym typeface="Century Gothic"/>
                </a:rPr>
                <a:t>Better mental health statistics among adolescents.</a:t>
              </a:r>
              <a:endParaRPr sz="1000" b="0" i="0" u="none" strike="noStrike" cap="none">
                <a:solidFill>
                  <a:schemeClr val="dk1"/>
                </a:solidFill>
                <a:latin typeface="Century Gothic"/>
                <a:ea typeface="Century Gothic"/>
                <a:cs typeface="Century Gothic"/>
                <a:sym typeface="Century Gothic"/>
              </a:endParaRPr>
            </a:p>
          </p:txBody>
        </p:sp>
        <p:sp>
          <p:nvSpPr>
            <p:cNvPr id="224" name="Google Shape;224;p5"/>
            <p:cNvSpPr/>
            <p:nvPr/>
          </p:nvSpPr>
          <p:spPr>
            <a:xfrm>
              <a:off x="4717669" y="4409791"/>
              <a:ext cx="1572556" cy="992351"/>
            </a:xfrm>
            <a:prstGeom prst="rect">
              <a:avLst/>
            </a:prstGeom>
            <a:solidFill>
              <a:srgbClr val="D5CADB">
                <a:alpha val="89803"/>
              </a:srgbClr>
            </a:solidFill>
            <a:ln w="9525" cap="flat" cmpd="sng">
              <a:solidFill>
                <a:srgbClr val="D5CADB">
                  <a:alpha val="89803"/>
                </a:srgbClr>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5" name="Google Shape;225;p5"/>
            <p:cNvSpPr txBox="1"/>
            <p:nvPr/>
          </p:nvSpPr>
          <p:spPr>
            <a:xfrm>
              <a:off x="4717669" y="4409791"/>
              <a:ext cx="1572556" cy="992351"/>
            </a:xfrm>
            <a:prstGeom prst="rect">
              <a:avLst/>
            </a:prstGeom>
            <a:noFill/>
            <a:ln>
              <a:noFill/>
            </a:ln>
          </p:spPr>
          <p:txBody>
            <a:bodyPr spcFirstLastPara="1" wrap="square" lIns="71100" tIns="12700" rIns="71100" bIns="12700" anchor="ctr" anchorCtr="0">
              <a:noAutofit/>
            </a:bodyPr>
            <a:lstStyle/>
            <a:p>
              <a:pPr marL="0" marR="0" lvl="0" indent="0" algn="ctr" rtl="0">
                <a:lnSpc>
                  <a:spcPct val="90000"/>
                </a:lnSpc>
                <a:spcBef>
                  <a:spcPts val="0"/>
                </a:spcBef>
                <a:spcAft>
                  <a:spcPts val="0"/>
                </a:spcAft>
                <a:buClr>
                  <a:schemeClr val="dk1"/>
                </a:buClr>
                <a:buSzPts val="1000"/>
                <a:buFont typeface="Century Gothic"/>
                <a:buNone/>
              </a:pPr>
              <a:r>
                <a:rPr lang="en-US" sz="1000" b="0" i="0" u="none" strike="noStrike" cap="none">
                  <a:solidFill>
                    <a:schemeClr val="dk1"/>
                  </a:solidFill>
                  <a:latin typeface="Century Gothic"/>
                  <a:ea typeface="Century Gothic"/>
                  <a:cs typeface="Century Gothic"/>
                  <a:sym typeface="Century Gothic"/>
                </a:rPr>
                <a:t>Reduction in substance-related incidents reported within the community, like DUIs, substance-related accidents, etc.</a:t>
              </a:r>
              <a:endParaRPr sz="1000" b="0" i="0" u="none" strike="noStrike" cap="none">
                <a:solidFill>
                  <a:schemeClr val="dk1"/>
                </a:solidFill>
                <a:latin typeface="Century Gothic"/>
                <a:ea typeface="Century Gothic"/>
                <a:cs typeface="Century Gothic"/>
                <a:sym typeface="Century Gothic"/>
              </a:endParaRPr>
            </a:p>
          </p:txBody>
        </p:sp>
        <p:sp>
          <p:nvSpPr>
            <p:cNvPr id="226" name="Google Shape;226;p5"/>
            <p:cNvSpPr/>
            <p:nvPr/>
          </p:nvSpPr>
          <p:spPr>
            <a:xfrm rot="10800000">
              <a:off x="0" y="2456"/>
              <a:ext cx="6290226" cy="3317905"/>
            </a:xfrm>
            <a:prstGeom prst="upArrowCallout">
              <a:avLst>
                <a:gd name="adj1" fmla="val 25000"/>
                <a:gd name="adj2" fmla="val 25000"/>
                <a:gd name="adj3" fmla="val 25000"/>
                <a:gd name="adj4" fmla="val 64977"/>
              </a:avLst>
            </a:prstGeom>
            <a:gradFill>
              <a:gsLst>
                <a:gs pos="0">
                  <a:srgbClr val="8B439F"/>
                </a:gs>
                <a:gs pos="78000">
                  <a:srgbClr val="811998"/>
                </a:gs>
                <a:gs pos="100000">
                  <a:srgbClr val="811998"/>
                </a:gs>
              </a:gsLst>
              <a:lin ang="54000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7" name="Google Shape;227;p5"/>
            <p:cNvSpPr txBox="1"/>
            <p:nvPr/>
          </p:nvSpPr>
          <p:spPr>
            <a:xfrm>
              <a:off x="0" y="2456"/>
              <a:ext cx="6290226" cy="2155875"/>
            </a:xfrm>
            <a:prstGeom prst="rect">
              <a:avLst/>
            </a:prstGeom>
            <a:noFill/>
            <a:ln>
              <a:noFill/>
            </a:ln>
          </p:spPr>
          <p:txBody>
            <a:bodyPr spcFirstLastPara="1" wrap="square" lIns="227575" tIns="227575" rIns="227575" bIns="227575" anchor="ctr" anchorCtr="0">
              <a:noAutofit/>
            </a:bodyPr>
            <a:lstStyle/>
            <a:p>
              <a:pPr marL="0" marR="0" lvl="0" indent="0" algn="ctr" rtl="0">
                <a:lnSpc>
                  <a:spcPct val="90000"/>
                </a:lnSpc>
                <a:spcBef>
                  <a:spcPts val="0"/>
                </a:spcBef>
                <a:spcAft>
                  <a:spcPts val="0"/>
                </a:spcAft>
                <a:buClr>
                  <a:schemeClr val="lt1"/>
                </a:buClr>
                <a:buSzPts val="3200"/>
                <a:buFont typeface="Century Gothic"/>
                <a:buNone/>
              </a:pPr>
              <a:r>
                <a:rPr lang="en-US" sz="3200" b="0" i="0" u="none" strike="noStrike" cap="none">
                  <a:solidFill>
                    <a:schemeClr val="lt1"/>
                  </a:solidFill>
                  <a:latin typeface="Century Gothic"/>
                  <a:ea typeface="Century Gothic"/>
                  <a:cs typeface="Century Gothic"/>
                  <a:sym typeface="Century Gothic"/>
                </a:rPr>
                <a:t>A substantial reduction in adolescent substance abuse rates within the community.</a:t>
              </a:r>
              <a:endParaRPr sz="3200" b="0" i="0" u="none" strike="noStrike" cap="none">
                <a:solidFill>
                  <a:schemeClr val="lt1"/>
                </a:solidFill>
                <a:latin typeface="Century Gothic"/>
                <a:ea typeface="Century Gothic"/>
                <a:cs typeface="Century Gothic"/>
                <a:sym typeface="Century Gothic"/>
              </a:endParaRPr>
            </a:p>
          </p:txBody>
        </p:sp>
      </p:gr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31"/>
        <p:cNvGrpSpPr/>
        <p:nvPr/>
      </p:nvGrpSpPr>
      <p:grpSpPr>
        <a:xfrm>
          <a:off x="0" y="0"/>
          <a:ext cx="0" cy="0"/>
          <a:chOff x="0" y="0"/>
          <a:chExt cx="0" cy="0"/>
        </a:xfrm>
      </p:grpSpPr>
      <p:sp>
        <p:nvSpPr>
          <p:cNvPr id="232" name="Google Shape;232;p6"/>
          <p:cNvSpPr txBox="1">
            <a:spLocks noGrp="1"/>
          </p:cNvSpPr>
          <p:nvPr>
            <p:ph type="title"/>
          </p:nvPr>
        </p:nvSpPr>
        <p:spPr>
          <a:xfrm>
            <a:off x="619760" y="764373"/>
            <a:ext cx="6832600" cy="1293028"/>
          </a:xfrm>
          <a:prstGeom prst="rect">
            <a:avLst/>
          </a:prstGeom>
          <a:noFill/>
          <a:ln>
            <a:noFill/>
          </a:ln>
        </p:spPr>
        <p:txBody>
          <a:bodyPr spcFirstLastPara="1" wrap="square" lIns="91425" tIns="45700" rIns="91425" bIns="45700" anchor="ctr" anchorCtr="0">
            <a:normAutofit/>
          </a:bodyPr>
          <a:lstStyle/>
          <a:p>
            <a:pPr marL="0" lvl="0" indent="0" algn="r" rtl="0">
              <a:lnSpc>
                <a:spcPct val="90000"/>
              </a:lnSpc>
              <a:spcBef>
                <a:spcPts val="0"/>
              </a:spcBef>
              <a:spcAft>
                <a:spcPts val="0"/>
              </a:spcAft>
              <a:buClr>
                <a:schemeClr val="dk1"/>
              </a:buClr>
              <a:buSzPts val="4000"/>
              <a:buFont typeface="Arial"/>
              <a:buNone/>
            </a:pPr>
            <a:r>
              <a:rPr lang="en-US" b="1" i="0" u="none" strike="noStrike">
                <a:latin typeface="Arial"/>
                <a:ea typeface="Arial"/>
                <a:cs typeface="Arial"/>
                <a:sym typeface="Arial"/>
              </a:rPr>
              <a:t>TARGET AUDIENCE:</a:t>
            </a:r>
            <a:br>
              <a:rPr lang="en-US" b="1"/>
            </a:br>
            <a:endParaRPr/>
          </a:p>
        </p:txBody>
      </p:sp>
      <p:pic>
        <p:nvPicPr>
          <p:cNvPr id="233" name="Google Shape;233;p6"/>
          <p:cNvPicPr preferRelativeResize="0"/>
          <p:nvPr/>
        </p:nvPicPr>
        <p:blipFill rotWithShape="1">
          <a:blip r:embed="rId3">
            <a:alphaModFix/>
          </a:blip>
          <a:srcRect/>
          <a:stretch/>
        </p:blipFill>
        <p:spPr>
          <a:xfrm>
            <a:off x="7927278" y="3597275"/>
            <a:ext cx="3644962" cy="2945259"/>
          </a:xfrm>
          <a:prstGeom prst="rect">
            <a:avLst/>
          </a:prstGeom>
          <a:noFill/>
          <a:ln>
            <a:noFill/>
          </a:ln>
        </p:spPr>
      </p:pic>
      <p:grpSp>
        <p:nvGrpSpPr>
          <p:cNvPr id="234" name="Google Shape;234;p6"/>
          <p:cNvGrpSpPr/>
          <p:nvPr/>
        </p:nvGrpSpPr>
        <p:grpSpPr>
          <a:xfrm>
            <a:off x="619760" y="2196374"/>
            <a:ext cx="6832600" cy="4020495"/>
            <a:chOff x="0" y="1814"/>
            <a:chExt cx="6832600" cy="4020495"/>
          </a:xfrm>
        </p:grpSpPr>
        <p:sp>
          <p:nvSpPr>
            <p:cNvPr id="235" name="Google Shape;235;p6"/>
            <p:cNvSpPr/>
            <p:nvPr/>
          </p:nvSpPr>
          <p:spPr>
            <a:xfrm>
              <a:off x="0" y="2428772"/>
              <a:ext cx="6832600" cy="1593537"/>
            </a:xfrm>
            <a:prstGeom prst="rect">
              <a:avLst/>
            </a:prstGeom>
            <a:gradFill>
              <a:gsLst>
                <a:gs pos="0">
                  <a:srgbClr val="3D89AF"/>
                </a:gs>
                <a:gs pos="78000">
                  <a:srgbClr val="067EAB"/>
                </a:gs>
                <a:gs pos="100000">
                  <a:srgbClr val="067EAB"/>
                </a:gs>
              </a:gsLst>
              <a:lin ang="5400000" scaled="0"/>
            </a:gradFill>
            <a:ln>
              <a:noFill/>
            </a:ln>
            <a:effectLst>
              <a:outerShdw blurRad="57150" dist="19050" dir="5400000" algn="ctr" rotWithShape="0">
                <a:srgbClr val="000000">
                  <a:alpha val="47843"/>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6" name="Google Shape;236;p6"/>
            <p:cNvSpPr txBox="1"/>
            <p:nvPr/>
          </p:nvSpPr>
          <p:spPr>
            <a:xfrm>
              <a:off x="0" y="2428772"/>
              <a:ext cx="6832600" cy="860510"/>
            </a:xfrm>
            <a:prstGeom prst="rect">
              <a:avLst/>
            </a:prstGeom>
            <a:noFill/>
            <a:ln>
              <a:noFill/>
            </a:ln>
          </p:spPr>
          <p:txBody>
            <a:bodyPr spcFirstLastPara="1" wrap="square" lIns="142225" tIns="142225" rIns="142225" bIns="142225" anchor="ctr" anchorCtr="0">
              <a:noAutofit/>
            </a:bodyPr>
            <a:lstStyle/>
            <a:p>
              <a:pPr marL="0" marR="0" lvl="0" indent="0" algn="ctr" rtl="0">
                <a:lnSpc>
                  <a:spcPct val="90000"/>
                </a:lnSpc>
                <a:spcBef>
                  <a:spcPts val="0"/>
                </a:spcBef>
                <a:spcAft>
                  <a:spcPts val="0"/>
                </a:spcAft>
                <a:buClr>
                  <a:schemeClr val="lt1"/>
                </a:buClr>
                <a:buSzPts val="2000"/>
                <a:buFont typeface="Century Gothic"/>
                <a:buNone/>
              </a:pPr>
              <a:r>
                <a:rPr lang="en-US" sz="2000" b="0" i="0" u="none" strike="noStrike" cap="none">
                  <a:solidFill>
                    <a:schemeClr val="lt1"/>
                  </a:solidFill>
                  <a:latin typeface="Century Gothic"/>
                  <a:ea typeface="Century Gothic"/>
                  <a:cs typeface="Century Gothic"/>
                  <a:sym typeface="Century Gothic"/>
                </a:rPr>
                <a:t>Special emphasis on those belonging to lower socioeconomic statuses due to:</a:t>
              </a:r>
              <a:endParaRPr sz="2000" b="0" i="0" u="none" strike="noStrike" cap="none">
                <a:solidFill>
                  <a:schemeClr val="lt1"/>
                </a:solidFill>
                <a:latin typeface="Century Gothic"/>
                <a:ea typeface="Century Gothic"/>
                <a:cs typeface="Century Gothic"/>
                <a:sym typeface="Century Gothic"/>
              </a:endParaRPr>
            </a:p>
          </p:txBody>
        </p:sp>
        <p:sp>
          <p:nvSpPr>
            <p:cNvPr id="237" name="Google Shape;237;p6"/>
            <p:cNvSpPr/>
            <p:nvPr/>
          </p:nvSpPr>
          <p:spPr>
            <a:xfrm>
              <a:off x="0" y="3257412"/>
              <a:ext cx="3416299" cy="733027"/>
            </a:xfrm>
            <a:prstGeom prst="rect">
              <a:avLst/>
            </a:prstGeom>
            <a:solidFill>
              <a:srgbClr val="CAD6E0">
                <a:alpha val="89803"/>
              </a:srgbClr>
            </a:solidFill>
            <a:ln w="9525" cap="flat" cmpd="sng">
              <a:solidFill>
                <a:srgbClr val="CAD6E0">
                  <a:alpha val="89803"/>
                </a:srgbClr>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8" name="Google Shape;238;p6"/>
            <p:cNvSpPr txBox="1"/>
            <p:nvPr/>
          </p:nvSpPr>
          <p:spPr>
            <a:xfrm>
              <a:off x="0" y="3257412"/>
              <a:ext cx="3416299" cy="733027"/>
            </a:xfrm>
            <a:prstGeom prst="rect">
              <a:avLst/>
            </a:prstGeom>
            <a:noFill/>
            <a:ln>
              <a:noFill/>
            </a:ln>
          </p:spPr>
          <p:txBody>
            <a:bodyPr spcFirstLastPara="1" wrap="square" lIns="156450" tIns="27925" rIns="156450" bIns="27925" anchor="ctr" anchorCtr="0">
              <a:noAutofit/>
            </a:bodyPr>
            <a:lstStyle/>
            <a:p>
              <a:pPr marL="0" marR="0" lvl="0" indent="0" algn="ctr" rtl="0">
                <a:lnSpc>
                  <a:spcPct val="90000"/>
                </a:lnSpc>
                <a:spcBef>
                  <a:spcPts val="0"/>
                </a:spcBef>
                <a:spcAft>
                  <a:spcPts val="0"/>
                </a:spcAft>
                <a:buClr>
                  <a:schemeClr val="dk1"/>
                </a:buClr>
                <a:buSzPts val="2200"/>
                <a:buFont typeface="Century Gothic"/>
                <a:buNone/>
              </a:pPr>
              <a:r>
                <a:rPr lang="en-US" sz="2200" b="0" i="0" u="none" strike="noStrike" cap="none">
                  <a:solidFill>
                    <a:schemeClr val="dk1"/>
                  </a:solidFill>
                  <a:latin typeface="Century Gothic"/>
                  <a:ea typeface="Century Gothic"/>
                  <a:cs typeface="Century Gothic"/>
                  <a:sym typeface="Century Gothic"/>
                </a:rPr>
                <a:t>Limited access to preventative resources</a:t>
              </a:r>
              <a:endParaRPr sz="2200" b="0" i="0" u="none" strike="noStrike" cap="none">
                <a:solidFill>
                  <a:schemeClr val="dk1"/>
                </a:solidFill>
                <a:latin typeface="Century Gothic"/>
                <a:ea typeface="Century Gothic"/>
                <a:cs typeface="Century Gothic"/>
                <a:sym typeface="Century Gothic"/>
              </a:endParaRPr>
            </a:p>
          </p:txBody>
        </p:sp>
        <p:sp>
          <p:nvSpPr>
            <p:cNvPr id="239" name="Google Shape;239;p6"/>
            <p:cNvSpPr/>
            <p:nvPr/>
          </p:nvSpPr>
          <p:spPr>
            <a:xfrm>
              <a:off x="3416300" y="3257412"/>
              <a:ext cx="3416299" cy="733027"/>
            </a:xfrm>
            <a:prstGeom prst="rect">
              <a:avLst/>
            </a:prstGeom>
            <a:solidFill>
              <a:srgbClr val="CAD6E0">
                <a:alpha val="89803"/>
              </a:srgbClr>
            </a:solidFill>
            <a:ln w="9525" cap="flat" cmpd="sng">
              <a:solidFill>
                <a:srgbClr val="CAD6E0">
                  <a:alpha val="89803"/>
                </a:srgbClr>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0" name="Google Shape;240;p6"/>
            <p:cNvSpPr txBox="1"/>
            <p:nvPr/>
          </p:nvSpPr>
          <p:spPr>
            <a:xfrm>
              <a:off x="3416300" y="3257412"/>
              <a:ext cx="3416299" cy="733027"/>
            </a:xfrm>
            <a:prstGeom prst="rect">
              <a:avLst/>
            </a:prstGeom>
            <a:noFill/>
            <a:ln>
              <a:noFill/>
            </a:ln>
          </p:spPr>
          <p:txBody>
            <a:bodyPr spcFirstLastPara="1" wrap="square" lIns="156450" tIns="27925" rIns="156450" bIns="27925" anchor="ctr" anchorCtr="0">
              <a:noAutofit/>
            </a:bodyPr>
            <a:lstStyle/>
            <a:p>
              <a:pPr marL="0" marR="0" lvl="0" indent="0" algn="ctr" rtl="0">
                <a:lnSpc>
                  <a:spcPct val="90000"/>
                </a:lnSpc>
                <a:spcBef>
                  <a:spcPts val="0"/>
                </a:spcBef>
                <a:spcAft>
                  <a:spcPts val="0"/>
                </a:spcAft>
                <a:buClr>
                  <a:schemeClr val="dk1"/>
                </a:buClr>
                <a:buSzPts val="2200"/>
                <a:buFont typeface="Century Gothic"/>
                <a:buNone/>
              </a:pPr>
              <a:r>
                <a:rPr lang="en-US" sz="2200" b="0" i="0" u="none" strike="noStrike" cap="none">
                  <a:solidFill>
                    <a:schemeClr val="dk1"/>
                  </a:solidFill>
                  <a:latin typeface="Century Gothic"/>
                  <a:ea typeface="Century Gothic"/>
                  <a:cs typeface="Century Gothic"/>
                  <a:sym typeface="Century Gothic"/>
                </a:rPr>
                <a:t>Reduced availability of treatment facilities</a:t>
              </a:r>
              <a:endParaRPr sz="2200" b="0" i="0" u="none" strike="noStrike" cap="none">
                <a:solidFill>
                  <a:schemeClr val="dk1"/>
                </a:solidFill>
                <a:latin typeface="Century Gothic"/>
                <a:ea typeface="Century Gothic"/>
                <a:cs typeface="Century Gothic"/>
                <a:sym typeface="Century Gothic"/>
              </a:endParaRPr>
            </a:p>
          </p:txBody>
        </p:sp>
        <p:sp>
          <p:nvSpPr>
            <p:cNvPr id="241" name="Google Shape;241;p6"/>
            <p:cNvSpPr/>
            <p:nvPr/>
          </p:nvSpPr>
          <p:spPr>
            <a:xfrm rot="10800000">
              <a:off x="0" y="1814"/>
              <a:ext cx="6832600" cy="2450861"/>
            </a:xfrm>
            <a:prstGeom prst="upArrowCallout">
              <a:avLst>
                <a:gd name="adj1" fmla="val 25000"/>
                <a:gd name="adj2" fmla="val 25000"/>
                <a:gd name="adj3" fmla="val 25000"/>
                <a:gd name="adj4" fmla="val 64977"/>
              </a:avLst>
            </a:prstGeom>
            <a:gradFill>
              <a:gsLst>
                <a:gs pos="0">
                  <a:srgbClr val="3D89AF"/>
                </a:gs>
                <a:gs pos="78000">
                  <a:srgbClr val="067EAB"/>
                </a:gs>
                <a:gs pos="100000">
                  <a:srgbClr val="067EAB"/>
                </a:gs>
              </a:gsLst>
              <a:lin ang="5400000" scaled="0"/>
            </a:gradFill>
            <a:ln>
              <a:noFill/>
            </a:ln>
            <a:effectLst>
              <a:outerShdw blurRad="57150" dist="19050" dir="5400000" algn="ctr" rotWithShape="0">
                <a:srgbClr val="000000">
                  <a:alpha val="47843"/>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2" name="Google Shape;242;p6"/>
            <p:cNvSpPr txBox="1"/>
            <p:nvPr/>
          </p:nvSpPr>
          <p:spPr>
            <a:xfrm>
              <a:off x="0" y="1814"/>
              <a:ext cx="6832600" cy="1592496"/>
            </a:xfrm>
            <a:prstGeom prst="rect">
              <a:avLst/>
            </a:prstGeom>
            <a:noFill/>
            <a:ln>
              <a:noFill/>
            </a:ln>
          </p:spPr>
          <p:txBody>
            <a:bodyPr spcFirstLastPara="1" wrap="square" lIns="142225" tIns="142225" rIns="142225" bIns="142225" anchor="ctr" anchorCtr="0">
              <a:noAutofit/>
            </a:bodyPr>
            <a:lstStyle/>
            <a:p>
              <a:pPr marL="0" marR="0" lvl="0" indent="0" algn="ctr" rtl="0">
                <a:lnSpc>
                  <a:spcPct val="90000"/>
                </a:lnSpc>
                <a:spcBef>
                  <a:spcPts val="0"/>
                </a:spcBef>
                <a:spcAft>
                  <a:spcPts val="0"/>
                </a:spcAft>
                <a:buClr>
                  <a:schemeClr val="lt1"/>
                </a:buClr>
                <a:buSzPts val="2000"/>
                <a:buFont typeface="Century Gothic"/>
                <a:buNone/>
              </a:pPr>
              <a:r>
                <a:rPr lang="en-US" sz="2000" b="0" i="0" u="none" strike="noStrike" cap="none">
                  <a:solidFill>
                    <a:schemeClr val="lt1"/>
                  </a:solidFill>
                  <a:latin typeface="Century Gothic"/>
                  <a:ea typeface="Century Gothic"/>
                  <a:cs typeface="Century Gothic"/>
                  <a:sym typeface="Century Gothic"/>
                </a:rPr>
                <a:t>Adolescents aged 12 to 18 residing in Oregon.</a:t>
              </a:r>
              <a:endParaRPr sz="2000" b="0" i="0" u="none" strike="noStrike" cap="none">
                <a:solidFill>
                  <a:schemeClr val="lt1"/>
                </a:solidFill>
                <a:latin typeface="Century Gothic"/>
                <a:ea typeface="Century Gothic"/>
                <a:cs typeface="Century Gothic"/>
                <a:sym typeface="Century Gothic"/>
              </a:endParaRPr>
            </a:p>
          </p:txBody>
        </p:sp>
      </p:grpSp>
      <p:sp>
        <p:nvSpPr>
          <p:cNvPr id="243" name="Google Shape;243;p6"/>
          <p:cNvSpPr txBox="1"/>
          <p:nvPr/>
        </p:nvSpPr>
        <p:spPr>
          <a:xfrm>
            <a:off x="7927278" y="2298700"/>
            <a:ext cx="3515706" cy="646331"/>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b="0" i="0" u="none" strike="noStrike" cap="none">
                <a:solidFill>
                  <a:schemeClr val="dk1"/>
                </a:solidFill>
                <a:latin typeface="Century Gothic"/>
                <a:ea typeface="Century Gothic"/>
                <a:cs typeface="Century Gothic"/>
                <a:sym typeface="Century Gothic"/>
              </a:rPr>
              <a:t>Poverty Rate Among Children</a:t>
            </a:r>
            <a:endParaRPr/>
          </a:p>
          <a:p>
            <a:pPr marL="0" marR="0" lvl="0" indent="0" algn="l" rtl="0">
              <a:spcBef>
                <a:spcPts val="0"/>
              </a:spcBef>
              <a:spcAft>
                <a:spcPts val="0"/>
              </a:spcAft>
              <a:buNone/>
            </a:pPr>
            <a:r>
              <a:rPr lang="en-US" sz="1800">
                <a:solidFill>
                  <a:schemeClr val="dk1"/>
                </a:solidFill>
                <a:latin typeface="Century Gothic"/>
                <a:ea typeface="Century Gothic"/>
                <a:cs typeface="Century Gothic"/>
                <a:sym typeface="Century Gothic"/>
              </a:rPr>
              <a:t> by  race in Oregon in 2019</a:t>
            </a:r>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47"/>
        <p:cNvGrpSpPr/>
        <p:nvPr/>
      </p:nvGrpSpPr>
      <p:grpSpPr>
        <a:xfrm>
          <a:off x="0" y="0"/>
          <a:ext cx="0" cy="0"/>
          <a:chOff x="0" y="0"/>
          <a:chExt cx="0" cy="0"/>
        </a:xfrm>
      </p:grpSpPr>
      <p:sp>
        <p:nvSpPr>
          <p:cNvPr id="248" name="Google Shape;248;p7"/>
          <p:cNvSpPr/>
          <p:nvPr/>
        </p:nvSpPr>
        <p:spPr>
          <a:xfrm>
            <a:off x="4636008" y="0"/>
            <a:ext cx="7555992" cy="6858000"/>
          </a:xfrm>
          <a:prstGeom prst="roundRect">
            <a:avLst>
              <a:gd name="adj" fmla="val 0"/>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entury Gothic"/>
              <a:ea typeface="Century Gothic"/>
              <a:cs typeface="Century Gothic"/>
              <a:sym typeface="Century Gothic"/>
            </a:endParaRPr>
          </a:p>
        </p:txBody>
      </p:sp>
      <p:sp>
        <p:nvSpPr>
          <p:cNvPr id="249" name="Google Shape;249;p7"/>
          <p:cNvSpPr/>
          <p:nvPr/>
        </p:nvSpPr>
        <p:spPr>
          <a:xfrm>
            <a:off x="0" y="0"/>
            <a:ext cx="4636008" cy="6858000"/>
          </a:xfrm>
          <a:prstGeom prst="rect">
            <a:avLst/>
          </a:prstGeom>
          <a:solidFill>
            <a:schemeClr val="dk1"/>
          </a:solidFill>
          <a:ln>
            <a:noFill/>
          </a:ln>
          <a:effectLst>
            <a:outerShdw blurRad="63500" dist="38100" algn="l" rotWithShape="0">
              <a:srgbClr val="000000">
                <a:alpha val="40000"/>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entury Gothic"/>
              <a:ea typeface="Century Gothic"/>
              <a:cs typeface="Century Gothic"/>
              <a:sym typeface="Century Gothic"/>
            </a:endParaRPr>
          </a:p>
        </p:txBody>
      </p:sp>
      <p:pic>
        <p:nvPicPr>
          <p:cNvPr id="250" name="Google Shape;250;p7"/>
          <p:cNvPicPr preferRelativeResize="0"/>
          <p:nvPr/>
        </p:nvPicPr>
        <p:blipFill rotWithShape="1">
          <a:blip r:embed="rId3">
            <a:alphaModFix/>
          </a:blip>
          <a:srcRect r="61974"/>
          <a:stretch/>
        </p:blipFill>
        <p:spPr>
          <a:xfrm>
            <a:off x="0" y="0"/>
            <a:ext cx="4636008" cy="1441450"/>
          </a:xfrm>
          <a:prstGeom prst="rect">
            <a:avLst/>
          </a:prstGeom>
          <a:noFill/>
          <a:ln>
            <a:noFill/>
          </a:ln>
        </p:spPr>
      </p:pic>
      <p:pic>
        <p:nvPicPr>
          <p:cNvPr id="251" name="Google Shape;251;p7"/>
          <p:cNvPicPr preferRelativeResize="0"/>
          <p:nvPr/>
        </p:nvPicPr>
        <p:blipFill rotWithShape="1">
          <a:blip r:embed="rId4">
            <a:alphaModFix/>
          </a:blip>
          <a:srcRect r="61974"/>
          <a:stretch/>
        </p:blipFill>
        <p:spPr>
          <a:xfrm>
            <a:off x="0" y="4375150"/>
            <a:ext cx="4636008" cy="2482850"/>
          </a:xfrm>
          <a:prstGeom prst="rect">
            <a:avLst/>
          </a:prstGeom>
          <a:noFill/>
          <a:ln>
            <a:noFill/>
          </a:ln>
        </p:spPr>
      </p:pic>
      <p:sp>
        <p:nvSpPr>
          <p:cNvPr id="252" name="Google Shape;252;p7"/>
          <p:cNvSpPr txBox="1">
            <a:spLocks noGrp="1"/>
          </p:cNvSpPr>
          <p:nvPr>
            <p:ph type="title"/>
          </p:nvPr>
        </p:nvSpPr>
        <p:spPr>
          <a:xfrm>
            <a:off x="685800" y="1066163"/>
            <a:ext cx="3306744" cy="5148371"/>
          </a:xfrm>
          <a:prstGeom prst="rect">
            <a:avLst/>
          </a:prstGeom>
          <a:noFill/>
          <a:ln>
            <a:noFill/>
          </a:ln>
        </p:spPr>
        <p:txBody>
          <a:bodyPr spcFirstLastPara="1" wrap="square" lIns="91425" tIns="45700" rIns="91425" bIns="45700" anchor="ctr" anchorCtr="0">
            <a:normAutofit/>
          </a:bodyPr>
          <a:lstStyle/>
          <a:p>
            <a:pPr marL="0" lvl="0" indent="0" algn="r" rtl="0">
              <a:lnSpc>
                <a:spcPct val="90000"/>
              </a:lnSpc>
              <a:spcBef>
                <a:spcPts val="0"/>
              </a:spcBef>
              <a:spcAft>
                <a:spcPts val="0"/>
              </a:spcAft>
              <a:buClr>
                <a:schemeClr val="lt1"/>
              </a:buClr>
              <a:buSzPts val="3100"/>
              <a:buFont typeface="Arial"/>
              <a:buNone/>
            </a:pPr>
            <a:r>
              <a:rPr lang="en-US" sz="3100" b="1" i="0" u="none" strike="noStrike">
                <a:solidFill>
                  <a:schemeClr val="lt1"/>
                </a:solidFill>
                <a:latin typeface="Arial"/>
                <a:ea typeface="Arial"/>
                <a:cs typeface="Arial"/>
                <a:sym typeface="Arial"/>
              </a:rPr>
              <a:t>IMPLEMENTING BODIES:</a:t>
            </a:r>
            <a:br>
              <a:rPr lang="en-US" sz="3100" b="1">
                <a:solidFill>
                  <a:schemeClr val="lt1"/>
                </a:solidFill>
              </a:rPr>
            </a:br>
            <a:endParaRPr sz="3100">
              <a:solidFill>
                <a:schemeClr val="lt1"/>
              </a:solidFill>
            </a:endParaRPr>
          </a:p>
        </p:txBody>
      </p:sp>
      <p:grpSp>
        <p:nvGrpSpPr>
          <p:cNvPr id="253" name="Google Shape;253;p7"/>
          <p:cNvGrpSpPr/>
          <p:nvPr/>
        </p:nvGrpSpPr>
        <p:grpSpPr>
          <a:xfrm>
            <a:off x="5279472" y="748785"/>
            <a:ext cx="6290226" cy="5442424"/>
            <a:chOff x="0" y="2660"/>
            <a:chExt cx="6290226" cy="5442424"/>
          </a:xfrm>
        </p:grpSpPr>
        <p:cxnSp>
          <p:nvCxnSpPr>
            <p:cNvPr id="254" name="Google Shape;254;p7"/>
            <p:cNvCxnSpPr/>
            <p:nvPr/>
          </p:nvCxnSpPr>
          <p:spPr>
            <a:xfrm>
              <a:off x="0" y="2660"/>
              <a:ext cx="6290226" cy="0"/>
            </a:xfrm>
            <a:prstGeom prst="straightConnector1">
              <a:avLst/>
            </a:prstGeom>
            <a:gradFill>
              <a:gsLst>
                <a:gs pos="0">
                  <a:srgbClr val="A83C60"/>
                </a:gs>
                <a:gs pos="78000">
                  <a:srgbClr val="A4004B"/>
                </a:gs>
                <a:gs pos="100000">
                  <a:srgbClr val="A4004B"/>
                </a:gs>
              </a:gsLst>
              <a:lin ang="5400000" scaled="0"/>
            </a:gradFill>
            <a:ln w="9525" cap="flat" cmpd="sng">
              <a:solidFill>
                <a:srgbClr val="9D044D"/>
              </a:solidFill>
              <a:prstDash val="solid"/>
              <a:round/>
              <a:headEnd type="none" w="sm" len="sm"/>
              <a:tailEnd type="none" w="sm" len="sm"/>
            </a:ln>
          </p:spPr>
        </p:cxnSp>
        <p:sp>
          <p:nvSpPr>
            <p:cNvPr id="255" name="Google Shape;255;p7"/>
            <p:cNvSpPr/>
            <p:nvPr/>
          </p:nvSpPr>
          <p:spPr>
            <a:xfrm>
              <a:off x="0" y="2660"/>
              <a:ext cx="6290226" cy="1814141"/>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6" name="Google Shape;256;p7"/>
            <p:cNvSpPr txBox="1"/>
            <p:nvPr/>
          </p:nvSpPr>
          <p:spPr>
            <a:xfrm>
              <a:off x="0" y="2660"/>
              <a:ext cx="6290226" cy="1814141"/>
            </a:xfrm>
            <a:prstGeom prst="rect">
              <a:avLst/>
            </a:prstGeom>
            <a:noFill/>
            <a:ln>
              <a:noFill/>
            </a:ln>
          </p:spPr>
          <p:txBody>
            <a:bodyPr spcFirstLastPara="1" wrap="square" lIns="87625" tIns="87625" rIns="87625" bIns="87625" anchor="t" anchorCtr="0">
              <a:noAutofit/>
            </a:bodyPr>
            <a:lstStyle/>
            <a:p>
              <a:pPr marL="0" marR="0" lvl="0" indent="0" algn="l" rtl="0">
                <a:lnSpc>
                  <a:spcPct val="90000"/>
                </a:lnSpc>
                <a:spcBef>
                  <a:spcPts val="0"/>
                </a:spcBef>
                <a:spcAft>
                  <a:spcPts val="0"/>
                </a:spcAft>
                <a:buClr>
                  <a:schemeClr val="dk1"/>
                </a:buClr>
                <a:buSzPts val="2300"/>
                <a:buFont typeface="Century Gothic"/>
                <a:buNone/>
              </a:pPr>
              <a:r>
                <a:rPr lang="en-US" sz="2300" b="0" i="0">
                  <a:solidFill>
                    <a:schemeClr val="dk1"/>
                  </a:solidFill>
                  <a:latin typeface="Century Gothic"/>
                  <a:ea typeface="Century Gothic"/>
                  <a:cs typeface="Century Gothic"/>
                  <a:sym typeface="Century Gothic"/>
                </a:rPr>
                <a:t>Holistic approach: Diverse stakeholders bring varied expertise ensuring a comprehensive approach to tackling adolescent substance abuse.</a:t>
              </a:r>
              <a:endParaRPr sz="2300">
                <a:solidFill>
                  <a:schemeClr val="dk1"/>
                </a:solidFill>
                <a:latin typeface="Century Gothic"/>
                <a:ea typeface="Century Gothic"/>
                <a:cs typeface="Century Gothic"/>
                <a:sym typeface="Century Gothic"/>
              </a:endParaRPr>
            </a:p>
          </p:txBody>
        </p:sp>
        <p:cxnSp>
          <p:nvCxnSpPr>
            <p:cNvPr id="257" name="Google Shape;257;p7"/>
            <p:cNvCxnSpPr/>
            <p:nvPr/>
          </p:nvCxnSpPr>
          <p:spPr>
            <a:xfrm>
              <a:off x="0" y="1816801"/>
              <a:ext cx="6290226" cy="0"/>
            </a:xfrm>
            <a:prstGeom prst="straightConnector1">
              <a:avLst/>
            </a:prstGeom>
            <a:gradFill>
              <a:gsLst>
                <a:gs pos="0">
                  <a:srgbClr val="A53E8E"/>
                </a:gs>
                <a:gs pos="78000">
                  <a:srgbClr val="9F0985"/>
                </a:gs>
                <a:gs pos="100000">
                  <a:srgbClr val="9F0985"/>
                </a:gs>
              </a:gsLst>
              <a:lin ang="5400000" scaled="0"/>
            </a:gradFill>
            <a:ln w="9525" cap="flat" cmpd="sng">
              <a:solidFill>
                <a:srgbClr val="991181"/>
              </a:solidFill>
              <a:prstDash val="solid"/>
              <a:round/>
              <a:headEnd type="none" w="sm" len="sm"/>
              <a:tailEnd type="none" w="sm" len="sm"/>
            </a:ln>
          </p:spPr>
        </p:cxnSp>
        <p:sp>
          <p:nvSpPr>
            <p:cNvPr id="258" name="Google Shape;258;p7"/>
            <p:cNvSpPr/>
            <p:nvPr/>
          </p:nvSpPr>
          <p:spPr>
            <a:xfrm>
              <a:off x="0" y="1816801"/>
              <a:ext cx="6290226" cy="1814141"/>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9" name="Google Shape;259;p7"/>
            <p:cNvSpPr txBox="1"/>
            <p:nvPr/>
          </p:nvSpPr>
          <p:spPr>
            <a:xfrm>
              <a:off x="0" y="1816801"/>
              <a:ext cx="6290226" cy="1814141"/>
            </a:xfrm>
            <a:prstGeom prst="rect">
              <a:avLst/>
            </a:prstGeom>
            <a:noFill/>
            <a:ln>
              <a:noFill/>
            </a:ln>
          </p:spPr>
          <p:txBody>
            <a:bodyPr spcFirstLastPara="1" wrap="square" lIns="87625" tIns="87625" rIns="87625" bIns="87625" anchor="t" anchorCtr="0">
              <a:noAutofit/>
            </a:bodyPr>
            <a:lstStyle/>
            <a:p>
              <a:pPr marL="0" marR="0" lvl="0" indent="0" algn="l" rtl="0">
                <a:lnSpc>
                  <a:spcPct val="90000"/>
                </a:lnSpc>
                <a:spcBef>
                  <a:spcPts val="0"/>
                </a:spcBef>
                <a:spcAft>
                  <a:spcPts val="0"/>
                </a:spcAft>
                <a:buClr>
                  <a:schemeClr val="dk1"/>
                </a:buClr>
                <a:buSzPts val="2300"/>
                <a:buFont typeface="Century Gothic"/>
                <a:buNone/>
              </a:pPr>
              <a:r>
                <a:rPr lang="en-US" sz="2300" b="0" i="0">
                  <a:solidFill>
                    <a:schemeClr val="dk1"/>
                  </a:solidFill>
                  <a:latin typeface="Century Gothic"/>
                  <a:ea typeface="Century Gothic"/>
                  <a:cs typeface="Century Gothic"/>
                  <a:sym typeface="Century Gothic"/>
                </a:rPr>
                <a:t>Community Buy-in: Involvement of local bodies fosters community acceptance and engagement.</a:t>
              </a:r>
              <a:endParaRPr sz="2300">
                <a:solidFill>
                  <a:schemeClr val="dk1"/>
                </a:solidFill>
                <a:latin typeface="Century Gothic"/>
                <a:ea typeface="Century Gothic"/>
                <a:cs typeface="Century Gothic"/>
                <a:sym typeface="Century Gothic"/>
              </a:endParaRPr>
            </a:p>
          </p:txBody>
        </p:sp>
        <p:cxnSp>
          <p:nvCxnSpPr>
            <p:cNvPr id="260" name="Google Shape;260;p7"/>
            <p:cNvCxnSpPr/>
            <p:nvPr/>
          </p:nvCxnSpPr>
          <p:spPr>
            <a:xfrm>
              <a:off x="0" y="3630943"/>
              <a:ext cx="6290226" cy="0"/>
            </a:xfrm>
            <a:prstGeom prst="straightConnector1">
              <a:avLst/>
            </a:prstGeom>
            <a:gradFill>
              <a:gsLst>
                <a:gs pos="0">
                  <a:srgbClr val="8B439F"/>
                </a:gs>
                <a:gs pos="78000">
                  <a:srgbClr val="811998"/>
                </a:gs>
                <a:gs pos="100000">
                  <a:srgbClr val="811998"/>
                </a:gs>
              </a:gsLst>
              <a:lin ang="5400000" scaled="0"/>
            </a:gradFill>
            <a:ln w="9525" cap="flat" cmpd="sng">
              <a:solidFill>
                <a:srgbClr val="7E2093"/>
              </a:solidFill>
              <a:prstDash val="solid"/>
              <a:round/>
              <a:headEnd type="none" w="sm" len="sm"/>
              <a:tailEnd type="none" w="sm" len="sm"/>
            </a:ln>
          </p:spPr>
        </p:cxnSp>
        <p:sp>
          <p:nvSpPr>
            <p:cNvPr id="261" name="Google Shape;261;p7"/>
            <p:cNvSpPr/>
            <p:nvPr/>
          </p:nvSpPr>
          <p:spPr>
            <a:xfrm>
              <a:off x="0" y="3630943"/>
              <a:ext cx="6290226" cy="1814141"/>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2" name="Google Shape;262;p7"/>
            <p:cNvSpPr txBox="1"/>
            <p:nvPr/>
          </p:nvSpPr>
          <p:spPr>
            <a:xfrm>
              <a:off x="0" y="3630943"/>
              <a:ext cx="6290226" cy="1814141"/>
            </a:xfrm>
            <a:prstGeom prst="rect">
              <a:avLst/>
            </a:prstGeom>
            <a:noFill/>
            <a:ln>
              <a:noFill/>
            </a:ln>
          </p:spPr>
          <p:txBody>
            <a:bodyPr spcFirstLastPara="1" wrap="square" lIns="87625" tIns="87625" rIns="87625" bIns="87625" anchor="t" anchorCtr="0">
              <a:noAutofit/>
            </a:bodyPr>
            <a:lstStyle/>
            <a:p>
              <a:pPr marL="0" marR="0" lvl="0" indent="0" algn="l" rtl="0">
                <a:lnSpc>
                  <a:spcPct val="90000"/>
                </a:lnSpc>
                <a:spcBef>
                  <a:spcPts val="0"/>
                </a:spcBef>
                <a:spcAft>
                  <a:spcPts val="0"/>
                </a:spcAft>
                <a:buClr>
                  <a:schemeClr val="dk1"/>
                </a:buClr>
                <a:buSzPts val="2300"/>
                <a:buFont typeface="Century Gothic"/>
                <a:buNone/>
              </a:pPr>
              <a:r>
                <a:rPr lang="en-US" sz="2300" b="0" i="0">
                  <a:solidFill>
                    <a:schemeClr val="dk1"/>
                  </a:solidFill>
                  <a:latin typeface="Century Gothic"/>
                  <a:ea typeface="Century Gothic"/>
                  <a:cs typeface="Century Gothic"/>
                  <a:sym typeface="Century Gothic"/>
                </a:rPr>
                <a:t>Sustainability: Engaging multiple stakeholders including local authorities ensures a sustained effort towards combating substance abuse, beyond the duration of the project.</a:t>
              </a:r>
              <a:endParaRPr sz="2300">
                <a:solidFill>
                  <a:schemeClr val="dk1"/>
                </a:solidFill>
                <a:latin typeface="Century Gothic"/>
                <a:ea typeface="Century Gothic"/>
                <a:cs typeface="Century Gothic"/>
                <a:sym typeface="Century Gothic"/>
              </a:endParaRPr>
            </a:p>
          </p:txBody>
        </p:sp>
      </p:gr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266"/>
        <p:cNvGrpSpPr/>
        <p:nvPr/>
      </p:nvGrpSpPr>
      <p:grpSpPr>
        <a:xfrm>
          <a:off x="0" y="0"/>
          <a:ext cx="0" cy="0"/>
          <a:chOff x="0" y="0"/>
          <a:chExt cx="0" cy="0"/>
        </a:xfrm>
      </p:grpSpPr>
      <p:sp>
        <p:nvSpPr>
          <p:cNvPr id="267" name="Google Shape;267;p8"/>
          <p:cNvSpPr txBox="1">
            <a:spLocks noGrp="1"/>
          </p:cNvSpPr>
          <p:nvPr>
            <p:ph type="title"/>
          </p:nvPr>
        </p:nvSpPr>
        <p:spPr>
          <a:xfrm>
            <a:off x="4058652" y="304800"/>
            <a:ext cx="6359966" cy="591553"/>
          </a:xfrm>
          <a:prstGeom prst="rect">
            <a:avLst/>
          </a:prstGeom>
          <a:noFill/>
          <a:ln>
            <a:noFill/>
          </a:ln>
        </p:spPr>
        <p:txBody>
          <a:bodyPr spcFirstLastPara="1" wrap="square" lIns="91425" tIns="45700" rIns="91425" bIns="45700" anchor="ctr" anchorCtr="0">
            <a:normAutofit fontScale="90000"/>
          </a:bodyPr>
          <a:lstStyle/>
          <a:p>
            <a:pPr marL="0" lvl="0" indent="0" algn="r" rtl="0">
              <a:lnSpc>
                <a:spcPct val="90000"/>
              </a:lnSpc>
              <a:spcBef>
                <a:spcPts val="0"/>
              </a:spcBef>
              <a:spcAft>
                <a:spcPts val="0"/>
              </a:spcAft>
              <a:buClr>
                <a:schemeClr val="dk1"/>
              </a:buClr>
              <a:buSzPct val="100000"/>
              <a:buFont typeface="Arial"/>
              <a:buNone/>
            </a:pPr>
            <a:r>
              <a:rPr lang="en-US">
                <a:latin typeface="Arial"/>
                <a:ea typeface="Arial"/>
                <a:cs typeface="Arial"/>
                <a:sym typeface="Arial"/>
              </a:rPr>
              <a:t>SO THAT DIAGRAM</a:t>
            </a:r>
            <a:endParaRPr/>
          </a:p>
        </p:txBody>
      </p:sp>
      <p:graphicFrame>
        <p:nvGraphicFramePr>
          <p:cNvPr id="268" name="Google Shape;268;p8"/>
          <p:cNvGraphicFramePr/>
          <p:nvPr/>
        </p:nvGraphicFramePr>
        <p:xfrm>
          <a:off x="1930401" y="1295400"/>
          <a:ext cx="9735125" cy="5562600"/>
        </p:xfrm>
        <a:graphic>
          <a:graphicData uri="http://schemas.openxmlformats.org/drawingml/2006/table">
            <a:tbl>
              <a:tblPr>
                <a:noFill/>
                <a:tableStyleId>{EFA356CF-45A5-4659-A24C-15CE202FEE63}</a:tableStyleId>
              </a:tblPr>
              <a:tblGrid>
                <a:gridCol w="1947025">
                  <a:extLst>
                    <a:ext uri="{9D8B030D-6E8A-4147-A177-3AD203B41FA5}">
                      <a16:colId xmlns:a16="http://schemas.microsoft.com/office/drawing/2014/main" val="20000"/>
                    </a:ext>
                  </a:extLst>
                </a:gridCol>
                <a:gridCol w="1947025">
                  <a:extLst>
                    <a:ext uri="{9D8B030D-6E8A-4147-A177-3AD203B41FA5}">
                      <a16:colId xmlns:a16="http://schemas.microsoft.com/office/drawing/2014/main" val="20001"/>
                    </a:ext>
                  </a:extLst>
                </a:gridCol>
                <a:gridCol w="1947025">
                  <a:extLst>
                    <a:ext uri="{9D8B030D-6E8A-4147-A177-3AD203B41FA5}">
                      <a16:colId xmlns:a16="http://schemas.microsoft.com/office/drawing/2014/main" val="20002"/>
                    </a:ext>
                  </a:extLst>
                </a:gridCol>
                <a:gridCol w="1947025">
                  <a:extLst>
                    <a:ext uri="{9D8B030D-6E8A-4147-A177-3AD203B41FA5}">
                      <a16:colId xmlns:a16="http://schemas.microsoft.com/office/drawing/2014/main" val="20003"/>
                    </a:ext>
                  </a:extLst>
                </a:gridCol>
                <a:gridCol w="1947025">
                  <a:extLst>
                    <a:ext uri="{9D8B030D-6E8A-4147-A177-3AD203B41FA5}">
                      <a16:colId xmlns:a16="http://schemas.microsoft.com/office/drawing/2014/main" val="20004"/>
                    </a:ext>
                  </a:extLst>
                </a:gridCol>
              </a:tblGrid>
              <a:tr h="615225">
                <a:tc>
                  <a:txBody>
                    <a:bodyPr/>
                    <a:lstStyle/>
                    <a:p>
                      <a:pPr marL="0" marR="0" lvl="0" indent="0" algn="l" rtl="0">
                        <a:spcBef>
                          <a:spcPts val="0"/>
                        </a:spcBef>
                        <a:spcAft>
                          <a:spcPts val="0"/>
                        </a:spcAft>
                        <a:buNone/>
                      </a:pPr>
                      <a:r>
                        <a:rPr lang="en-US" sz="2000" b="0" i="0" u="none" strike="noStrike" cap="none">
                          <a:solidFill>
                            <a:srgbClr val="000000"/>
                          </a:solidFill>
                          <a:latin typeface="Arial"/>
                          <a:ea typeface="Arial"/>
                          <a:cs typeface="Arial"/>
                          <a:sym typeface="Arial"/>
                        </a:rPr>
                        <a:t>Start</a:t>
                      </a:r>
                      <a:endParaRPr sz="2000" u="none" strike="noStrike" cap="none"/>
                    </a:p>
                  </a:txBody>
                  <a:tcPr marL="63500" marR="63500" marT="63500" marB="6350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br>
                        <a:rPr lang="en-US" sz="2000" u="none" strike="noStrike" cap="none"/>
                      </a:br>
                      <a:endParaRPr sz="2000" u="none" strike="noStrike" cap="none"/>
                    </a:p>
                  </a:txBody>
                  <a:tcPr marL="63500" marR="63500" marT="63500" marB="6350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br>
                        <a:rPr lang="en-US" sz="2000" u="none" strike="noStrike" cap="none"/>
                      </a:br>
                      <a:endParaRPr sz="2000" u="none" strike="noStrike" cap="none"/>
                    </a:p>
                  </a:txBody>
                  <a:tcPr marL="63500" marR="63500" marT="63500" marB="6350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br>
                        <a:rPr lang="en-US" sz="2000" u="none" strike="noStrike" cap="none"/>
                      </a:br>
                      <a:endParaRPr sz="2000" u="none" strike="noStrike" cap="none"/>
                    </a:p>
                  </a:txBody>
                  <a:tcPr marL="63500" marR="63500" marT="63500" marB="6350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en-US" sz="2000" b="0" i="0" u="none" strike="noStrike" cap="none">
                          <a:solidFill>
                            <a:srgbClr val="000000"/>
                          </a:solidFill>
                          <a:latin typeface="Arial"/>
                          <a:ea typeface="Arial"/>
                          <a:cs typeface="Arial"/>
                          <a:sym typeface="Arial"/>
                        </a:rPr>
                        <a:t>End Here (Goal):</a:t>
                      </a:r>
                      <a:endParaRPr sz="2000" u="none" strike="noStrike" cap="none"/>
                    </a:p>
                  </a:txBody>
                  <a:tcPr marL="63500" marR="63500" marT="63500" marB="6350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0"/>
                  </a:ext>
                </a:extLst>
              </a:tr>
              <a:tr h="3415600">
                <a:tc>
                  <a:txBody>
                    <a:bodyPr/>
                    <a:lstStyle/>
                    <a:p>
                      <a:pPr marL="0" marR="0" lvl="0" indent="0" algn="l" rtl="0">
                        <a:spcBef>
                          <a:spcPts val="0"/>
                        </a:spcBef>
                        <a:spcAft>
                          <a:spcPts val="0"/>
                        </a:spcAft>
                        <a:buNone/>
                      </a:pPr>
                      <a:r>
                        <a:rPr lang="en-US" sz="2000" b="0" i="0" u="none" strike="noStrike" cap="none">
                          <a:solidFill>
                            <a:srgbClr val="000000"/>
                          </a:solidFill>
                          <a:latin typeface="Arial"/>
                          <a:ea typeface="Arial"/>
                          <a:cs typeface="Arial"/>
                          <a:sym typeface="Arial"/>
                        </a:rPr>
                        <a:t>Implement comprehensive substance abuse prevention and education programs in schools and communities in Oregon.</a:t>
                      </a:r>
                      <a:endParaRPr sz="2000" u="none" strike="noStrike" cap="none"/>
                    </a:p>
                  </a:txBody>
                  <a:tcPr marL="63500" marR="63500" marT="63500" marB="6350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en-US" sz="2000" b="0" i="0" u="none" strike="noStrike" cap="none">
                          <a:solidFill>
                            <a:srgbClr val="000000"/>
                          </a:solidFill>
                          <a:latin typeface="Arial"/>
                          <a:ea typeface="Arial"/>
                          <a:cs typeface="Arial"/>
                          <a:sym typeface="Arial"/>
                        </a:rPr>
                        <a:t>Adolescents and their families are well-informed about the risks and consequences of substance abuse.</a:t>
                      </a:r>
                      <a:endParaRPr sz="2000" u="none" strike="noStrike" cap="none"/>
                    </a:p>
                  </a:txBody>
                  <a:tcPr marL="63500" marR="63500" marT="63500" marB="6350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en-US" sz="2000" b="0" i="0" u="none" strike="noStrike" cap="none">
                          <a:solidFill>
                            <a:srgbClr val="000000"/>
                          </a:solidFill>
                          <a:latin typeface="Arial"/>
                          <a:ea typeface="Arial"/>
                          <a:cs typeface="Arial"/>
                          <a:sym typeface="Arial"/>
                        </a:rPr>
                        <a:t>There's a change in attitude towards substance use and an increased utilization of available substance abuse prevention and treatment resources</a:t>
                      </a:r>
                      <a:endParaRPr sz="2000" u="none" strike="noStrike" cap="none"/>
                    </a:p>
                  </a:txBody>
                  <a:tcPr marL="63500" marR="63500" marT="63500" marB="6350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en-US" sz="2000" b="0" i="0" u="none" strike="noStrike" cap="none">
                          <a:solidFill>
                            <a:srgbClr val="000000"/>
                          </a:solidFill>
                          <a:latin typeface="Arial"/>
                          <a:ea typeface="Arial"/>
                          <a:cs typeface="Arial"/>
                          <a:sym typeface="Arial"/>
                        </a:rPr>
                        <a:t>Adolescents engage in healthier behaviors, reducing the rates of substance abuse.</a:t>
                      </a:r>
                      <a:endParaRPr sz="2000" u="none" strike="noStrike" cap="none"/>
                    </a:p>
                  </a:txBody>
                  <a:tcPr marL="63500" marR="63500" marT="63500" marB="6350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en-US" sz="2000" b="0" i="0" u="none" strike="noStrike" cap="none">
                          <a:solidFill>
                            <a:srgbClr val="000000"/>
                          </a:solidFill>
                          <a:latin typeface="Arial"/>
                          <a:ea typeface="Arial"/>
                          <a:cs typeface="Arial"/>
                          <a:sym typeface="Arial"/>
                        </a:rPr>
                        <a:t>The community sees improved adolescent mental and physical health, better academic performance, and a safer, more supportive environment for its youth.</a:t>
                      </a:r>
                      <a:endParaRPr sz="2000" u="none" strike="noStrike" cap="none"/>
                    </a:p>
                    <a:p>
                      <a:pPr marL="0" marR="0" lvl="0" indent="0" algn="l" rtl="0">
                        <a:spcBef>
                          <a:spcPts val="0"/>
                        </a:spcBef>
                        <a:spcAft>
                          <a:spcPts val="0"/>
                        </a:spcAft>
                        <a:buNone/>
                      </a:pPr>
                      <a:br>
                        <a:rPr lang="en-US" sz="2000" u="none" strike="noStrike" cap="none"/>
                      </a:br>
                      <a:endParaRPr sz="2000" u="none" strike="noStrike" cap="none"/>
                    </a:p>
                  </a:txBody>
                  <a:tcPr marL="63500" marR="63500" marT="63500" marB="6350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1"/>
                  </a:ext>
                </a:extLst>
              </a:tr>
              <a:tr h="615225">
                <a:tc>
                  <a:txBody>
                    <a:bodyPr/>
                    <a:lstStyle/>
                    <a:p>
                      <a:pPr marL="0" marR="0" lvl="0" indent="0" algn="l" rtl="0">
                        <a:spcBef>
                          <a:spcPts val="0"/>
                        </a:spcBef>
                        <a:spcAft>
                          <a:spcPts val="0"/>
                        </a:spcAft>
                        <a:buNone/>
                      </a:pPr>
                      <a:r>
                        <a:rPr lang="en-US" sz="2000" b="0" i="0" u="none" strike="noStrike" cap="none">
                          <a:solidFill>
                            <a:srgbClr val="000000"/>
                          </a:solidFill>
                          <a:latin typeface="Arial"/>
                          <a:ea typeface="Arial"/>
                          <a:cs typeface="Arial"/>
                          <a:sym typeface="Arial"/>
                        </a:rPr>
                        <a:t>So that…</a:t>
                      </a:r>
                      <a:endParaRPr sz="2000" u="none" strike="noStrike" cap="none"/>
                    </a:p>
                  </a:txBody>
                  <a:tcPr marL="63500" marR="63500" marT="63500" marB="6350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spcBef>
                          <a:spcPts val="0"/>
                        </a:spcBef>
                        <a:spcAft>
                          <a:spcPts val="0"/>
                        </a:spcAft>
                        <a:buNone/>
                      </a:pPr>
                      <a:r>
                        <a:rPr lang="en-US" sz="2000" b="0" i="0" u="none" strike="noStrike" cap="none">
                          <a:solidFill>
                            <a:srgbClr val="000000"/>
                          </a:solidFill>
                          <a:latin typeface="Arial"/>
                          <a:ea typeface="Arial"/>
                          <a:cs typeface="Arial"/>
                          <a:sym typeface="Arial"/>
                        </a:rPr>
                        <a:t>So that…</a:t>
                      </a:r>
                      <a:endParaRPr sz="2000" u="none" strike="noStrike" cap="none"/>
                    </a:p>
                  </a:txBody>
                  <a:tcPr marL="63500" marR="63500" marT="63500" marB="6350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spcBef>
                          <a:spcPts val="0"/>
                        </a:spcBef>
                        <a:spcAft>
                          <a:spcPts val="0"/>
                        </a:spcAft>
                        <a:buNone/>
                      </a:pPr>
                      <a:r>
                        <a:rPr lang="en-US" sz="2000" b="0" i="0" u="none" strike="noStrike" cap="none">
                          <a:solidFill>
                            <a:srgbClr val="000000"/>
                          </a:solidFill>
                          <a:latin typeface="Arial"/>
                          <a:ea typeface="Arial"/>
                          <a:cs typeface="Arial"/>
                          <a:sym typeface="Arial"/>
                        </a:rPr>
                        <a:t>So that…</a:t>
                      </a:r>
                      <a:endParaRPr sz="2000" u="none" strike="noStrike" cap="none"/>
                    </a:p>
                  </a:txBody>
                  <a:tcPr marL="63500" marR="63500" marT="63500" marB="6350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spcBef>
                          <a:spcPts val="0"/>
                        </a:spcBef>
                        <a:spcAft>
                          <a:spcPts val="0"/>
                        </a:spcAft>
                        <a:buNone/>
                      </a:pPr>
                      <a:r>
                        <a:rPr lang="en-US" sz="2000" b="0" i="0" u="none" strike="noStrike" cap="none">
                          <a:solidFill>
                            <a:srgbClr val="000000"/>
                          </a:solidFill>
                          <a:latin typeface="Arial"/>
                          <a:ea typeface="Arial"/>
                          <a:cs typeface="Arial"/>
                          <a:sym typeface="Arial"/>
                        </a:rPr>
                        <a:t>So that…</a:t>
                      </a:r>
                      <a:endParaRPr sz="2000" u="none" strike="noStrike" cap="none"/>
                    </a:p>
                  </a:txBody>
                  <a:tcPr marL="63500" marR="63500" marT="63500" marB="6350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spcBef>
                          <a:spcPts val="0"/>
                        </a:spcBef>
                        <a:spcAft>
                          <a:spcPts val="0"/>
                        </a:spcAft>
                        <a:buNone/>
                      </a:pPr>
                      <a:br>
                        <a:rPr lang="en-US" sz="2000" u="none" strike="noStrike" cap="none"/>
                      </a:br>
                      <a:endParaRPr sz="2000" u="none" strike="noStrike" cap="none"/>
                    </a:p>
                  </a:txBody>
                  <a:tcPr marL="63500" marR="63500" marT="63500" marB="6350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2"/>
                  </a:ext>
                </a:extLst>
              </a:tr>
            </a:tbl>
          </a:graphicData>
        </a:graphic>
      </p:graphicFrame>
      <p:sp>
        <p:nvSpPr>
          <p:cNvPr id="269" name="Google Shape;269;p8"/>
          <p:cNvSpPr/>
          <p:nvPr/>
        </p:nvSpPr>
        <p:spPr>
          <a:xfrm>
            <a:off x="0" y="0"/>
            <a:ext cx="12192000" cy="457200"/>
          </a:xfrm>
          <a:prstGeom prst="rect">
            <a:avLst/>
          </a:prstGeom>
          <a:noFill/>
          <a:ln>
            <a:noFill/>
          </a:ln>
        </p:spPr>
        <p:txBody>
          <a:bodyPr spcFirstLastPara="1" wrap="square" lIns="91425" tIns="45700" rIns="91425" bIns="45700" anchor="ctr" anchorCtr="0">
            <a:spAutoFit/>
          </a:bodyPr>
          <a:lstStyle/>
          <a:p>
            <a:pPr marL="0" marR="0" lvl="0" indent="0" algn="l" rtl="0">
              <a:lnSpc>
                <a:spcPct val="100000"/>
              </a:lnSpc>
              <a:spcBef>
                <a:spcPts val="0"/>
              </a:spcBef>
              <a:spcAft>
                <a:spcPts val="0"/>
              </a:spcAft>
              <a:buClr>
                <a:schemeClr val="dk1"/>
              </a:buClr>
              <a:buSzPts val="1800"/>
              <a:buFont typeface="Arial"/>
              <a:buNone/>
            </a:pPr>
            <a:br>
              <a:rPr lang="en-US" sz="1800" b="0" i="0" u="none" strike="noStrike" cap="none">
                <a:solidFill>
                  <a:schemeClr val="dk1"/>
                </a:solidFill>
                <a:latin typeface="Arial"/>
                <a:ea typeface="Arial"/>
                <a:cs typeface="Arial"/>
                <a:sym typeface="Arial"/>
              </a:rPr>
            </a:br>
            <a:br>
              <a:rPr lang="en-US" sz="1800" b="0" i="0" u="none" strike="noStrike" cap="none">
                <a:solidFill>
                  <a:schemeClr val="dk1"/>
                </a:solidFill>
                <a:latin typeface="Arial"/>
                <a:ea typeface="Arial"/>
                <a:cs typeface="Arial"/>
                <a:sym typeface="Arial"/>
              </a:rPr>
            </a:br>
            <a:br>
              <a:rPr lang="en-US" sz="1800" b="0" i="0" u="none" strike="noStrike" cap="none">
                <a:solidFill>
                  <a:schemeClr val="dk1"/>
                </a:solidFill>
                <a:latin typeface="Arial"/>
                <a:ea typeface="Arial"/>
                <a:cs typeface="Arial"/>
                <a:sym typeface="Arial"/>
              </a:rPr>
            </a:br>
            <a:br>
              <a:rPr lang="en-US" sz="1800" b="0" i="0" u="none" strike="noStrike" cap="none">
                <a:solidFill>
                  <a:schemeClr val="dk1"/>
                </a:solidFill>
                <a:latin typeface="Arial"/>
                <a:ea typeface="Arial"/>
                <a:cs typeface="Arial"/>
                <a:sym typeface="Arial"/>
              </a:rPr>
            </a:br>
            <a:br>
              <a:rPr lang="en-US" sz="1800" b="0" i="0" u="none" strike="noStrike" cap="none">
                <a:solidFill>
                  <a:schemeClr val="dk1"/>
                </a:solidFill>
                <a:latin typeface="Arial"/>
                <a:ea typeface="Arial"/>
                <a:cs typeface="Arial"/>
                <a:sym typeface="Arial"/>
              </a:rPr>
            </a:br>
            <a:br>
              <a:rPr lang="en-US" sz="1800" b="0" i="0" u="none" strike="noStrike" cap="none">
                <a:solidFill>
                  <a:schemeClr val="dk1"/>
                </a:solidFill>
                <a:latin typeface="Arial"/>
                <a:ea typeface="Arial"/>
                <a:cs typeface="Arial"/>
                <a:sym typeface="Arial"/>
              </a:rPr>
            </a:br>
            <a:br>
              <a:rPr lang="en-US" sz="1800" b="0" i="0" u="none" strike="noStrike" cap="none">
                <a:solidFill>
                  <a:schemeClr val="dk1"/>
                </a:solidFill>
                <a:latin typeface="Arial"/>
                <a:ea typeface="Arial"/>
                <a:cs typeface="Arial"/>
                <a:sym typeface="Arial"/>
              </a:rPr>
            </a:br>
            <a:endParaRPr sz="1800" b="0" i="0" u="none" strike="noStrike" cap="none">
              <a:solidFill>
                <a:schemeClr val="dk1"/>
              </a:solidFill>
              <a:latin typeface="Arial"/>
              <a:ea typeface="Arial"/>
              <a:cs typeface="Arial"/>
              <a:sym typeface="Arial"/>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273"/>
        <p:cNvGrpSpPr/>
        <p:nvPr/>
      </p:nvGrpSpPr>
      <p:grpSpPr>
        <a:xfrm>
          <a:off x="0" y="0"/>
          <a:ext cx="0" cy="0"/>
          <a:chOff x="0" y="0"/>
          <a:chExt cx="0" cy="0"/>
        </a:xfrm>
      </p:grpSpPr>
      <p:sp>
        <p:nvSpPr>
          <p:cNvPr id="274" name="Google Shape;274;p9"/>
          <p:cNvSpPr txBox="1">
            <a:spLocks noGrp="1"/>
          </p:cNvSpPr>
          <p:nvPr>
            <p:ph type="title"/>
          </p:nvPr>
        </p:nvSpPr>
        <p:spPr>
          <a:xfrm>
            <a:off x="2895600" y="764373"/>
            <a:ext cx="8610600" cy="1293028"/>
          </a:xfrm>
          <a:prstGeom prst="rect">
            <a:avLst/>
          </a:prstGeom>
          <a:noFill/>
          <a:ln>
            <a:noFill/>
          </a:ln>
        </p:spPr>
        <p:txBody>
          <a:bodyPr spcFirstLastPara="1" wrap="square" lIns="91425" tIns="45700" rIns="91425" bIns="45700" anchor="ctr" anchorCtr="0">
            <a:normAutofit fontScale="90000"/>
          </a:bodyPr>
          <a:lstStyle/>
          <a:p>
            <a:pPr marL="0" lvl="0" indent="0" algn="r" rtl="0">
              <a:lnSpc>
                <a:spcPct val="90000"/>
              </a:lnSpc>
              <a:spcBef>
                <a:spcPts val="0"/>
              </a:spcBef>
              <a:spcAft>
                <a:spcPts val="0"/>
              </a:spcAft>
              <a:buClr>
                <a:schemeClr val="dk1"/>
              </a:buClr>
              <a:buSzPct val="100000"/>
              <a:buFont typeface="Arial"/>
              <a:buNone/>
            </a:pPr>
            <a:r>
              <a:rPr lang="en-US">
                <a:latin typeface="Arial"/>
                <a:ea typeface="Arial"/>
                <a:cs typeface="Arial"/>
                <a:sym typeface="Arial"/>
              </a:rPr>
              <a:t>BRIEF DESCRIPTION OF INTERVENTION</a:t>
            </a:r>
            <a:br>
              <a:rPr lang="en-US">
                <a:latin typeface="Arial"/>
                <a:ea typeface="Arial"/>
                <a:cs typeface="Arial"/>
                <a:sym typeface="Arial"/>
              </a:rPr>
            </a:br>
            <a:endParaRPr/>
          </a:p>
        </p:txBody>
      </p:sp>
      <p:sp>
        <p:nvSpPr>
          <p:cNvPr id="275" name="Google Shape;275;p9"/>
          <p:cNvSpPr txBox="1">
            <a:spLocks noGrp="1"/>
          </p:cNvSpPr>
          <p:nvPr>
            <p:ph type="body" idx="1"/>
          </p:nvPr>
        </p:nvSpPr>
        <p:spPr>
          <a:xfrm>
            <a:off x="685800" y="2194560"/>
            <a:ext cx="10820400" cy="4024125"/>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chemeClr val="dk1"/>
              </a:buClr>
              <a:buSzPts val="2200"/>
              <a:buChar char="•"/>
            </a:pPr>
            <a:r>
              <a:rPr lang="en-US">
                <a:latin typeface="Arial"/>
                <a:ea typeface="Arial"/>
                <a:cs typeface="Arial"/>
                <a:sym typeface="Arial"/>
              </a:rPr>
              <a:t>● What is the issue you are hoping to address?</a:t>
            </a:r>
            <a:endParaRPr/>
          </a:p>
          <a:p>
            <a:pPr marL="228600" lvl="0" indent="-228600" algn="l" rtl="0">
              <a:lnSpc>
                <a:spcPct val="90000"/>
              </a:lnSpc>
              <a:spcBef>
                <a:spcPts val="1000"/>
              </a:spcBef>
              <a:spcAft>
                <a:spcPts val="0"/>
              </a:spcAft>
              <a:buClr>
                <a:schemeClr val="dk1"/>
              </a:buClr>
              <a:buSzPts val="2200"/>
              <a:buChar char="•"/>
            </a:pPr>
            <a:r>
              <a:rPr lang="en-US">
                <a:latin typeface="Arial"/>
                <a:ea typeface="Arial"/>
                <a:cs typeface="Arial"/>
                <a:sym typeface="Arial"/>
              </a:rPr>
              <a:t>● What would success look like?</a:t>
            </a:r>
            <a:endParaRPr/>
          </a:p>
          <a:p>
            <a:pPr marL="228600" lvl="0" indent="-228600" algn="l" rtl="0">
              <a:lnSpc>
                <a:spcPct val="90000"/>
              </a:lnSpc>
              <a:spcBef>
                <a:spcPts val="1000"/>
              </a:spcBef>
              <a:spcAft>
                <a:spcPts val="0"/>
              </a:spcAft>
              <a:buClr>
                <a:schemeClr val="dk1"/>
              </a:buClr>
              <a:buSzPts val="2200"/>
              <a:buChar char="•"/>
            </a:pPr>
            <a:r>
              <a:rPr lang="en-US">
                <a:latin typeface="Arial"/>
                <a:ea typeface="Arial"/>
                <a:cs typeface="Arial"/>
                <a:sym typeface="Arial"/>
              </a:rPr>
              <a:t>● Who is the target audience of this intervention?</a:t>
            </a:r>
            <a:endParaRPr/>
          </a:p>
          <a:p>
            <a:pPr marL="228600" lvl="0" indent="-228600" algn="l" rtl="0">
              <a:lnSpc>
                <a:spcPct val="90000"/>
              </a:lnSpc>
              <a:spcBef>
                <a:spcPts val="1000"/>
              </a:spcBef>
              <a:spcAft>
                <a:spcPts val="0"/>
              </a:spcAft>
              <a:buClr>
                <a:schemeClr val="dk1"/>
              </a:buClr>
              <a:buSzPts val="2200"/>
              <a:buChar char="•"/>
            </a:pPr>
            <a:r>
              <a:rPr lang="en-US">
                <a:latin typeface="Arial"/>
                <a:ea typeface="Arial"/>
                <a:cs typeface="Arial"/>
                <a:sym typeface="Arial"/>
              </a:rPr>
              <a:t>● Who are the people or organizations in charge of implementing this intervention?</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279"/>
        <p:cNvGrpSpPr/>
        <p:nvPr/>
      </p:nvGrpSpPr>
      <p:grpSpPr>
        <a:xfrm>
          <a:off x="0" y="0"/>
          <a:ext cx="0" cy="0"/>
          <a:chOff x="0" y="0"/>
          <a:chExt cx="0" cy="0"/>
        </a:xfrm>
      </p:grpSpPr>
      <p:sp>
        <p:nvSpPr>
          <p:cNvPr id="280" name="Google Shape;280;p10"/>
          <p:cNvSpPr txBox="1">
            <a:spLocks noGrp="1"/>
          </p:cNvSpPr>
          <p:nvPr>
            <p:ph type="title"/>
          </p:nvPr>
        </p:nvSpPr>
        <p:spPr>
          <a:xfrm>
            <a:off x="2895600" y="764373"/>
            <a:ext cx="8610600" cy="1293028"/>
          </a:xfrm>
          <a:prstGeom prst="rect">
            <a:avLst/>
          </a:prstGeom>
          <a:noFill/>
          <a:ln>
            <a:noFill/>
          </a:ln>
        </p:spPr>
        <p:txBody>
          <a:bodyPr spcFirstLastPara="1" wrap="square" lIns="91425" tIns="45700" rIns="91425" bIns="45700" anchor="ctr" anchorCtr="0">
            <a:normAutofit fontScale="90000"/>
          </a:bodyPr>
          <a:lstStyle/>
          <a:p>
            <a:pPr marL="0" lvl="0" indent="0" algn="r" rtl="0">
              <a:lnSpc>
                <a:spcPct val="90000"/>
              </a:lnSpc>
              <a:spcBef>
                <a:spcPts val="0"/>
              </a:spcBef>
              <a:spcAft>
                <a:spcPts val="0"/>
              </a:spcAft>
              <a:buClr>
                <a:schemeClr val="dk1"/>
              </a:buClr>
              <a:buSzPct val="100000"/>
              <a:buFont typeface="Arial"/>
              <a:buNone/>
            </a:pPr>
            <a:r>
              <a:rPr lang="en-US">
                <a:latin typeface="Arial"/>
                <a:ea typeface="Arial"/>
                <a:cs typeface="Arial"/>
                <a:sym typeface="Arial"/>
              </a:rPr>
              <a:t>BRIEF DESCRIPTION OF INTERVENTION</a:t>
            </a:r>
            <a:br>
              <a:rPr lang="en-US">
                <a:latin typeface="Arial"/>
                <a:ea typeface="Arial"/>
                <a:cs typeface="Arial"/>
                <a:sym typeface="Arial"/>
              </a:rPr>
            </a:br>
            <a:endParaRPr/>
          </a:p>
        </p:txBody>
      </p:sp>
      <p:sp>
        <p:nvSpPr>
          <p:cNvPr id="281" name="Google Shape;281;p10"/>
          <p:cNvSpPr txBox="1">
            <a:spLocks noGrp="1"/>
          </p:cNvSpPr>
          <p:nvPr>
            <p:ph type="body" idx="1"/>
          </p:nvPr>
        </p:nvSpPr>
        <p:spPr>
          <a:xfrm>
            <a:off x="685800" y="2194560"/>
            <a:ext cx="10820400" cy="4024125"/>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chemeClr val="dk1"/>
              </a:buClr>
              <a:buSzPts val="2200"/>
              <a:buChar char="•"/>
            </a:pPr>
            <a:r>
              <a:rPr lang="en-US">
                <a:latin typeface="Arial"/>
                <a:ea typeface="Arial"/>
                <a:cs typeface="Arial"/>
                <a:sym typeface="Arial"/>
              </a:rPr>
              <a:t>● What is the issue you are hoping to address?</a:t>
            </a:r>
            <a:endParaRPr/>
          </a:p>
          <a:p>
            <a:pPr marL="228600" lvl="0" indent="-228600" algn="l" rtl="0">
              <a:lnSpc>
                <a:spcPct val="90000"/>
              </a:lnSpc>
              <a:spcBef>
                <a:spcPts val="1000"/>
              </a:spcBef>
              <a:spcAft>
                <a:spcPts val="0"/>
              </a:spcAft>
              <a:buClr>
                <a:schemeClr val="dk1"/>
              </a:buClr>
              <a:buSzPts val="2200"/>
              <a:buChar char="•"/>
            </a:pPr>
            <a:r>
              <a:rPr lang="en-US" b="1" i="0">
                <a:latin typeface="Arial"/>
                <a:ea typeface="Arial"/>
                <a:cs typeface="Arial"/>
                <a:sym typeface="Arial"/>
              </a:rPr>
              <a:t>Issue Addressed</a:t>
            </a:r>
            <a:r>
              <a:rPr lang="en-US" b="0" i="0">
                <a:solidFill>
                  <a:srgbClr val="374151"/>
                </a:solidFill>
                <a:latin typeface="Arial"/>
                <a:ea typeface="Arial"/>
                <a:cs typeface="Arial"/>
                <a:sym typeface="Arial"/>
              </a:rPr>
              <a:t>: The primary issue aimed at addressing through this intervention is the high rate of substance abuse among adolescents in Oregon, which mirrors a broader national trend. Substance abuse in this age group can lead to a multitude of problems including poor academic performance, mental health issues, and a potential lifetime of addiction.</a:t>
            </a:r>
            <a:endParaRPr>
              <a:latin typeface="Arial"/>
              <a:ea typeface="Arial"/>
              <a:cs typeface="Arial"/>
              <a:sym typeface="Arial"/>
            </a:endParaRPr>
          </a:p>
          <a:p>
            <a:pPr marL="228600" lvl="0" indent="-228600" algn="l" rtl="0">
              <a:lnSpc>
                <a:spcPct val="90000"/>
              </a:lnSpc>
              <a:spcBef>
                <a:spcPts val="1000"/>
              </a:spcBef>
              <a:spcAft>
                <a:spcPts val="0"/>
              </a:spcAft>
              <a:buClr>
                <a:schemeClr val="dk1"/>
              </a:buClr>
              <a:buSzPts val="2200"/>
              <a:buChar char="•"/>
            </a:pPr>
            <a:r>
              <a:rPr lang="en-US">
                <a:latin typeface="Arial"/>
                <a:ea typeface="Arial"/>
                <a:cs typeface="Arial"/>
                <a:sym typeface="Arial"/>
              </a:rPr>
              <a:t>● What would success look like?</a:t>
            </a:r>
            <a:endParaRPr/>
          </a:p>
          <a:p>
            <a:pPr marL="228600" lvl="0" indent="-228600" algn="l" rtl="0">
              <a:lnSpc>
                <a:spcPct val="90000"/>
              </a:lnSpc>
              <a:spcBef>
                <a:spcPts val="1000"/>
              </a:spcBef>
              <a:spcAft>
                <a:spcPts val="0"/>
              </a:spcAft>
              <a:buClr>
                <a:schemeClr val="dk1"/>
              </a:buClr>
              <a:buSzPts val="2200"/>
              <a:buChar char="•"/>
            </a:pPr>
            <a:r>
              <a:rPr lang="en-US">
                <a:latin typeface="Arial"/>
                <a:ea typeface="Arial"/>
                <a:cs typeface="Arial"/>
                <a:sym typeface="Arial"/>
              </a:rPr>
              <a:t>● Who is the target audience of this intervention?</a:t>
            </a:r>
            <a:endParaRPr/>
          </a:p>
          <a:p>
            <a:pPr marL="228600" lvl="0" indent="-228600" algn="l" rtl="0">
              <a:lnSpc>
                <a:spcPct val="90000"/>
              </a:lnSpc>
              <a:spcBef>
                <a:spcPts val="1000"/>
              </a:spcBef>
              <a:spcAft>
                <a:spcPts val="0"/>
              </a:spcAft>
              <a:buClr>
                <a:schemeClr val="dk1"/>
              </a:buClr>
              <a:buSzPts val="2200"/>
              <a:buChar char="•"/>
            </a:pPr>
            <a:r>
              <a:rPr lang="en-US">
                <a:latin typeface="Arial"/>
                <a:ea typeface="Arial"/>
                <a:cs typeface="Arial"/>
                <a:sym typeface="Arial"/>
              </a:rPr>
              <a:t>● Who are the people or organizations in charge of implementing this intervention?</a:t>
            </a:r>
            <a:endParaRPr>
              <a:latin typeface="Arial"/>
              <a:ea typeface="Arial"/>
              <a:cs typeface="Arial"/>
              <a:sym typeface="Arial"/>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85"/>
        <p:cNvGrpSpPr/>
        <p:nvPr/>
      </p:nvGrpSpPr>
      <p:grpSpPr>
        <a:xfrm>
          <a:off x="0" y="0"/>
          <a:ext cx="0" cy="0"/>
          <a:chOff x="0" y="0"/>
          <a:chExt cx="0" cy="0"/>
        </a:xfrm>
      </p:grpSpPr>
      <p:sp>
        <p:nvSpPr>
          <p:cNvPr id="286" name="Google Shape;286;p11"/>
          <p:cNvSpPr txBox="1">
            <a:spLocks noGrp="1"/>
          </p:cNvSpPr>
          <p:nvPr>
            <p:ph type="title"/>
          </p:nvPr>
        </p:nvSpPr>
        <p:spPr>
          <a:xfrm>
            <a:off x="2895600" y="764373"/>
            <a:ext cx="8610600" cy="1293028"/>
          </a:xfrm>
          <a:prstGeom prst="rect">
            <a:avLst/>
          </a:prstGeom>
          <a:noFill/>
          <a:ln>
            <a:noFill/>
          </a:ln>
        </p:spPr>
        <p:txBody>
          <a:bodyPr spcFirstLastPara="1" wrap="square" lIns="91425" tIns="45700" rIns="91425" bIns="45700" anchor="ctr" anchorCtr="0">
            <a:normAutofit fontScale="90000"/>
          </a:bodyPr>
          <a:lstStyle/>
          <a:p>
            <a:pPr marL="0" lvl="0" indent="0" algn="r" rtl="0">
              <a:lnSpc>
                <a:spcPct val="90000"/>
              </a:lnSpc>
              <a:spcBef>
                <a:spcPts val="0"/>
              </a:spcBef>
              <a:spcAft>
                <a:spcPts val="0"/>
              </a:spcAft>
              <a:buClr>
                <a:schemeClr val="dk1"/>
              </a:buClr>
              <a:buSzPct val="100000"/>
              <a:buFont typeface="Arial"/>
              <a:buNone/>
            </a:pPr>
            <a:r>
              <a:rPr lang="en-US">
                <a:latin typeface="Arial"/>
                <a:ea typeface="Arial"/>
                <a:cs typeface="Arial"/>
                <a:sym typeface="Arial"/>
              </a:rPr>
              <a:t>BRIEF DESCRIPTION OF INTERVENTION</a:t>
            </a:r>
            <a:br>
              <a:rPr lang="en-US">
                <a:latin typeface="Arial"/>
                <a:ea typeface="Arial"/>
                <a:cs typeface="Arial"/>
                <a:sym typeface="Arial"/>
              </a:rPr>
            </a:br>
            <a:endParaRPr/>
          </a:p>
        </p:txBody>
      </p:sp>
      <p:sp>
        <p:nvSpPr>
          <p:cNvPr id="287" name="Google Shape;287;p11"/>
          <p:cNvSpPr txBox="1">
            <a:spLocks noGrp="1"/>
          </p:cNvSpPr>
          <p:nvPr>
            <p:ph type="body" idx="1"/>
          </p:nvPr>
        </p:nvSpPr>
        <p:spPr>
          <a:xfrm>
            <a:off x="685800" y="2194560"/>
            <a:ext cx="10820400" cy="4024125"/>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chemeClr val="dk1"/>
              </a:buClr>
              <a:buSzPts val="2200"/>
              <a:buChar char="•"/>
            </a:pPr>
            <a:r>
              <a:rPr lang="en-US">
                <a:latin typeface="Arial"/>
                <a:ea typeface="Arial"/>
                <a:cs typeface="Arial"/>
                <a:sym typeface="Arial"/>
              </a:rPr>
              <a:t>● What is the issue you are hoping to address?</a:t>
            </a:r>
            <a:endParaRPr/>
          </a:p>
          <a:p>
            <a:pPr marL="228600" lvl="0" indent="-228600" algn="l" rtl="0">
              <a:lnSpc>
                <a:spcPct val="90000"/>
              </a:lnSpc>
              <a:spcBef>
                <a:spcPts val="1000"/>
              </a:spcBef>
              <a:spcAft>
                <a:spcPts val="0"/>
              </a:spcAft>
              <a:buClr>
                <a:schemeClr val="dk1"/>
              </a:buClr>
              <a:buSzPts val="2200"/>
              <a:buChar char="•"/>
            </a:pPr>
            <a:r>
              <a:rPr lang="en-US">
                <a:latin typeface="Arial"/>
                <a:ea typeface="Arial"/>
                <a:cs typeface="Arial"/>
                <a:sym typeface="Arial"/>
              </a:rPr>
              <a:t>● What would success look like?</a:t>
            </a:r>
            <a:endParaRPr/>
          </a:p>
          <a:p>
            <a:pPr marL="228600" lvl="0" indent="-228600" algn="l" rtl="0">
              <a:lnSpc>
                <a:spcPct val="90000"/>
              </a:lnSpc>
              <a:spcBef>
                <a:spcPts val="1000"/>
              </a:spcBef>
              <a:spcAft>
                <a:spcPts val="0"/>
              </a:spcAft>
              <a:buClr>
                <a:schemeClr val="dk1"/>
              </a:buClr>
              <a:buSzPts val="2200"/>
              <a:buChar char="•"/>
            </a:pPr>
            <a:r>
              <a:rPr lang="en-US" b="1" i="0">
                <a:latin typeface="Arial"/>
                <a:ea typeface="Arial"/>
                <a:cs typeface="Arial"/>
                <a:sym typeface="Arial"/>
              </a:rPr>
              <a:t>Vision of Success</a:t>
            </a:r>
            <a:r>
              <a:rPr lang="en-US" b="0" i="0">
                <a:solidFill>
                  <a:srgbClr val="374151"/>
                </a:solidFill>
                <a:latin typeface="Arial"/>
                <a:ea typeface="Arial"/>
                <a:cs typeface="Arial"/>
                <a:sym typeface="Arial"/>
              </a:rPr>
              <a:t>: Success would manifest as a significant reduction in the rates of substance abuse among adolescents within the community. This would be measured through a decrease in the percentage of teens reporting drug and alcohol use, improved academic performances, better mental health statistics, and a reduced rate of substance-related incidents within the community.</a:t>
            </a:r>
            <a:endParaRPr>
              <a:latin typeface="Arial"/>
              <a:ea typeface="Arial"/>
              <a:cs typeface="Arial"/>
              <a:sym typeface="Arial"/>
            </a:endParaRPr>
          </a:p>
          <a:p>
            <a:pPr marL="228600" lvl="0" indent="-228600" algn="l" rtl="0">
              <a:lnSpc>
                <a:spcPct val="90000"/>
              </a:lnSpc>
              <a:spcBef>
                <a:spcPts val="1000"/>
              </a:spcBef>
              <a:spcAft>
                <a:spcPts val="0"/>
              </a:spcAft>
              <a:buClr>
                <a:schemeClr val="dk1"/>
              </a:buClr>
              <a:buSzPts val="2200"/>
              <a:buChar char="•"/>
            </a:pPr>
            <a:r>
              <a:rPr lang="en-US">
                <a:latin typeface="Arial"/>
                <a:ea typeface="Arial"/>
                <a:cs typeface="Arial"/>
                <a:sym typeface="Arial"/>
              </a:rPr>
              <a:t>● Who is the target audience of this intervention?</a:t>
            </a:r>
            <a:endParaRPr/>
          </a:p>
          <a:p>
            <a:pPr marL="228600" lvl="0" indent="-228600" algn="l" rtl="0">
              <a:lnSpc>
                <a:spcPct val="90000"/>
              </a:lnSpc>
              <a:spcBef>
                <a:spcPts val="1000"/>
              </a:spcBef>
              <a:spcAft>
                <a:spcPts val="0"/>
              </a:spcAft>
              <a:buClr>
                <a:schemeClr val="dk1"/>
              </a:buClr>
              <a:buSzPts val="2200"/>
              <a:buChar char="•"/>
            </a:pPr>
            <a:r>
              <a:rPr lang="en-US">
                <a:latin typeface="Arial"/>
                <a:ea typeface="Arial"/>
                <a:cs typeface="Arial"/>
                <a:sym typeface="Arial"/>
              </a:rPr>
              <a:t>● Who are the people or organizations in charge of implementing this intervention?</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91"/>
        <p:cNvGrpSpPr/>
        <p:nvPr/>
      </p:nvGrpSpPr>
      <p:grpSpPr>
        <a:xfrm>
          <a:off x="0" y="0"/>
          <a:ext cx="0" cy="0"/>
          <a:chOff x="0" y="0"/>
          <a:chExt cx="0" cy="0"/>
        </a:xfrm>
      </p:grpSpPr>
      <p:sp>
        <p:nvSpPr>
          <p:cNvPr id="292" name="Google Shape;292;p12"/>
          <p:cNvSpPr txBox="1">
            <a:spLocks noGrp="1"/>
          </p:cNvSpPr>
          <p:nvPr>
            <p:ph type="title"/>
          </p:nvPr>
        </p:nvSpPr>
        <p:spPr>
          <a:xfrm>
            <a:off x="2895600" y="764373"/>
            <a:ext cx="8610600" cy="1293028"/>
          </a:xfrm>
          <a:prstGeom prst="rect">
            <a:avLst/>
          </a:prstGeom>
          <a:noFill/>
          <a:ln>
            <a:noFill/>
          </a:ln>
        </p:spPr>
        <p:txBody>
          <a:bodyPr spcFirstLastPara="1" wrap="square" lIns="91425" tIns="45700" rIns="91425" bIns="45700" anchor="ctr" anchorCtr="0">
            <a:normAutofit fontScale="90000"/>
          </a:bodyPr>
          <a:lstStyle/>
          <a:p>
            <a:pPr marL="0" lvl="0" indent="0" algn="r" rtl="0">
              <a:lnSpc>
                <a:spcPct val="90000"/>
              </a:lnSpc>
              <a:spcBef>
                <a:spcPts val="0"/>
              </a:spcBef>
              <a:spcAft>
                <a:spcPts val="0"/>
              </a:spcAft>
              <a:buClr>
                <a:schemeClr val="dk1"/>
              </a:buClr>
              <a:buSzPct val="100000"/>
              <a:buFont typeface="Arial"/>
              <a:buNone/>
            </a:pPr>
            <a:r>
              <a:rPr lang="en-US">
                <a:latin typeface="Arial"/>
                <a:ea typeface="Arial"/>
                <a:cs typeface="Arial"/>
                <a:sym typeface="Arial"/>
              </a:rPr>
              <a:t>BRIEF DESCRIPTION OF INTERVENTION</a:t>
            </a:r>
            <a:br>
              <a:rPr lang="en-US">
                <a:latin typeface="Arial"/>
                <a:ea typeface="Arial"/>
                <a:cs typeface="Arial"/>
                <a:sym typeface="Arial"/>
              </a:rPr>
            </a:br>
            <a:endParaRPr/>
          </a:p>
        </p:txBody>
      </p:sp>
      <p:sp>
        <p:nvSpPr>
          <p:cNvPr id="293" name="Google Shape;293;p12"/>
          <p:cNvSpPr txBox="1">
            <a:spLocks noGrp="1"/>
          </p:cNvSpPr>
          <p:nvPr>
            <p:ph type="body" idx="1"/>
          </p:nvPr>
        </p:nvSpPr>
        <p:spPr>
          <a:xfrm>
            <a:off x="685800" y="2194560"/>
            <a:ext cx="10820400" cy="4024125"/>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chemeClr val="dk1"/>
              </a:buClr>
              <a:buSzPts val="2200"/>
              <a:buChar char="•"/>
            </a:pPr>
            <a:r>
              <a:rPr lang="en-US">
                <a:latin typeface="Arial"/>
                <a:ea typeface="Arial"/>
                <a:cs typeface="Arial"/>
                <a:sym typeface="Arial"/>
              </a:rPr>
              <a:t>● What is the issue you are hoping to address?</a:t>
            </a:r>
            <a:endParaRPr/>
          </a:p>
          <a:p>
            <a:pPr marL="228600" lvl="0" indent="-228600" algn="l" rtl="0">
              <a:lnSpc>
                <a:spcPct val="90000"/>
              </a:lnSpc>
              <a:spcBef>
                <a:spcPts val="1000"/>
              </a:spcBef>
              <a:spcAft>
                <a:spcPts val="0"/>
              </a:spcAft>
              <a:buClr>
                <a:schemeClr val="dk1"/>
              </a:buClr>
              <a:buSzPts val="2200"/>
              <a:buChar char="•"/>
            </a:pPr>
            <a:r>
              <a:rPr lang="en-US">
                <a:latin typeface="Arial"/>
                <a:ea typeface="Arial"/>
                <a:cs typeface="Arial"/>
                <a:sym typeface="Arial"/>
              </a:rPr>
              <a:t>● What would success look like?</a:t>
            </a:r>
            <a:endParaRPr/>
          </a:p>
          <a:p>
            <a:pPr marL="228600" lvl="0" indent="-228600" algn="l" rtl="0">
              <a:lnSpc>
                <a:spcPct val="90000"/>
              </a:lnSpc>
              <a:spcBef>
                <a:spcPts val="1000"/>
              </a:spcBef>
              <a:spcAft>
                <a:spcPts val="0"/>
              </a:spcAft>
              <a:buClr>
                <a:schemeClr val="dk1"/>
              </a:buClr>
              <a:buSzPts val="2200"/>
              <a:buChar char="•"/>
            </a:pPr>
            <a:r>
              <a:rPr lang="en-US">
                <a:latin typeface="Arial"/>
                <a:ea typeface="Arial"/>
                <a:cs typeface="Arial"/>
                <a:sym typeface="Arial"/>
              </a:rPr>
              <a:t>● Who is the target audience of this intervention?</a:t>
            </a:r>
            <a:endParaRPr/>
          </a:p>
          <a:p>
            <a:pPr marL="228600" lvl="0" indent="-228600" algn="l" rtl="0">
              <a:lnSpc>
                <a:spcPct val="90000"/>
              </a:lnSpc>
              <a:spcBef>
                <a:spcPts val="1000"/>
              </a:spcBef>
              <a:spcAft>
                <a:spcPts val="0"/>
              </a:spcAft>
              <a:buClr>
                <a:schemeClr val="dk1"/>
              </a:buClr>
              <a:buSzPts val="2200"/>
              <a:buChar char="•"/>
            </a:pPr>
            <a:r>
              <a:rPr lang="en-US" b="1" i="0">
                <a:latin typeface="Arial"/>
                <a:ea typeface="Arial"/>
                <a:cs typeface="Arial"/>
                <a:sym typeface="Arial"/>
              </a:rPr>
              <a:t>Target Audience</a:t>
            </a:r>
            <a:r>
              <a:rPr lang="en-US" b="0" i="0">
                <a:solidFill>
                  <a:srgbClr val="374151"/>
                </a:solidFill>
                <a:latin typeface="Arial"/>
                <a:ea typeface="Arial"/>
                <a:cs typeface="Arial"/>
                <a:sym typeface="Arial"/>
              </a:rPr>
              <a:t>: The core target audience for this intervention is adolescents aged 12 to 20 residing in Oregon, with a particular focus on those in lower socioeconomic statuses as they often have less access to preventative resources and treatment.</a:t>
            </a:r>
            <a:endParaRPr>
              <a:latin typeface="Arial"/>
              <a:ea typeface="Arial"/>
              <a:cs typeface="Arial"/>
              <a:sym typeface="Arial"/>
            </a:endParaRPr>
          </a:p>
          <a:p>
            <a:pPr marL="228600" lvl="0" indent="-228600" algn="l" rtl="0">
              <a:lnSpc>
                <a:spcPct val="90000"/>
              </a:lnSpc>
              <a:spcBef>
                <a:spcPts val="1000"/>
              </a:spcBef>
              <a:spcAft>
                <a:spcPts val="0"/>
              </a:spcAft>
              <a:buClr>
                <a:schemeClr val="dk1"/>
              </a:buClr>
              <a:buSzPts val="2200"/>
              <a:buChar char="•"/>
            </a:pPr>
            <a:r>
              <a:rPr lang="en-US">
                <a:latin typeface="Arial"/>
                <a:ea typeface="Arial"/>
                <a:cs typeface="Arial"/>
                <a:sym typeface="Arial"/>
              </a:rPr>
              <a:t>● Who are the people or organizations in charge of implementing this intervention?</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97"/>
        <p:cNvGrpSpPr/>
        <p:nvPr/>
      </p:nvGrpSpPr>
      <p:grpSpPr>
        <a:xfrm>
          <a:off x="0" y="0"/>
          <a:ext cx="0" cy="0"/>
          <a:chOff x="0" y="0"/>
          <a:chExt cx="0" cy="0"/>
        </a:xfrm>
      </p:grpSpPr>
      <p:sp>
        <p:nvSpPr>
          <p:cNvPr id="298" name="Google Shape;298;p13"/>
          <p:cNvSpPr txBox="1">
            <a:spLocks noGrp="1"/>
          </p:cNvSpPr>
          <p:nvPr>
            <p:ph type="title"/>
          </p:nvPr>
        </p:nvSpPr>
        <p:spPr>
          <a:xfrm>
            <a:off x="2895600" y="764373"/>
            <a:ext cx="8610600" cy="1293028"/>
          </a:xfrm>
          <a:prstGeom prst="rect">
            <a:avLst/>
          </a:prstGeom>
          <a:noFill/>
          <a:ln>
            <a:noFill/>
          </a:ln>
        </p:spPr>
        <p:txBody>
          <a:bodyPr spcFirstLastPara="1" wrap="square" lIns="91425" tIns="45700" rIns="91425" bIns="45700" anchor="ctr" anchorCtr="0">
            <a:normAutofit fontScale="90000"/>
          </a:bodyPr>
          <a:lstStyle/>
          <a:p>
            <a:pPr marL="0" lvl="0" indent="0" algn="r" rtl="0">
              <a:lnSpc>
                <a:spcPct val="90000"/>
              </a:lnSpc>
              <a:spcBef>
                <a:spcPts val="0"/>
              </a:spcBef>
              <a:spcAft>
                <a:spcPts val="0"/>
              </a:spcAft>
              <a:buClr>
                <a:schemeClr val="dk1"/>
              </a:buClr>
              <a:buSzPct val="100000"/>
              <a:buFont typeface="Arial"/>
              <a:buNone/>
            </a:pPr>
            <a:r>
              <a:rPr lang="en-US">
                <a:latin typeface="Arial"/>
                <a:ea typeface="Arial"/>
                <a:cs typeface="Arial"/>
                <a:sym typeface="Arial"/>
              </a:rPr>
              <a:t>BRIEF DESCRIPTION OF INTERVENTION</a:t>
            </a:r>
            <a:br>
              <a:rPr lang="en-US">
                <a:latin typeface="Arial"/>
                <a:ea typeface="Arial"/>
                <a:cs typeface="Arial"/>
                <a:sym typeface="Arial"/>
              </a:rPr>
            </a:br>
            <a:endParaRPr/>
          </a:p>
        </p:txBody>
      </p:sp>
      <p:sp>
        <p:nvSpPr>
          <p:cNvPr id="299" name="Google Shape;299;p13"/>
          <p:cNvSpPr txBox="1">
            <a:spLocks noGrp="1"/>
          </p:cNvSpPr>
          <p:nvPr>
            <p:ph type="body" idx="1"/>
          </p:nvPr>
        </p:nvSpPr>
        <p:spPr>
          <a:xfrm>
            <a:off x="685800" y="2194560"/>
            <a:ext cx="10820400" cy="4024125"/>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chemeClr val="dk1"/>
              </a:buClr>
              <a:buSzPts val="2200"/>
              <a:buChar char="•"/>
            </a:pPr>
            <a:r>
              <a:rPr lang="en-US">
                <a:latin typeface="Arial"/>
                <a:ea typeface="Arial"/>
                <a:cs typeface="Arial"/>
                <a:sym typeface="Arial"/>
              </a:rPr>
              <a:t>● What is the issue you are hoping to address?</a:t>
            </a:r>
            <a:endParaRPr/>
          </a:p>
          <a:p>
            <a:pPr marL="228600" lvl="0" indent="-228600" algn="l" rtl="0">
              <a:lnSpc>
                <a:spcPct val="90000"/>
              </a:lnSpc>
              <a:spcBef>
                <a:spcPts val="1000"/>
              </a:spcBef>
              <a:spcAft>
                <a:spcPts val="0"/>
              </a:spcAft>
              <a:buClr>
                <a:schemeClr val="dk1"/>
              </a:buClr>
              <a:buSzPts val="2200"/>
              <a:buChar char="•"/>
            </a:pPr>
            <a:r>
              <a:rPr lang="en-US">
                <a:latin typeface="Arial"/>
                <a:ea typeface="Arial"/>
                <a:cs typeface="Arial"/>
                <a:sym typeface="Arial"/>
              </a:rPr>
              <a:t>● What would success look like?</a:t>
            </a:r>
            <a:endParaRPr/>
          </a:p>
          <a:p>
            <a:pPr marL="228600" lvl="0" indent="-228600" algn="l" rtl="0">
              <a:lnSpc>
                <a:spcPct val="90000"/>
              </a:lnSpc>
              <a:spcBef>
                <a:spcPts val="1000"/>
              </a:spcBef>
              <a:spcAft>
                <a:spcPts val="0"/>
              </a:spcAft>
              <a:buClr>
                <a:schemeClr val="dk1"/>
              </a:buClr>
              <a:buSzPts val="2200"/>
              <a:buChar char="•"/>
            </a:pPr>
            <a:r>
              <a:rPr lang="en-US">
                <a:latin typeface="Arial"/>
                <a:ea typeface="Arial"/>
                <a:cs typeface="Arial"/>
                <a:sym typeface="Arial"/>
              </a:rPr>
              <a:t>● Who is the target audience of this intervention?</a:t>
            </a:r>
            <a:endParaRPr/>
          </a:p>
          <a:p>
            <a:pPr marL="228600" lvl="0" indent="-228600" algn="l" rtl="0">
              <a:lnSpc>
                <a:spcPct val="90000"/>
              </a:lnSpc>
              <a:spcBef>
                <a:spcPts val="1000"/>
              </a:spcBef>
              <a:spcAft>
                <a:spcPts val="0"/>
              </a:spcAft>
              <a:buClr>
                <a:schemeClr val="dk1"/>
              </a:buClr>
              <a:buSzPts val="2200"/>
              <a:buChar char="•"/>
            </a:pPr>
            <a:r>
              <a:rPr lang="en-US">
                <a:latin typeface="Arial"/>
                <a:ea typeface="Arial"/>
                <a:cs typeface="Arial"/>
                <a:sym typeface="Arial"/>
              </a:rPr>
              <a:t>● Who are the people or organizations in charge of implementing this intervention?</a:t>
            </a:r>
            <a:endParaRPr/>
          </a:p>
          <a:p>
            <a:pPr marL="228600" lvl="0" indent="-228600" algn="l" rtl="0">
              <a:lnSpc>
                <a:spcPct val="90000"/>
              </a:lnSpc>
              <a:spcBef>
                <a:spcPts val="1000"/>
              </a:spcBef>
              <a:spcAft>
                <a:spcPts val="0"/>
              </a:spcAft>
              <a:buClr>
                <a:schemeClr val="dk1"/>
              </a:buClr>
              <a:buSzPts val="2200"/>
              <a:buChar char="•"/>
            </a:pPr>
            <a:r>
              <a:rPr lang="en-US" b="1" i="0">
                <a:latin typeface="Arial"/>
                <a:ea typeface="Arial"/>
                <a:cs typeface="Arial"/>
                <a:sym typeface="Arial"/>
              </a:rPr>
              <a:t>Implementing Bodies</a:t>
            </a:r>
            <a:r>
              <a:rPr lang="en-US" b="0" i="0">
                <a:solidFill>
                  <a:srgbClr val="374151"/>
                </a:solidFill>
                <a:latin typeface="Arial"/>
                <a:ea typeface="Arial"/>
                <a:cs typeface="Arial"/>
                <a:sym typeface="Arial"/>
              </a:rPr>
              <a:t>: The intervention will be spearheaded by a coalition comprising the Oregon Health Authority, local schools, community organizations specializing in substance abuse prevention, and local healthcare providers. Engaging a diverse group of stakeholders will ensure a holistic approach to addressing adolescent substance abuse in Oregon, while also fostering community buy-in and sustainability.</a:t>
            </a:r>
            <a:endParaRPr>
              <a:latin typeface="Arial"/>
              <a:ea typeface="Arial"/>
              <a:cs typeface="Arial"/>
              <a:sym typeface="Arial"/>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303"/>
        <p:cNvGrpSpPr/>
        <p:nvPr/>
      </p:nvGrpSpPr>
      <p:grpSpPr>
        <a:xfrm>
          <a:off x="0" y="0"/>
          <a:ext cx="0" cy="0"/>
          <a:chOff x="0" y="0"/>
          <a:chExt cx="0" cy="0"/>
        </a:xfrm>
      </p:grpSpPr>
      <p:pic>
        <p:nvPicPr>
          <p:cNvPr id="304" name="Google Shape;304;p14"/>
          <p:cNvPicPr preferRelativeResize="0"/>
          <p:nvPr/>
        </p:nvPicPr>
        <p:blipFill rotWithShape="1">
          <a:blip r:embed="rId3">
            <a:alphaModFix/>
          </a:blip>
          <a:srcRect/>
          <a:stretch/>
        </p:blipFill>
        <p:spPr>
          <a:xfrm>
            <a:off x="0" y="0"/>
            <a:ext cx="12192000" cy="1441450"/>
          </a:xfrm>
          <a:prstGeom prst="rect">
            <a:avLst/>
          </a:prstGeom>
          <a:noFill/>
          <a:ln>
            <a:noFill/>
          </a:ln>
        </p:spPr>
      </p:pic>
      <p:pic>
        <p:nvPicPr>
          <p:cNvPr id="305" name="Google Shape;305;p14"/>
          <p:cNvPicPr preferRelativeResize="0"/>
          <p:nvPr/>
        </p:nvPicPr>
        <p:blipFill rotWithShape="1">
          <a:blip r:embed="rId4">
            <a:alphaModFix/>
          </a:blip>
          <a:srcRect/>
          <a:stretch/>
        </p:blipFill>
        <p:spPr>
          <a:xfrm>
            <a:off x="0" y="4375150"/>
            <a:ext cx="12192000" cy="2482850"/>
          </a:xfrm>
          <a:prstGeom prst="rect">
            <a:avLst/>
          </a:prstGeom>
          <a:noFill/>
          <a:ln>
            <a:noFill/>
          </a:ln>
        </p:spPr>
      </p:pic>
      <p:sp>
        <p:nvSpPr>
          <p:cNvPr id="306" name="Google Shape;306;p14"/>
          <p:cNvSpPr/>
          <p:nvPr/>
        </p:nvSpPr>
        <p:spPr>
          <a:xfrm>
            <a:off x="0" y="4360126"/>
            <a:ext cx="12192000" cy="2497873"/>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entury Gothic"/>
              <a:ea typeface="Century Gothic"/>
              <a:cs typeface="Century Gothic"/>
              <a:sym typeface="Century Gothic"/>
            </a:endParaRPr>
          </a:p>
        </p:txBody>
      </p:sp>
      <p:sp>
        <p:nvSpPr>
          <p:cNvPr id="307" name="Google Shape;307;p14"/>
          <p:cNvSpPr txBox="1">
            <a:spLocks noGrp="1"/>
          </p:cNvSpPr>
          <p:nvPr>
            <p:ph type="title"/>
          </p:nvPr>
        </p:nvSpPr>
        <p:spPr>
          <a:xfrm>
            <a:off x="685800" y="4698999"/>
            <a:ext cx="10820400" cy="821268"/>
          </a:xfrm>
          <a:prstGeom prst="rect">
            <a:avLst/>
          </a:prstGeom>
          <a:noFill/>
          <a:ln>
            <a:noFill/>
          </a:ln>
        </p:spPr>
        <p:txBody>
          <a:bodyPr spcFirstLastPara="1" wrap="square" lIns="91425" tIns="45700" rIns="91425" bIns="45700" anchor="b" anchorCtr="0">
            <a:normAutofit/>
          </a:bodyPr>
          <a:lstStyle/>
          <a:p>
            <a:pPr marL="0" lvl="0" indent="0" algn="l" rtl="0">
              <a:lnSpc>
                <a:spcPct val="90000"/>
              </a:lnSpc>
              <a:spcBef>
                <a:spcPts val="0"/>
              </a:spcBef>
              <a:spcAft>
                <a:spcPts val="0"/>
              </a:spcAft>
              <a:buClr>
                <a:schemeClr val="dk1"/>
              </a:buClr>
              <a:buSzPts val="4400"/>
              <a:buFont typeface="Century Gothic"/>
              <a:buNone/>
            </a:pPr>
            <a:r>
              <a:rPr lang="en-US" sz="4400"/>
              <a:t>LOGIC MODEL DIAGRAM</a:t>
            </a:r>
            <a:endParaRPr/>
          </a:p>
        </p:txBody>
      </p:sp>
      <p:graphicFrame>
        <p:nvGraphicFramePr>
          <p:cNvPr id="308" name="Google Shape;308;p14"/>
          <p:cNvGraphicFramePr/>
          <p:nvPr/>
        </p:nvGraphicFramePr>
        <p:xfrm>
          <a:off x="637767" y="1456474"/>
          <a:ext cx="10916450" cy="3293935"/>
        </p:xfrm>
        <a:graphic>
          <a:graphicData uri="http://schemas.openxmlformats.org/drawingml/2006/table">
            <a:tbl>
              <a:tblPr firstRow="1" bandRow="1">
                <a:noFill/>
                <a:tableStyleId>{8751E2B2-6581-4396-936B-94C716D2E7E3}</a:tableStyleId>
              </a:tblPr>
              <a:tblGrid>
                <a:gridCol w="1707875">
                  <a:extLst>
                    <a:ext uri="{9D8B030D-6E8A-4147-A177-3AD203B41FA5}">
                      <a16:colId xmlns:a16="http://schemas.microsoft.com/office/drawing/2014/main" val="20000"/>
                    </a:ext>
                  </a:extLst>
                </a:gridCol>
                <a:gridCol w="2248950">
                  <a:extLst>
                    <a:ext uri="{9D8B030D-6E8A-4147-A177-3AD203B41FA5}">
                      <a16:colId xmlns:a16="http://schemas.microsoft.com/office/drawing/2014/main" val="20001"/>
                    </a:ext>
                  </a:extLst>
                </a:gridCol>
                <a:gridCol w="2279025">
                  <a:extLst>
                    <a:ext uri="{9D8B030D-6E8A-4147-A177-3AD203B41FA5}">
                      <a16:colId xmlns:a16="http://schemas.microsoft.com/office/drawing/2014/main" val="20002"/>
                    </a:ext>
                  </a:extLst>
                </a:gridCol>
                <a:gridCol w="2292900">
                  <a:extLst>
                    <a:ext uri="{9D8B030D-6E8A-4147-A177-3AD203B41FA5}">
                      <a16:colId xmlns:a16="http://schemas.microsoft.com/office/drawing/2014/main" val="20003"/>
                    </a:ext>
                  </a:extLst>
                </a:gridCol>
                <a:gridCol w="2387700">
                  <a:extLst>
                    <a:ext uri="{9D8B030D-6E8A-4147-A177-3AD203B41FA5}">
                      <a16:colId xmlns:a16="http://schemas.microsoft.com/office/drawing/2014/main" val="20004"/>
                    </a:ext>
                  </a:extLst>
                </a:gridCol>
              </a:tblGrid>
              <a:tr h="368500">
                <a:tc>
                  <a:txBody>
                    <a:bodyPr/>
                    <a:lstStyle/>
                    <a:p>
                      <a:pPr marL="0" marR="0" lvl="0" indent="0" algn="l" rtl="0">
                        <a:spcBef>
                          <a:spcPts val="0"/>
                        </a:spcBef>
                        <a:spcAft>
                          <a:spcPts val="0"/>
                        </a:spcAft>
                        <a:buNone/>
                      </a:pPr>
                      <a:r>
                        <a:rPr lang="en-US" sz="1500" b="0" u="none" strike="noStrike" cap="none">
                          <a:solidFill>
                            <a:schemeClr val="lt1"/>
                          </a:solidFill>
                        </a:rPr>
                        <a:t>Inputs</a:t>
                      </a:r>
                      <a:endParaRPr sz="1500" b="0" u="none" strike="noStrike" cap="none">
                        <a:solidFill>
                          <a:schemeClr val="lt1"/>
                        </a:solidFill>
                        <a:latin typeface="Arial"/>
                        <a:ea typeface="Arial"/>
                        <a:cs typeface="Arial"/>
                        <a:sym typeface="Arial"/>
                      </a:endParaRPr>
                    </a:p>
                  </a:txBody>
                  <a:tcPr marL="35175" marR="35175" marT="86275" marB="176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chemeClr val="accent1"/>
                    </a:solidFill>
                  </a:tcPr>
                </a:tc>
                <a:tc>
                  <a:txBody>
                    <a:bodyPr/>
                    <a:lstStyle/>
                    <a:p>
                      <a:pPr marL="0" marR="0" lvl="0" indent="0" algn="l" rtl="0">
                        <a:spcBef>
                          <a:spcPts val="0"/>
                        </a:spcBef>
                        <a:spcAft>
                          <a:spcPts val="0"/>
                        </a:spcAft>
                        <a:buNone/>
                      </a:pPr>
                      <a:r>
                        <a:rPr lang="en-US" sz="1500" b="0" u="none" strike="noStrike" cap="none">
                          <a:solidFill>
                            <a:schemeClr val="lt1"/>
                          </a:solidFill>
                        </a:rPr>
                        <a:t>Activities</a:t>
                      </a:r>
                      <a:endParaRPr sz="1500" b="0" u="none" strike="noStrike" cap="none">
                        <a:solidFill>
                          <a:schemeClr val="lt1"/>
                        </a:solidFill>
                        <a:latin typeface="Arial"/>
                        <a:ea typeface="Arial"/>
                        <a:cs typeface="Arial"/>
                        <a:sym typeface="Arial"/>
                      </a:endParaRPr>
                    </a:p>
                  </a:txBody>
                  <a:tcPr marL="35175" marR="35175" marT="86275" marB="176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chemeClr val="accent1"/>
                    </a:solidFill>
                  </a:tcPr>
                </a:tc>
                <a:tc>
                  <a:txBody>
                    <a:bodyPr/>
                    <a:lstStyle/>
                    <a:p>
                      <a:pPr marL="0" marR="0" lvl="0" indent="0" algn="l" rtl="0">
                        <a:spcBef>
                          <a:spcPts val="0"/>
                        </a:spcBef>
                        <a:spcAft>
                          <a:spcPts val="0"/>
                        </a:spcAft>
                        <a:buNone/>
                      </a:pPr>
                      <a:r>
                        <a:rPr lang="en-US" sz="1500" b="0" u="none" strike="noStrike" cap="none">
                          <a:solidFill>
                            <a:schemeClr val="lt1"/>
                          </a:solidFill>
                        </a:rPr>
                        <a:t>Outputs</a:t>
                      </a:r>
                      <a:endParaRPr sz="1500" b="0" u="none" strike="noStrike" cap="none">
                        <a:solidFill>
                          <a:schemeClr val="lt1"/>
                        </a:solidFill>
                        <a:latin typeface="Arial"/>
                        <a:ea typeface="Arial"/>
                        <a:cs typeface="Arial"/>
                        <a:sym typeface="Arial"/>
                      </a:endParaRPr>
                    </a:p>
                  </a:txBody>
                  <a:tcPr marL="35175" marR="35175" marT="86275" marB="176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chemeClr val="accent1"/>
                    </a:solidFill>
                  </a:tcPr>
                </a:tc>
                <a:tc>
                  <a:txBody>
                    <a:bodyPr/>
                    <a:lstStyle/>
                    <a:p>
                      <a:pPr marL="0" marR="0" lvl="0" indent="0" algn="l" rtl="0">
                        <a:spcBef>
                          <a:spcPts val="0"/>
                        </a:spcBef>
                        <a:spcAft>
                          <a:spcPts val="0"/>
                        </a:spcAft>
                        <a:buNone/>
                      </a:pPr>
                      <a:r>
                        <a:rPr lang="en-US" sz="1500" b="0" u="none" strike="noStrike" cap="none">
                          <a:solidFill>
                            <a:schemeClr val="lt1"/>
                          </a:solidFill>
                        </a:rPr>
                        <a:t>Outcomes</a:t>
                      </a:r>
                      <a:endParaRPr sz="1500" b="0" u="none" strike="noStrike" cap="none">
                        <a:solidFill>
                          <a:schemeClr val="lt1"/>
                        </a:solidFill>
                        <a:latin typeface="Arial"/>
                        <a:ea typeface="Arial"/>
                        <a:cs typeface="Arial"/>
                        <a:sym typeface="Arial"/>
                      </a:endParaRPr>
                    </a:p>
                  </a:txBody>
                  <a:tcPr marL="35175" marR="35175" marT="86275" marB="176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chemeClr val="accent1"/>
                    </a:solidFill>
                  </a:tcPr>
                </a:tc>
                <a:tc>
                  <a:txBody>
                    <a:bodyPr/>
                    <a:lstStyle/>
                    <a:p>
                      <a:pPr marL="0" marR="0" lvl="0" indent="0" algn="l" rtl="0">
                        <a:spcBef>
                          <a:spcPts val="0"/>
                        </a:spcBef>
                        <a:spcAft>
                          <a:spcPts val="0"/>
                        </a:spcAft>
                        <a:buNone/>
                      </a:pPr>
                      <a:r>
                        <a:rPr lang="en-US" sz="1500" b="0" u="none" strike="noStrike" cap="none">
                          <a:solidFill>
                            <a:schemeClr val="lt1"/>
                          </a:solidFill>
                        </a:rPr>
                        <a:t>Impact</a:t>
                      </a:r>
                      <a:endParaRPr sz="1500" b="0" u="none" strike="noStrike" cap="none">
                        <a:solidFill>
                          <a:schemeClr val="lt1"/>
                        </a:solidFill>
                        <a:latin typeface="Arial"/>
                        <a:ea typeface="Arial"/>
                        <a:cs typeface="Arial"/>
                        <a:sym typeface="Arial"/>
                      </a:endParaRPr>
                    </a:p>
                  </a:txBody>
                  <a:tcPr marL="35175" marR="35175" marT="86275" marB="176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chemeClr val="accent1"/>
                    </a:solidFill>
                  </a:tcPr>
                </a:tc>
                <a:extLst>
                  <a:ext uri="{0D108BD9-81ED-4DB2-BD59-A6C34878D82A}">
                    <a16:rowId xmlns:a16="http://schemas.microsoft.com/office/drawing/2014/main" val="10000"/>
                  </a:ext>
                </a:extLst>
              </a:tr>
              <a:tr h="742400">
                <a:tc>
                  <a:txBody>
                    <a:bodyPr/>
                    <a:lstStyle/>
                    <a:p>
                      <a:pPr marL="0" marR="0" lvl="0" indent="0" algn="l" rtl="0">
                        <a:spcBef>
                          <a:spcPts val="0"/>
                        </a:spcBef>
                        <a:spcAft>
                          <a:spcPts val="0"/>
                        </a:spcAft>
                        <a:buNone/>
                      </a:pPr>
                      <a:r>
                        <a:rPr lang="en-US" sz="1300" u="none" strike="noStrike" cap="none">
                          <a:solidFill>
                            <a:schemeClr val="dk1"/>
                          </a:solidFill>
                        </a:rPr>
                        <a:t>Funding from various sources</a:t>
                      </a:r>
                      <a:endParaRPr/>
                    </a:p>
                    <a:p>
                      <a:pPr marL="0" marR="0" lvl="0" indent="0" algn="l" rtl="0">
                        <a:spcBef>
                          <a:spcPts val="0"/>
                        </a:spcBef>
                        <a:spcAft>
                          <a:spcPts val="0"/>
                        </a:spcAft>
                        <a:buNone/>
                      </a:pPr>
                      <a:endParaRPr sz="1300" u="none" strike="noStrike" cap="none">
                        <a:solidFill>
                          <a:schemeClr val="dk1"/>
                        </a:solidFill>
                        <a:latin typeface="Arial"/>
                        <a:ea typeface="Arial"/>
                        <a:cs typeface="Arial"/>
                        <a:sym typeface="Arial"/>
                      </a:endParaRPr>
                    </a:p>
                  </a:txBody>
                  <a:tcPr marL="35175" marR="35175" marT="86275" marB="176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en-US" sz="1300" u="none" strike="noStrike" cap="none">
                          <a:solidFill>
                            <a:schemeClr val="dk1"/>
                          </a:solidFill>
                        </a:rPr>
                        <a:t>Establishing referral processes</a:t>
                      </a:r>
                      <a:endParaRPr/>
                    </a:p>
                    <a:p>
                      <a:pPr marL="0" marR="0" lvl="0" indent="0" algn="l" rtl="0">
                        <a:spcBef>
                          <a:spcPts val="0"/>
                        </a:spcBef>
                        <a:spcAft>
                          <a:spcPts val="0"/>
                        </a:spcAft>
                        <a:buNone/>
                      </a:pPr>
                      <a:endParaRPr sz="1300" u="none" strike="noStrike" cap="none">
                        <a:solidFill>
                          <a:schemeClr val="dk1"/>
                        </a:solidFill>
                        <a:latin typeface="Arial"/>
                        <a:ea typeface="Arial"/>
                        <a:cs typeface="Arial"/>
                        <a:sym typeface="Arial"/>
                      </a:endParaRPr>
                    </a:p>
                  </a:txBody>
                  <a:tcPr marL="35175" marR="35175" marT="86275" marB="176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en-US" sz="1300" u="none" strike="noStrike" cap="none">
                          <a:solidFill>
                            <a:schemeClr val="dk1"/>
                          </a:solidFill>
                        </a:rPr>
                        <a:t>Adolescents receiving short-term therapy</a:t>
                      </a:r>
                      <a:endParaRPr/>
                    </a:p>
                    <a:p>
                      <a:pPr marL="0" marR="0" lvl="0" indent="0" algn="l" rtl="0">
                        <a:spcBef>
                          <a:spcPts val="0"/>
                        </a:spcBef>
                        <a:spcAft>
                          <a:spcPts val="0"/>
                        </a:spcAft>
                        <a:buNone/>
                      </a:pPr>
                      <a:endParaRPr sz="1300" u="none" strike="noStrike" cap="none">
                        <a:solidFill>
                          <a:schemeClr val="dk1"/>
                        </a:solidFill>
                        <a:latin typeface="Arial"/>
                        <a:ea typeface="Arial"/>
                        <a:cs typeface="Arial"/>
                        <a:sym typeface="Arial"/>
                      </a:endParaRPr>
                    </a:p>
                  </a:txBody>
                  <a:tcPr marL="35175" marR="35175" marT="86275" marB="176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en-US" sz="1300" u="none" strike="noStrike" cap="none">
                          <a:solidFill>
                            <a:schemeClr val="dk1"/>
                          </a:solidFill>
                        </a:rPr>
                        <a:t>Better access to substance abuse prevention and treatment resources</a:t>
                      </a:r>
                      <a:endParaRPr sz="1300" u="none" strike="noStrike" cap="none">
                        <a:solidFill>
                          <a:schemeClr val="dk1"/>
                        </a:solidFill>
                        <a:latin typeface="Arial"/>
                        <a:ea typeface="Arial"/>
                        <a:cs typeface="Arial"/>
                        <a:sym typeface="Arial"/>
                      </a:endParaRPr>
                    </a:p>
                  </a:txBody>
                  <a:tcPr marL="35175" marR="35175" marT="86275" marB="176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en-US" sz="1300" u="none" strike="noStrike" cap="none">
                          <a:solidFill>
                            <a:schemeClr val="dk1"/>
                          </a:solidFill>
                        </a:rPr>
                        <a:t>Improved mental and physical health</a:t>
                      </a:r>
                      <a:endParaRPr sz="1300" u="none" strike="noStrike" cap="none">
                        <a:solidFill>
                          <a:schemeClr val="dk1"/>
                        </a:solidFill>
                        <a:latin typeface="Arial"/>
                        <a:ea typeface="Arial"/>
                        <a:cs typeface="Arial"/>
                        <a:sym typeface="Arial"/>
                      </a:endParaRPr>
                    </a:p>
                  </a:txBody>
                  <a:tcPr marL="35175" marR="35175" marT="86275" marB="176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1"/>
                  </a:ext>
                </a:extLst>
              </a:tr>
              <a:tr h="742400">
                <a:tc>
                  <a:txBody>
                    <a:bodyPr/>
                    <a:lstStyle/>
                    <a:p>
                      <a:pPr marL="0" marR="0" lvl="0" indent="0" algn="l" rtl="0">
                        <a:spcBef>
                          <a:spcPts val="0"/>
                        </a:spcBef>
                        <a:spcAft>
                          <a:spcPts val="0"/>
                        </a:spcAft>
                        <a:buNone/>
                      </a:pPr>
                      <a:r>
                        <a:rPr lang="en-US" sz="1300" u="none" strike="noStrike" cap="none">
                          <a:solidFill>
                            <a:schemeClr val="dk1"/>
                          </a:solidFill>
                        </a:rPr>
                        <a:t>Trained personnel</a:t>
                      </a:r>
                      <a:endParaRPr sz="1300" u="none" strike="noStrike" cap="none">
                        <a:solidFill>
                          <a:schemeClr val="dk1"/>
                        </a:solidFill>
                        <a:latin typeface="Arial"/>
                        <a:ea typeface="Arial"/>
                        <a:cs typeface="Arial"/>
                        <a:sym typeface="Arial"/>
                      </a:endParaRPr>
                    </a:p>
                  </a:txBody>
                  <a:tcPr marL="35175" marR="35175" marT="86275" marB="176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2F2F2"/>
                    </a:solidFill>
                  </a:tcPr>
                </a:tc>
                <a:tc>
                  <a:txBody>
                    <a:bodyPr/>
                    <a:lstStyle/>
                    <a:p>
                      <a:pPr marL="0" marR="0" lvl="0" indent="0" algn="l" rtl="0">
                        <a:spcBef>
                          <a:spcPts val="0"/>
                        </a:spcBef>
                        <a:spcAft>
                          <a:spcPts val="0"/>
                        </a:spcAft>
                        <a:buNone/>
                      </a:pPr>
                      <a:r>
                        <a:rPr lang="en-US" sz="1300" u="none" strike="noStrike" cap="none">
                          <a:solidFill>
                            <a:schemeClr val="dk1"/>
                          </a:solidFill>
                        </a:rPr>
                        <a:t>Conducting substance abuse education and prevention programs</a:t>
                      </a:r>
                      <a:endParaRPr sz="1300" u="none" strike="noStrike" cap="none">
                        <a:solidFill>
                          <a:schemeClr val="dk1"/>
                        </a:solidFill>
                        <a:latin typeface="Arial"/>
                        <a:ea typeface="Arial"/>
                        <a:cs typeface="Arial"/>
                        <a:sym typeface="Arial"/>
                      </a:endParaRPr>
                    </a:p>
                  </a:txBody>
                  <a:tcPr marL="35175" marR="35175" marT="86275" marB="176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2F2F2"/>
                    </a:solidFill>
                  </a:tcPr>
                </a:tc>
                <a:tc>
                  <a:txBody>
                    <a:bodyPr/>
                    <a:lstStyle/>
                    <a:p>
                      <a:pPr marL="0" marR="0" lvl="0" indent="0" algn="l" rtl="0">
                        <a:spcBef>
                          <a:spcPts val="0"/>
                        </a:spcBef>
                        <a:spcAft>
                          <a:spcPts val="0"/>
                        </a:spcAft>
                        <a:buNone/>
                      </a:pPr>
                      <a:r>
                        <a:rPr lang="en-US" sz="1300" u="none" strike="noStrike" cap="none">
                          <a:solidFill>
                            <a:schemeClr val="dk1"/>
                          </a:solidFill>
                        </a:rPr>
                        <a:t>Families receiving assistance</a:t>
                      </a:r>
                      <a:endParaRPr/>
                    </a:p>
                    <a:p>
                      <a:pPr marL="0" marR="0" lvl="0" indent="0" algn="l" rtl="0">
                        <a:spcBef>
                          <a:spcPts val="0"/>
                        </a:spcBef>
                        <a:spcAft>
                          <a:spcPts val="0"/>
                        </a:spcAft>
                        <a:buNone/>
                      </a:pPr>
                      <a:endParaRPr sz="1300" u="none" strike="noStrike" cap="none">
                        <a:solidFill>
                          <a:schemeClr val="dk1"/>
                        </a:solidFill>
                        <a:latin typeface="Arial"/>
                        <a:ea typeface="Arial"/>
                        <a:cs typeface="Arial"/>
                        <a:sym typeface="Arial"/>
                      </a:endParaRPr>
                    </a:p>
                  </a:txBody>
                  <a:tcPr marL="35175" marR="35175" marT="86275" marB="176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2F2F2"/>
                    </a:solidFill>
                  </a:tcPr>
                </a:tc>
                <a:tc>
                  <a:txBody>
                    <a:bodyPr/>
                    <a:lstStyle/>
                    <a:p>
                      <a:pPr marL="0" marR="0" lvl="0" indent="0" algn="l" rtl="0">
                        <a:spcBef>
                          <a:spcPts val="0"/>
                        </a:spcBef>
                        <a:spcAft>
                          <a:spcPts val="0"/>
                        </a:spcAft>
                        <a:buNone/>
                      </a:pPr>
                      <a:r>
                        <a:rPr lang="en-US" sz="1300" u="none" strike="noStrike" cap="none">
                          <a:solidFill>
                            <a:schemeClr val="dk1"/>
                          </a:solidFill>
                        </a:rPr>
                        <a:t>Improved academic performance</a:t>
                      </a:r>
                      <a:endParaRPr/>
                    </a:p>
                    <a:p>
                      <a:pPr marL="0" marR="0" lvl="0" indent="0" algn="l" rtl="0">
                        <a:spcBef>
                          <a:spcPts val="0"/>
                        </a:spcBef>
                        <a:spcAft>
                          <a:spcPts val="0"/>
                        </a:spcAft>
                        <a:buNone/>
                      </a:pPr>
                      <a:endParaRPr sz="1300" u="none" strike="noStrike" cap="none">
                        <a:solidFill>
                          <a:schemeClr val="dk1"/>
                        </a:solidFill>
                        <a:latin typeface="Arial"/>
                        <a:ea typeface="Arial"/>
                        <a:cs typeface="Arial"/>
                        <a:sym typeface="Arial"/>
                      </a:endParaRPr>
                    </a:p>
                  </a:txBody>
                  <a:tcPr marL="35175" marR="35175" marT="86275" marB="176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2F2F2"/>
                    </a:solidFill>
                  </a:tcPr>
                </a:tc>
                <a:tc>
                  <a:txBody>
                    <a:bodyPr/>
                    <a:lstStyle/>
                    <a:p>
                      <a:pPr marL="0" marR="0" lvl="0" indent="0" algn="l" rtl="0">
                        <a:spcBef>
                          <a:spcPts val="0"/>
                        </a:spcBef>
                        <a:spcAft>
                          <a:spcPts val="0"/>
                        </a:spcAft>
                        <a:buNone/>
                      </a:pPr>
                      <a:r>
                        <a:rPr lang="en-US" sz="1300" u="none" strike="noStrike" cap="none">
                          <a:solidFill>
                            <a:schemeClr val="dk1"/>
                          </a:solidFill>
                        </a:rPr>
                        <a:t>Reduced rates of substance abuse</a:t>
                      </a:r>
                      <a:endParaRPr sz="1300" u="none" strike="noStrike" cap="none">
                        <a:solidFill>
                          <a:schemeClr val="dk1"/>
                        </a:solidFill>
                        <a:latin typeface="Arial"/>
                        <a:ea typeface="Arial"/>
                        <a:cs typeface="Arial"/>
                        <a:sym typeface="Arial"/>
                      </a:endParaRPr>
                    </a:p>
                  </a:txBody>
                  <a:tcPr marL="35175" marR="35175" marT="86275" marB="176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2F2F2"/>
                    </a:solidFill>
                  </a:tcPr>
                </a:tc>
                <a:extLst>
                  <a:ext uri="{0D108BD9-81ED-4DB2-BD59-A6C34878D82A}">
                    <a16:rowId xmlns:a16="http://schemas.microsoft.com/office/drawing/2014/main" val="10002"/>
                  </a:ext>
                </a:extLst>
              </a:tr>
              <a:tr h="541075">
                <a:tc>
                  <a:txBody>
                    <a:bodyPr/>
                    <a:lstStyle/>
                    <a:p>
                      <a:pPr marL="0" marR="0" lvl="0" indent="0" algn="l" rtl="0">
                        <a:spcBef>
                          <a:spcPts val="0"/>
                        </a:spcBef>
                        <a:spcAft>
                          <a:spcPts val="0"/>
                        </a:spcAft>
                        <a:buNone/>
                      </a:pPr>
                      <a:r>
                        <a:rPr lang="en-US" sz="1300" u="none" strike="noStrike" cap="none">
                          <a:solidFill>
                            <a:schemeClr val="dk1"/>
                          </a:solidFill>
                        </a:rPr>
                        <a:t>Local support</a:t>
                      </a:r>
                      <a:endParaRPr sz="1300" u="none" strike="noStrike" cap="none">
                        <a:solidFill>
                          <a:schemeClr val="dk1"/>
                        </a:solidFill>
                        <a:latin typeface="Arial"/>
                        <a:ea typeface="Arial"/>
                        <a:cs typeface="Arial"/>
                        <a:sym typeface="Arial"/>
                      </a:endParaRPr>
                    </a:p>
                  </a:txBody>
                  <a:tcPr marL="35175" marR="35175" marT="86275" marB="176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en-US" sz="1300" u="none" strike="noStrike" cap="none">
                          <a:solidFill>
                            <a:schemeClr val="dk1"/>
                          </a:solidFill>
                        </a:rPr>
                        <a:t>Providing short-term therapy and counselling services</a:t>
                      </a:r>
                      <a:endParaRPr sz="1300" u="none" strike="noStrike" cap="none">
                        <a:solidFill>
                          <a:schemeClr val="dk1"/>
                        </a:solidFill>
                        <a:latin typeface="Arial"/>
                        <a:ea typeface="Arial"/>
                        <a:cs typeface="Arial"/>
                        <a:sym typeface="Arial"/>
                      </a:endParaRPr>
                    </a:p>
                  </a:txBody>
                  <a:tcPr marL="35175" marR="35175" marT="86275" marB="176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en-US" sz="1300" u="none" strike="noStrike" cap="none">
                          <a:solidFill>
                            <a:schemeClr val="dk1"/>
                          </a:solidFill>
                        </a:rPr>
                        <a:t>Enhanced coordination between local entities</a:t>
                      </a:r>
                      <a:endParaRPr sz="1300" u="none" strike="noStrike" cap="none">
                        <a:solidFill>
                          <a:schemeClr val="dk1"/>
                        </a:solidFill>
                        <a:latin typeface="Arial"/>
                        <a:ea typeface="Arial"/>
                        <a:cs typeface="Arial"/>
                        <a:sym typeface="Arial"/>
                      </a:endParaRPr>
                    </a:p>
                  </a:txBody>
                  <a:tcPr marL="35175" marR="35175" marT="86275" marB="176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en-US" sz="1300" u="none" strike="noStrike" cap="none">
                          <a:solidFill>
                            <a:schemeClr val="dk1"/>
                          </a:solidFill>
                        </a:rPr>
                        <a:t>Enhanced community safety</a:t>
                      </a:r>
                      <a:endParaRPr/>
                    </a:p>
                    <a:p>
                      <a:pPr marL="0" marR="0" lvl="0" indent="0" algn="l" rtl="0">
                        <a:spcBef>
                          <a:spcPts val="0"/>
                        </a:spcBef>
                        <a:spcAft>
                          <a:spcPts val="0"/>
                        </a:spcAft>
                        <a:buNone/>
                      </a:pPr>
                      <a:endParaRPr sz="1300" u="none" strike="noStrike" cap="none">
                        <a:solidFill>
                          <a:schemeClr val="dk1"/>
                        </a:solidFill>
                        <a:latin typeface="Arial"/>
                        <a:ea typeface="Arial"/>
                        <a:cs typeface="Arial"/>
                        <a:sym typeface="Arial"/>
                      </a:endParaRPr>
                    </a:p>
                  </a:txBody>
                  <a:tcPr marL="35175" marR="35175" marT="86275" marB="176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en-US" sz="1300" u="none" strike="noStrike" cap="none">
                          <a:solidFill>
                            <a:schemeClr val="dk1"/>
                          </a:solidFill>
                        </a:rPr>
                        <a:t>Enhanced community support systems</a:t>
                      </a:r>
                      <a:endParaRPr sz="1300" u="none" strike="noStrike" cap="none">
                        <a:solidFill>
                          <a:schemeClr val="dk1"/>
                        </a:solidFill>
                        <a:latin typeface="Arial"/>
                        <a:ea typeface="Arial"/>
                        <a:cs typeface="Arial"/>
                        <a:sym typeface="Arial"/>
                      </a:endParaRPr>
                    </a:p>
                  </a:txBody>
                  <a:tcPr marL="35175" marR="35175" marT="86275" marB="176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3"/>
                  </a:ext>
                </a:extLst>
              </a:tr>
              <a:tr h="742400">
                <a:tc>
                  <a:txBody>
                    <a:bodyPr/>
                    <a:lstStyle/>
                    <a:p>
                      <a:pPr marL="0" marR="0" lvl="0" indent="0" algn="l" rtl="0">
                        <a:spcBef>
                          <a:spcPts val="0"/>
                        </a:spcBef>
                        <a:spcAft>
                          <a:spcPts val="0"/>
                        </a:spcAft>
                        <a:buNone/>
                      </a:pPr>
                      <a:r>
                        <a:rPr lang="en-US" sz="1300" u="none" strike="noStrike" cap="none">
                          <a:solidFill>
                            <a:schemeClr val="dk1"/>
                          </a:solidFill>
                        </a:rPr>
                        <a:t>Substance abuse prevention and treatment resources</a:t>
                      </a:r>
                      <a:endParaRPr sz="1300" u="none" strike="noStrike" cap="none">
                        <a:solidFill>
                          <a:schemeClr val="dk1"/>
                        </a:solidFill>
                        <a:latin typeface="Arial"/>
                        <a:ea typeface="Arial"/>
                        <a:cs typeface="Arial"/>
                        <a:sym typeface="Arial"/>
                      </a:endParaRPr>
                    </a:p>
                  </a:txBody>
                  <a:tcPr marL="35175" marR="35175" marT="86275" marB="176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2F2F2"/>
                    </a:solidFill>
                  </a:tcPr>
                </a:tc>
                <a:tc>
                  <a:txBody>
                    <a:bodyPr/>
                    <a:lstStyle/>
                    <a:p>
                      <a:pPr marL="0" marR="0" lvl="0" indent="0" algn="l" rtl="0">
                        <a:spcBef>
                          <a:spcPts val="0"/>
                        </a:spcBef>
                        <a:spcAft>
                          <a:spcPts val="0"/>
                        </a:spcAft>
                        <a:buNone/>
                      </a:pPr>
                      <a:r>
                        <a:rPr lang="en-US" sz="1300" u="none" strike="noStrike" cap="none">
                          <a:solidFill>
                            <a:schemeClr val="dk1"/>
                          </a:solidFill>
                        </a:rPr>
                        <a:t>Coordinating care and support services</a:t>
                      </a:r>
                      <a:endParaRPr sz="1300" u="none" strike="noStrike" cap="none">
                        <a:solidFill>
                          <a:schemeClr val="dk1"/>
                        </a:solidFill>
                        <a:latin typeface="Arial"/>
                        <a:ea typeface="Arial"/>
                        <a:cs typeface="Arial"/>
                        <a:sym typeface="Arial"/>
                      </a:endParaRPr>
                    </a:p>
                  </a:txBody>
                  <a:tcPr marL="35175" marR="35175" marT="86275" marB="176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2F2F2"/>
                    </a:solidFill>
                  </a:tcPr>
                </a:tc>
                <a:tc>
                  <a:txBody>
                    <a:bodyPr/>
                    <a:lstStyle/>
                    <a:p>
                      <a:pPr marL="0" marR="0" lvl="0" indent="0" algn="l" rtl="0">
                        <a:spcBef>
                          <a:spcPts val="0"/>
                        </a:spcBef>
                        <a:spcAft>
                          <a:spcPts val="0"/>
                        </a:spcAft>
                        <a:buNone/>
                      </a:pPr>
                      <a:r>
                        <a:rPr lang="en-US" sz="1300" u="none" strike="noStrike" cap="none">
                          <a:solidFill>
                            <a:schemeClr val="dk1"/>
                          </a:solidFill>
                        </a:rPr>
                        <a:t>Increased awareness and understanding of substance abuse risks</a:t>
                      </a:r>
                      <a:endParaRPr sz="1300" u="none" strike="noStrike" cap="none">
                        <a:solidFill>
                          <a:schemeClr val="dk1"/>
                        </a:solidFill>
                        <a:latin typeface="Arial"/>
                        <a:ea typeface="Arial"/>
                        <a:cs typeface="Arial"/>
                        <a:sym typeface="Arial"/>
                      </a:endParaRPr>
                    </a:p>
                  </a:txBody>
                  <a:tcPr marL="35175" marR="35175" marT="86275" marB="176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2F2F2"/>
                    </a:solidFill>
                  </a:tcPr>
                </a:tc>
                <a:tc>
                  <a:txBody>
                    <a:bodyPr/>
                    <a:lstStyle/>
                    <a:p>
                      <a:pPr marL="0" marR="0" lvl="0" indent="0" algn="l" rtl="0">
                        <a:spcBef>
                          <a:spcPts val="0"/>
                        </a:spcBef>
                        <a:spcAft>
                          <a:spcPts val="0"/>
                        </a:spcAft>
                        <a:buNone/>
                      </a:pPr>
                      <a:r>
                        <a:rPr lang="en-US" sz="1300" u="none" strike="noStrike" cap="none">
                          <a:solidFill>
                            <a:schemeClr val="dk1"/>
                          </a:solidFill>
                        </a:rPr>
                        <a:t>Improved social relationships among adolescents</a:t>
                      </a:r>
                      <a:endParaRPr sz="1300" u="none" strike="noStrike" cap="none">
                        <a:solidFill>
                          <a:schemeClr val="dk1"/>
                        </a:solidFill>
                        <a:latin typeface="Arial"/>
                        <a:ea typeface="Arial"/>
                        <a:cs typeface="Arial"/>
                        <a:sym typeface="Arial"/>
                      </a:endParaRPr>
                    </a:p>
                  </a:txBody>
                  <a:tcPr marL="35175" marR="35175" marT="86275" marB="176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2F2F2"/>
                    </a:solidFill>
                  </a:tcPr>
                </a:tc>
                <a:tc>
                  <a:txBody>
                    <a:bodyPr/>
                    <a:lstStyle/>
                    <a:p>
                      <a:pPr marL="0" marR="0" lvl="0" indent="0" algn="l" rtl="0">
                        <a:spcBef>
                          <a:spcPts val="0"/>
                        </a:spcBef>
                        <a:spcAft>
                          <a:spcPts val="0"/>
                        </a:spcAft>
                        <a:buNone/>
                      </a:pPr>
                      <a:r>
                        <a:rPr lang="en-US" sz="1300" u="none" strike="noStrike" cap="none">
                          <a:solidFill>
                            <a:schemeClr val="dk1"/>
                          </a:solidFill>
                        </a:rPr>
                        <a:t> A safer and more supportive community environment </a:t>
                      </a:r>
                      <a:endParaRPr sz="1300" u="none" strike="noStrike" cap="none">
                        <a:solidFill>
                          <a:schemeClr val="dk1"/>
                        </a:solidFill>
                        <a:latin typeface="Arial"/>
                        <a:ea typeface="Arial"/>
                        <a:cs typeface="Arial"/>
                        <a:sym typeface="Arial"/>
                      </a:endParaRPr>
                    </a:p>
                  </a:txBody>
                  <a:tcPr marL="35175" marR="35175" marT="86275" marB="176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2F2F2"/>
                    </a:solidFill>
                  </a:tcPr>
                </a:tc>
                <a:extLst>
                  <a:ext uri="{0D108BD9-81ED-4DB2-BD59-A6C34878D82A}">
                    <a16:rowId xmlns:a16="http://schemas.microsoft.com/office/drawing/2014/main" val="10004"/>
                  </a:ext>
                </a:extLst>
              </a:tr>
            </a:tbl>
          </a:graphicData>
        </a:graphic>
      </p:graphicFrame>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312"/>
        <p:cNvGrpSpPr/>
        <p:nvPr/>
      </p:nvGrpSpPr>
      <p:grpSpPr>
        <a:xfrm>
          <a:off x="0" y="0"/>
          <a:ext cx="0" cy="0"/>
          <a:chOff x="0" y="0"/>
          <a:chExt cx="0" cy="0"/>
        </a:xfrm>
      </p:grpSpPr>
      <p:sp>
        <p:nvSpPr>
          <p:cNvPr id="313" name="Google Shape;313;p15"/>
          <p:cNvSpPr/>
          <p:nvPr/>
        </p:nvSpPr>
        <p:spPr>
          <a:xfrm>
            <a:off x="4636008" y="0"/>
            <a:ext cx="7555992" cy="6858000"/>
          </a:xfrm>
          <a:prstGeom prst="roundRect">
            <a:avLst>
              <a:gd name="adj" fmla="val 0"/>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entury Gothic"/>
              <a:ea typeface="Century Gothic"/>
              <a:cs typeface="Century Gothic"/>
              <a:sym typeface="Century Gothic"/>
            </a:endParaRPr>
          </a:p>
        </p:txBody>
      </p:sp>
      <p:sp>
        <p:nvSpPr>
          <p:cNvPr id="314" name="Google Shape;314;p15"/>
          <p:cNvSpPr/>
          <p:nvPr/>
        </p:nvSpPr>
        <p:spPr>
          <a:xfrm>
            <a:off x="0" y="0"/>
            <a:ext cx="4636008" cy="6858000"/>
          </a:xfrm>
          <a:prstGeom prst="rect">
            <a:avLst/>
          </a:prstGeom>
          <a:solidFill>
            <a:schemeClr val="dk1"/>
          </a:solidFill>
          <a:ln>
            <a:noFill/>
          </a:ln>
          <a:effectLst>
            <a:outerShdw blurRad="63500" dist="38100" algn="l" rotWithShape="0">
              <a:srgbClr val="000000">
                <a:alpha val="40000"/>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entury Gothic"/>
              <a:ea typeface="Century Gothic"/>
              <a:cs typeface="Century Gothic"/>
              <a:sym typeface="Century Gothic"/>
            </a:endParaRPr>
          </a:p>
        </p:txBody>
      </p:sp>
      <p:pic>
        <p:nvPicPr>
          <p:cNvPr id="315" name="Google Shape;315;p15"/>
          <p:cNvPicPr preferRelativeResize="0"/>
          <p:nvPr/>
        </p:nvPicPr>
        <p:blipFill rotWithShape="1">
          <a:blip r:embed="rId3">
            <a:alphaModFix/>
          </a:blip>
          <a:srcRect r="61974"/>
          <a:stretch/>
        </p:blipFill>
        <p:spPr>
          <a:xfrm>
            <a:off x="0" y="0"/>
            <a:ext cx="4636008" cy="1441450"/>
          </a:xfrm>
          <a:prstGeom prst="rect">
            <a:avLst/>
          </a:prstGeom>
          <a:noFill/>
          <a:ln>
            <a:noFill/>
          </a:ln>
        </p:spPr>
      </p:pic>
      <p:pic>
        <p:nvPicPr>
          <p:cNvPr id="316" name="Google Shape;316;p15"/>
          <p:cNvPicPr preferRelativeResize="0"/>
          <p:nvPr/>
        </p:nvPicPr>
        <p:blipFill rotWithShape="1">
          <a:blip r:embed="rId4">
            <a:alphaModFix/>
          </a:blip>
          <a:srcRect r="61974"/>
          <a:stretch/>
        </p:blipFill>
        <p:spPr>
          <a:xfrm>
            <a:off x="0" y="4375150"/>
            <a:ext cx="4636008" cy="2482850"/>
          </a:xfrm>
          <a:prstGeom prst="rect">
            <a:avLst/>
          </a:prstGeom>
          <a:noFill/>
          <a:ln>
            <a:noFill/>
          </a:ln>
        </p:spPr>
      </p:pic>
      <p:sp>
        <p:nvSpPr>
          <p:cNvPr id="317" name="Google Shape;317;p15"/>
          <p:cNvSpPr txBox="1">
            <a:spLocks noGrp="1"/>
          </p:cNvSpPr>
          <p:nvPr>
            <p:ph type="title"/>
          </p:nvPr>
        </p:nvSpPr>
        <p:spPr>
          <a:xfrm>
            <a:off x="685800" y="1066163"/>
            <a:ext cx="3306744" cy="5148371"/>
          </a:xfrm>
          <a:prstGeom prst="rect">
            <a:avLst/>
          </a:prstGeom>
          <a:noFill/>
          <a:ln>
            <a:noFill/>
          </a:ln>
        </p:spPr>
        <p:txBody>
          <a:bodyPr spcFirstLastPara="1" wrap="square" lIns="91425" tIns="45700" rIns="91425" bIns="45700" anchor="ctr" anchorCtr="0">
            <a:normAutofit/>
          </a:bodyPr>
          <a:lstStyle/>
          <a:p>
            <a:pPr marL="0" lvl="0" indent="0" algn="r" rtl="0">
              <a:lnSpc>
                <a:spcPct val="90000"/>
              </a:lnSpc>
              <a:spcBef>
                <a:spcPts val="0"/>
              </a:spcBef>
              <a:spcAft>
                <a:spcPts val="0"/>
              </a:spcAft>
              <a:buClr>
                <a:schemeClr val="lt1"/>
              </a:buClr>
              <a:buSzPts val="4000"/>
              <a:buFont typeface="Arial"/>
              <a:buNone/>
            </a:pPr>
            <a:r>
              <a:rPr lang="en-US">
                <a:solidFill>
                  <a:schemeClr val="lt1"/>
                </a:solidFill>
                <a:latin typeface="Arial"/>
                <a:ea typeface="Arial"/>
                <a:cs typeface="Arial"/>
                <a:sym typeface="Arial"/>
              </a:rPr>
              <a:t>DATA INDICATORS</a:t>
            </a:r>
            <a:endParaRPr/>
          </a:p>
        </p:txBody>
      </p:sp>
      <p:sp>
        <p:nvSpPr>
          <p:cNvPr id="318" name="Google Shape;318;p15">
            <a:hlinkClick r:id="rId5"/>
          </p:cNvPr>
          <p:cNvSpPr/>
          <p:nvPr/>
        </p:nvSpPr>
        <p:spPr>
          <a:xfrm>
            <a:off x="1028700" y="625445"/>
            <a:ext cx="184731" cy="400110"/>
          </a:xfrm>
          <a:prstGeom prst="rect">
            <a:avLst/>
          </a:prstGeom>
          <a:noFill/>
          <a:ln>
            <a:noFill/>
          </a:ln>
        </p:spPr>
        <p:txBody>
          <a:bodyPr spcFirstLastPara="1" wrap="square" lIns="91425" tIns="45700" rIns="91425" bIns="45700" anchor="ctr" anchorCtr="0">
            <a:spAutoFit/>
          </a:bodyPr>
          <a:lstStyle/>
          <a:p>
            <a:pPr marL="0" marR="0" lvl="0" indent="0" algn="l" rtl="0">
              <a:spcBef>
                <a:spcPts val="0"/>
              </a:spcBef>
              <a:spcAft>
                <a:spcPts val="0"/>
              </a:spcAft>
              <a:buNone/>
            </a:pPr>
            <a:endParaRPr sz="2000">
              <a:solidFill>
                <a:schemeClr val="dk1"/>
              </a:solidFill>
              <a:latin typeface="Century Gothic"/>
              <a:ea typeface="Century Gothic"/>
              <a:cs typeface="Century Gothic"/>
              <a:sym typeface="Century Gothic"/>
            </a:endParaRPr>
          </a:p>
        </p:txBody>
      </p:sp>
      <p:graphicFrame>
        <p:nvGraphicFramePr>
          <p:cNvPr id="319" name="Google Shape;319;p15"/>
          <p:cNvGraphicFramePr/>
          <p:nvPr>
            <p:extLst>
              <p:ext uri="{D42A27DB-BD31-4B8C-83A1-F6EECF244321}">
                <p14:modId xmlns:p14="http://schemas.microsoft.com/office/powerpoint/2010/main" val="2013729677"/>
              </p:ext>
            </p:extLst>
          </p:nvPr>
        </p:nvGraphicFramePr>
        <p:xfrm>
          <a:off x="5279472" y="1093692"/>
          <a:ext cx="6290225" cy="4953375"/>
        </p:xfrm>
        <a:graphic>
          <a:graphicData uri="http://schemas.openxmlformats.org/drawingml/2006/table">
            <a:tbl>
              <a:tblPr>
                <a:noFill/>
                <a:tableStyleId>{EFA356CF-45A5-4659-A24C-15CE202FEE63}</a:tableStyleId>
              </a:tblPr>
              <a:tblGrid>
                <a:gridCol w="943850">
                  <a:extLst>
                    <a:ext uri="{9D8B030D-6E8A-4147-A177-3AD203B41FA5}">
                      <a16:colId xmlns:a16="http://schemas.microsoft.com/office/drawing/2014/main" val="20000"/>
                    </a:ext>
                  </a:extLst>
                </a:gridCol>
                <a:gridCol w="2803725">
                  <a:extLst>
                    <a:ext uri="{9D8B030D-6E8A-4147-A177-3AD203B41FA5}">
                      <a16:colId xmlns:a16="http://schemas.microsoft.com/office/drawing/2014/main" val="20001"/>
                    </a:ext>
                  </a:extLst>
                </a:gridCol>
                <a:gridCol w="2542650">
                  <a:extLst>
                    <a:ext uri="{9D8B030D-6E8A-4147-A177-3AD203B41FA5}">
                      <a16:colId xmlns:a16="http://schemas.microsoft.com/office/drawing/2014/main" val="20002"/>
                    </a:ext>
                  </a:extLst>
                </a:gridCol>
              </a:tblGrid>
              <a:tr h="493775">
                <a:tc>
                  <a:txBody>
                    <a:bodyPr/>
                    <a:lstStyle/>
                    <a:p>
                      <a:pPr marL="0" marR="0" lvl="0" indent="0" algn="l" rtl="0">
                        <a:spcBef>
                          <a:spcPts val="0"/>
                        </a:spcBef>
                        <a:spcAft>
                          <a:spcPts val="0"/>
                        </a:spcAft>
                        <a:buNone/>
                      </a:pPr>
                      <a:br>
                        <a:rPr lang="en-US" sz="1400" u="none" strike="noStrike" cap="none">
                          <a:latin typeface="Arial"/>
                          <a:ea typeface="Arial"/>
                          <a:cs typeface="Arial"/>
                          <a:sym typeface="Arial"/>
                        </a:rPr>
                      </a:br>
                      <a:endParaRPr sz="1400" u="none" strike="noStrike" cap="none">
                        <a:latin typeface="Arial"/>
                        <a:ea typeface="Arial"/>
                        <a:cs typeface="Arial"/>
                        <a:sym typeface="Arial"/>
                      </a:endParaRPr>
                    </a:p>
                  </a:txBody>
                  <a:tcPr marL="21475" marR="21475" marT="21475" marB="21475">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tc>
                  <a:txBody>
                    <a:bodyPr/>
                    <a:lstStyle/>
                    <a:p>
                      <a:pPr marL="0" marR="0" lvl="0" indent="0" algn="l" rtl="0">
                        <a:spcBef>
                          <a:spcPts val="0"/>
                        </a:spcBef>
                        <a:spcAft>
                          <a:spcPts val="0"/>
                        </a:spcAft>
                        <a:buNone/>
                      </a:pPr>
                      <a:r>
                        <a:rPr lang="en-US" sz="1400" b="0" i="0" u="none" strike="noStrike" cap="none" dirty="0">
                          <a:solidFill>
                            <a:srgbClr val="000000"/>
                          </a:solidFill>
                          <a:latin typeface="Arial"/>
                          <a:ea typeface="Arial"/>
                          <a:cs typeface="Arial"/>
                          <a:sym typeface="Arial"/>
                        </a:rPr>
                        <a:t>Data Indicators</a:t>
                      </a:r>
                      <a:endParaRPr sz="1400" u="none" strike="noStrike" cap="none" dirty="0">
                        <a:latin typeface="Arial"/>
                        <a:ea typeface="Arial"/>
                        <a:cs typeface="Arial"/>
                        <a:sym typeface="Arial"/>
                      </a:endParaRPr>
                    </a:p>
                  </a:txBody>
                  <a:tcPr marL="21475" marR="21475" marT="21475" marB="21475">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tc>
                  <a:txBody>
                    <a:bodyPr/>
                    <a:lstStyle/>
                    <a:p>
                      <a:pPr marL="0" marR="0" lvl="0" indent="0" algn="l" rtl="0">
                        <a:spcBef>
                          <a:spcPts val="0"/>
                        </a:spcBef>
                        <a:spcAft>
                          <a:spcPts val="0"/>
                        </a:spcAft>
                        <a:buNone/>
                      </a:pPr>
                      <a:r>
                        <a:rPr lang="en-US" sz="1400" b="0" i="0" u="none" strike="noStrike" cap="none">
                          <a:solidFill>
                            <a:srgbClr val="000000"/>
                          </a:solidFill>
                          <a:latin typeface="Arial"/>
                          <a:ea typeface="Arial"/>
                          <a:cs typeface="Arial"/>
                          <a:sym typeface="Arial"/>
                        </a:rPr>
                        <a:t>Items</a:t>
                      </a:r>
                      <a:endParaRPr sz="1400" u="none" strike="noStrike" cap="none" dirty="0">
                        <a:latin typeface="Arial"/>
                        <a:ea typeface="Arial"/>
                        <a:cs typeface="Arial"/>
                        <a:sym typeface="Arial"/>
                      </a:endParaRPr>
                    </a:p>
                  </a:txBody>
                  <a:tcPr marL="21475" marR="21475" marT="21475" marB="21475">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extLst>
                  <a:ext uri="{0D108BD9-81ED-4DB2-BD59-A6C34878D82A}">
                    <a16:rowId xmlns:a16="http://schemas.microsoft.com/office/drawing/2014/main" val="10000"/>
                  </a:ext>
                </a:extLst>
              </a:tr>
              <a:tr h="1116625">
                <a:tc>
                  <a:txBody>
                    <a:bodyPr/>
                    <a:lstStyle/>
                    <a:p>
                      <a:pPr marL="0" marR="0" lvl="0" indent="0" algn="l" rtl="0">
                        <a:spcBef>
                          <a:spcPts val="0"/>
                        </a:spcBef>
                        <a:spcAft>
                          <a:spcPts val="0"/>
                        </a:spcAft>
                        <a:buNone/>
                      </a:pPr>
                      <a:r>
                        <a:rPr lang="en-US" sz="1400" b="0" i="0" u="none" strike="noStrike" cap="none">
                          <a:solidFill>
                            <a:srgbClr val="000000"/>
                          </a:solidFill>
                          <a:latin typeface="Arial"/>
                          <a:ea typeface="Arial"/>
                          <a:cs typeface="Arial"/>
                          <a:sym typeface="Arial"/>
                        </a:rPr>
                        <a:t>Input</a:t>
                      </a:r>
                      <a:endParaRPr sz="1400" u="none" strike="noStrike" cap="none">
                        <a:latin typeface="Arial"/>
                        <a:ea typeface="Arial"/>
                        <a:cs typeface="Arial"/>
                        <a:sym typeface="Arial"/>
                      </a:endParaRPr>
                    </a:p>
                  </a:txBody>
                  <a:tcPr marL="21475" marR="21475" marT="21475" marB="21475">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tc>
                  <a:txBody>
                    <a:bodyPr/>
                    <a:lstStyle/>
                    <a:p>
                      <a:pPr marL="0" marR="0" lvl="0" indent="0" algn="l" rtl="0">
                        <a:spcBef>
                          <a:spcPts val="0"/>
                        </a:spcBef>
                        <a:spcAft>
                          <a:spcPts val="0"/>
                        </a:spcAft>
                        <a:buNone/>
                      </a:pPr>
                      <a:r>
                        <a:rPr lang="en-US" sz="1400" b="0" i="0" u="none" strike="noStrike" cap="none">
                          <a:solidFill>
                            <a:srgbClr val="000000"/>
                          </a:solidFill>
                          <a:latin typeface="Arial"/>
                          <a:ea typeface="Arial"/>
                          <a:cs typeface="Arial"/>
                          <a:sym typeface="Arial"/>
                        </a:rPr>
                        <a:t>Amount of funding secured for the program  </a:t>
                      </a:r>
                      <a:endParaRPr sz="1400" u="none" strike="noStrike" cap="none">
                        <a:latin typeface="Arial"/>
                        <a:ea typeface="Arial"/>
                        <a:cs typeface="Arial"/>
                        <a:sym typeface="Arial"/>
                      </a:endParaRPr>
                    </a:p>
                    <a:p>
                      <a:pPr marL="0" marR="0" lvl="0" indent="0" algn="l" rtl="0">
                        <a:spcBef>
                          <a:spcPts val="0"/>
                        </a:spcBef>
                        <a:spcAft>
                          <a:spcPts val="0"/>
                        </a:spcAft>
                        <a:buNone/>
                      </a:pPr>
                      <a:r>
                        <a:rPr lang="en-US" sz="1400" b="0" i="0" u="none" strike="noStrike" cap="none">
                          <a:solidFill>
                            <a:srgbClr val="000000"/>
                          </a:solidFill>
                          <a:latin typeface="Arial"/>
                          <a:ea typeface="Arial"/>
                          <a:cs typeface="Arial"/>
                          <a:sym typeface="Arial"/>
                        </a:rPr>
                        <a:t>#of Therapists on staff</a:t>
                      </a:r>
                      <a:endParaRPr sz="1400" u="none" strike="noStrike" cap="none">
                        <a:latin typeface="Arial"/>
                        <a:ea typeface="Arial"/>
                        <a:cs typeface="Arial"/>
                        <a:sym typeface="Arial"/>
                      </a:endParaRPr>
                    </a:p>
                    <a:p>
                      <a:pPr marL="0" marR="0" lvl="0" indent="0" algn="l" rtl="0">
                        <a:spcBef>
                          <a:spcPts val="0"/>
                        </a:spcBef>
                        <a:spcAft>
                          <a:spcPts val="0"/>
                        </a:spcAft>
                        <a:buNone/>
                      </a:pPr>
                      <a:r>
                        <a:rPr lang="en-US" sz="1400" b="0" i="0" u="none" strike="noStrike" cap="none">
                          <a:solidFill>
                            <a:srgbClr val="000000"/>
                          </a:solidFill>
                          <a:latin typeface="Arial"/>
                          <a:ea typeface="Arial"/>
                          <a:cs typeface="Arial"/>
                          <a:sym typeface="Arial"/>
                        </a:rPr>
                        <a:t># of community partnerships</a:t>
                      </a:r>
                      <a:endParaRPr sz="1400" u="none" strike="noStrike" cap="none">
                        <a:latin typeface="Arial"/>
                        <a:ea typeface="Arial"/>
                        <a:cs typeface="Arial"/>
                        <a:sym typeface="Arial"/>
                      </a:endParaRPr>
                    </a:p>
                    <a:p>
                      <a:pPr marL="0" marR="0" lvl="0" indent="0" algn="l" rtl="0">
                        <a:spcBef>
                          <a:spcPts val="0"/>
                        </a:spcBef>
                        <a:spcAft>
                          <a:spcPts val="0"/>
                        </a:spcAft>
                        <a:buNone/>
                      </a:pPr>
                      <a:endParaRPr sz="1400" u="none" strike="noStrike" cap="none">
                        <a:latin typeface="Arial"/>
                        <a:ea typeface="Arial"/>
                        <a:cs typeface="Arial"/>
                        <a:sym typeface="Arial"/>
                      </a:endParaRPr>
                    </a:p>
                  </a:txBody>
                  <a:tcPr marL="21475" marR="21475" marT="21475" marB="21475">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tc>
                  <a:txBody>
                    <a:bodyPr/>
                    <a:lstStyle/>
                    <a:p>
                      <a:pPr marL="0" marR="0" lvl="0" indent="0" algn="l" rtl="0">
                        <a:spcBef>
                          <a:spcPts val="0"/>
                        </a:spcBef>
                        <a:spcAft>
                          <a:spcPts val="0"/>
                        </a:spcAft>
                        <a:buNone/>
                      </a:pPr>
                      <a:r>
                        <a:rPr lang="en-US" sz="1400" b="0" i="0" u="none" strike="noStrike" cap="none">
                          <a:solidFill>
                            <a:srgbClr val="000000"/>
                          </a:solidFill>
                          <a:latin typeface="Arial"/>
                          <a:ea typeface="Arial"/>
                          <a:cs typeface="Arial"/>
                          <a:sym typeface="Arial"/>
                        </a:rPr>
                        <a:t>Funding Amount</a:t>
                      </a:r>
                      <a:endParaRPr sz="1400" u="none" strike="noStrike" cap="none">
                        <a:latin typeface="Arial"/>
                        <a:ea typeface="Arial"/>
                        <a:cs typeface="Arial"/>
                        <a:sym typeface="Arial"/>
                      </a:endParaRPr>
                    </a:p>
                    <a:p>
                      <a:pPr marL="0" marR="0" lvl="0" indent="0" algn="l" rtl="0">
                        <a:spcBef>
                          <a:spcPts val="0"/>
                        </a:spcBef>
                        <a:spcAft>
                          <a:spcPts val="0"/>
                        </a:spcAft>
                        <a:buNone/>
                      </a:pPr>
                      <a:r>
                        <a:rPr lang="en-US" sz="1400" b="0" i="0" u="none" strike="noStrike" cap="none">
                          <a:solidFill>
                            <a:srgbClr val="000000"/>
                          </a:solidFill>
                          <a:latin typeface="Arial"/>
                          <a:ea typeface="Arial"/>
                          <a:cs typeface="Arial"/>
                          <a:sym typeface="Arial"/>
                        </a:rPr>
                        <a:t>Number of therapists</a:t>
                      </a:r>
                      <a:endParaRPr sz="1400" u="none" strike="noStrike" cap="none">
                        <a:latin typeface="Arial"/>
                        <a:ea typeface="Arial"/>
                        <a:cs typeface="Arial"/>
                        <a:sym typeface="Arial"/>
                      </a:endParaRPr>
                    </a:p>
                    <a:p>
                      <a:pPr marL="0" marR="0" lvl="0" indent="0" algn="l" rtl="0">
                        <a:spcBef>
                          <a:spcPts val="0"/>
                        </a:spcBef>
                        <a:spcAft>
                          <a:spcPts val="0"/>
                        </a:spcAft>
                        <a:buNone/>
                      </a:pPr>
                      <a:r>
                        <a:rPr lang="en-US" sz="1400" b="0" i="0" u="none" strike="noStrike" cap="none">
                          <a:solidFill>
                            <a:srgbClr val="000000"/>
                          </a:solidFill>
                          <a:latin typeface="Arial"/>
                          <a:ea typeface="Arial"/>
                          <a:cs typeface="Arial"/>
                          <a:sym typeface="Arial"/>
                        </a:rPr>
                        <a:t>Number of partnerships formed</a:t>
                      </a:r>
                      <a:endParaRPr sz="1400" u="none" strike="noStrike" cap="none">
                        <a:latin typeface="Arial"/>
                        <a:ea typeface="Arial"/>
                        <a:cs typeface="Arial"/>
                        <a:sym typeface="Arial"/>
                      </a:endParaRPr>
                    </a:p>
                    <a:p>
                      <a:pPr marL="0" marR="0" lvl="0" indent="0" algn="l" rtl="0">
                        <a:spcBef>
                          <a:spcPts val="0"/>
                        </a:spcBef>
                        <a:spcAft>
                          <a:spcPts val="0"/>
                        </a:spcAft>
                        <a:buNone/>
                      </a:pPr>
                      <a:endParaRPr sz="1400" u="none" strike="noStrike" cap="none">
                        <a:latin typeface="Arial"/>
                        <a:ea typeface="Arial"/>
                        <a:cs typeface="Arial"/>
                        <a:sym typeface="Arial"/>
                      </a:endParaRPr>
                    </a:p>
                  </a:txBody>
                  <a:tcPr marL="21475" marR="21475" marT="21475" marB="21475">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extLst>
                  <a:ext uri="{0D108BD9-81ED-4DB2-BD59-A6C34878D82A}">
                    <a16:rowId xmlns:a16="http://schemas.microsoft.com/office/drawing/2014/main" val="10001"/>
                  </a:ext>
                </a:extLst>
              </a:tr>
              <a:tr h="909000">
                <a:tc>
                  <a:txBody>
                    <a:bodyPr/>
                    <a:lstStyle/>
                    <a:p>
                      <a:pPr marL="0" marR="0" lvl="0" indent="0" algn="l" rtl="0">
                        <a:spcBef>
                          <a:spcPts val="0"/>
                        </a:spcBef>
                        <a:spcAft>
                          <a:spcPts val="0"/>
                        </a:spcAft>
                        <a:buNone/>
                      </a:pPr>
                      <a:r>
                        <a:rPr lang="en-US" sz="1400" b="0" i="0" u="none" strike="noStrike" cap="none">
                          <a:solidFill>
                            <a:srgbClr val="000000"/>
                          </a:solidFill>
                          <a:latin typeface="Arial"/>
                          <a:ea typeface="Arial"/>
                          <a:cs typeface="Arial"/>
                          <a:sym typeface="Arial"/>
                        </a:rPr>
                        <a:t>Activities</a:t>
                      </a:r>
                      <a:endParaRPr sz="1400" u="none" strike="noStrike" cap="none">
                        <a:latin typeface="Arial"/>
                        <a:ea typeface="Arial"/>
                        <a:cs typeface="Arial"/>
                        <a:sym typeface="Arial"/>
                      </a:endParaRPr>
                    </a:p>
                  </a:txBody>
                  <a:tcPr marL="21475" marR="21475" marT="21475" marB="21475">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tc>
                  <a:txBody>
                    <a:bodyPr/>
                    <a:lstStyle/>
                    <a:p>
                      <a:pPr marL="0" marR="0" lvl="0" indent="0" algn="l" rtl="0">
                        <a:spcBef>
                          <a:spcPts val="0"/>
                        </a:spcBef>
                        <a:spcAft>
                          <a:spcPts val="0"/>
                        </a:spcAft>
                        <a:buNone/>
                      </a:pPr>
                      <a:r>
                        <a:rPr lang="en-US" sz="1400" b="0" i="0" u="none" strike="noStrike" cap="none">
                          <a:solidFill>
                            <a:srgbClr val="000000"/>
                          </a:solidFill>
                          <a:latin typeface="Arial"/>
                          <a:ea typeface="Arial"/>
                          <a:cs typeface="Arial"/>
                          <a:sym typeface="Arial"/>
                        </a:rPr>
                        <a:t># of education sessions conducted</a:t>
                      </a:r>
                      <a:endParaRPr sz="1400" u="none" strike="noStrike" cap="none">
                        <a:latin typeface="Arial"/>
                        <a:ea typeface="Arial"/>
                        <a:cs typeface="Arial"/>
                        <a:sym typeface="Arial"/>
                      </a:endParaRPr>
                    </a:p>
                    <a:p>
                      <a:pPr marL="0" marR="0" lvl="0" indent="0" algn="l" rtl="0">
                        <a:spcBef>
                          <a:spcPts val="0"/>
                        </a:spcBef>
                        <a:spcAft>
                          <a:spcPts val="0"/>
                        </a:spcAft>
                        <a:buNone/>
                      </a:pPr>
                      <a:r>
                        <a:rPr lang="en-US" sz="1400" b="0" i="0" u="none" strike="noStrike" cap="none">
                          <a:solidFill>
                            <a:srgbClr val="000000"/>
                          </a:solidFill>
                          <a:latin typeface="Arial"/>
                          <a:ea typeface="Arial"/>
                          <a:cs typeface="Arial"/>
                          <a:sym typeface="Arial"/>
                        </a:rPr>
                        <a:t># of therapy sessions provided</a:t>
                      </a:r>
                      <a:endParaRPr sz="1400" u="none" strike="noStrike" cap="none">
                        <a:latin typeface="Arial"/>
                        <a:ea typeface="Arial"/>
                        <a:cs typeface="Arial"/>
                        <a:sym typeface="Arial"/>
                      </a:endParaRPr>
                    </a:p>
                    <a:p>
                      <a:pPr marL="0" marR="0" lvl="0" indent="0" algn="l" rtl="0">
                        <a:spcBef>
                          <a:spcPts val="0"/>
                        </a:spcBef>
                        <a:spcAft>
                          <a:spcPts val="0"/>
                        </a:spcAft>
                        <a:buNone/>
                      </a:pPr>
                      <a:r>
                        <a:rPr lang="en-US" sz="1400" b="0" i="0" u="none" strike="noStrike" cap="none">
                          <a:solidFill>
                            <a:srgbClr val="000000"/>
                          </a:solidFill>
                          <a:latin typeface="Arial"/>
                          <a:ea typeface="Arial"/>
                          <a:cs typeface="Arial"/>
                          <a:sym typeface="Arial"/>
                        </a:rPr>
                        <a:t># of referrals made to local mental health providers</a:t>
                      </a:r>
                      <a:endParaRPr sz="1400" u="none" strike="noStrike" cap="none">
                        <a:latin typeface="Arial"/>
                        <a:ea typeface="Arial"/>
                        <a:cs typeface="Arial"/>
                        <a:sym typeface="Arial"/>
                      </a:endParaRPr>
                    </a:p>
                  </a:txBody>
                  <a:tcPr marL="21475" marR="21475" marT="21475" marB="21475">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tc>
                  <a:txBody>
                    <a:bodyPr/>
                    <a:lstStyle/>
                    <a:p>
                      <a:pPr marL="0" marR="0" lvl="0" indent="0" algn="l" rtl="0">
                        <a:spcBef>
                          <a:spcPts val="0"/>
                        </a:spcBef>
                        <a:spcAft>
                          <a:spcPts val="0"/>
                        </a:spcAft>
                        <a:buNone/>
                      </a:pPr>
                      <a:r>
                        <a:rPr lang="en-US" sz="1400" b="0" i="0" u="none" strike="noStrike" cap="none">
                          <a:solidFill>
                            <a:srgbClr val="000000"/>
                          </a:solidFill>
                          <a:latin typeface="Arial"/>
                          <a:ea typeface="Arial"/>
                          <a:cs typeface="Arial"/>
                          <a:sym typeface="Arial"/>
                        </a:rPr>
                        <a:t>Substance abuse education sessions</a:t>
                      </a:r>
                      <a:endParaRPr sz="1400" u="none" strike="noStrike" cap="none">
                        <a:latin typeface="Arial"/>
                        <a:ea typeface="Arial"/>
                        <a:cs typeface="Arial"/>
                        <a:sym typeface="Arial"/>
                      </a:endParaRPr>
                    </a:p>
                    <a:p>
                      <a:pPr marL="0" marR="0" lvl="0" indent="0" algn="l" rtl="0">
                        <a:spcBef>
                          <a:spcPts val="0"/>
                        </a:spcBef>
                        <a:spcAft>
                          <a:spcPts val="0"/>
                        </a:spcAft>
                        <a:buNone/>
                      </a:pPr>
                      <a:r>
                        <a:rPr lang="en-US" sz="1400" b="0" i="0" u="none" strike="noStrike" cap="none">
                          <a:solidFill>
                            <a:srgbClr val="000000"/>
                          </a:solidFill>
                          <a:latin typeface="Arial"/>
                          <a:ea typeface="Arial"/>
                          <a:cs typeface="Arial"/>
                          <a:sym typeface="Arial"/>
                        </a:rPr>
                        <a:t>Short-term therapy provision </a:t>
                      </a:r>
                      <a:endParaRPr sz="1400" u="none" strike="noStrike" cap="none">
                        <a:latin typeface="Arial"/>
                        <a:ea typeface="Arial"/>
                        <a:cs typeface="Arial"/>
                        <a:sym typeface="Arial"/>
                      </a:endParaRPr>
                    </a:p>
                    <a:p>
                      <a:pPr marL="0" marR="0" lvl="0" indent="0" algn="l" rtl="0">
                        <a:spcBef>
                          <a:spcPts val="0"/>
                        </a:spcBef>
                        <a:spcAft>
                          <a:spcPts val="0"/>
                        </a:spcAft>
                        <a:buNone/>
                      </a:pPr>
                      <a:r>
                        <a:rPr lang="en-US" sz="1400" b="0" i="0" u="none" strike="noStrike" cap="none">
                          <a:solidFill>
                            <a:srgbClr val="000000"/>
                          </a:solidFill>
                          <a:latin typeface="Arial"/>
                          <a:ea typeface="Arial"/>
                          <a:cs typeface="Arial"/>
                          <a:sym typeface="Arial"/>
                        </a:rPr>
                        <a:t>Referral process establishment</a:t>
                      </a:r>
                      <a:endParaRPr sz="1400" u="none" strike="noStrike" cap="none">
                        <a:latin typeface="Arial"/>
                        <a:ea typeface="Arial"/>
                        <a:cs typeface="Arial"/>
                        <a:sym typeface="Arial"/>
                      </a:endParaRPr>
                    </a:p>
                  </a:txBody>
                  <a:tcPr marL="21475" marR="21475" marT="21475" marB="21475">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extLst>
                  <a:ext uri="{0D108BD9-81ED-4DB2-BD59-A6C34878D82A}">
                    <a16:rowId xmlns:a16="http://schemas.microsoft.com/office/drawing/2014/main" val="10002"/>
                  </a:ext>
                </a:extLst>
              </a:tr>
              <a:tr h="909000">
                <a:tc>
                  <a:txBody>
                    <a:bodyPr/>
                    <a:lstStyle/>
                    <a:p>
                      <a:pPr marL="0" marR="0" lvl="0" indent="0" algn="l" rtl="0">
                        <a:spcBef>
                          <a:spcPts val="0"/>
                        </a:spcBef>
                        <a:spcAft>
                          <a:spcPts val="0"/>
                        </a:spcAft>
                        <a:buNone/>
                      </a:pPr>
                      <a:r>
                        <a:rPr lang="en-US" sz="1400" b="0" i="0" u="none" strike="noStrike" cap="none">
                          <a:solidFill>
                            <a:srgbClr val="000000"/>
                          </a:solidFill>
                          <a:latin typeface="Arial"/>
                          <a:ea typeface="Arial"/>
                          <a:cs typeface="Arial"/>
                          <a:sym typeface="Arial"/>
                        </a:rPr>
                        <a:t>Outputs</a:t>
                      </a:r>
                      <a:endParaRPr sz="1400" u="none" strike="noStrike" cap="none">
                        <a:latin typeface="Arial"/>
                        <a:ea typeface="Arial"/>
                        <a:cs typeface="Arial"/>
                        <a:sym typeface="Arial"/>
                      </a:endParaRPr>
                    </a:p>
                  </a:txBody>
                  <a:tcPr marL="21475" marR="21475" marT="21475" marB="21475">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tc>
                  <a:txBody>
                    <a:bodyPr/>
                    <a:lstStyle/>
                    <a:p>
                      <a:pPr marL="0" marR="0" lvl="0" indent="0" algn="l" rtl="0">
                        <a:spcBef>
                          <a:spcPts val="0"/>
                        </a:spcBef>
                        <a:spcAft>
                          <a:spcPts val="0"/>
                        </a:spcAft>
                        <a:buNone/>
                      </a:pPr>
                      <a:r>
                        <a:rPr lang="en-US" sz="1400" b="0" i="0" u="none" strike="noStrike" cap="none">
                          <a:solidFill>
                            <a:srgbClr val="000000"/>
                          </a:solidFill>
                          <a:latin typeface="Arial"/>
                          <a:ea typeface="Arial"/>
                          <a:cs typeface="Arial"/>
                          <a:sym typeface="Arial"/>
                        </a:rPr>
                        <a:t># of adolescents reached</a:t>
                      </a:r>
                      <a:endParaRPr sz="1400" u="none" strike="noStrike" cap="none">
                        <a:latin typeface="Arial"/>
                        <a:ea typeface="Arial"/>
                        <a:cs typeface="Arial"/>
                        <a:sym typeface="Arial"/>
                      </a:endParaRPr>
                    </a:p>
                    <a:p>
                      <a:pPr marL="0" marR="0" lvl="0" indent="0" algn="l" rtl="0">
                        <a:spcBef>
                          <a:spcPts val="0"/>
                        </a:spcBef>
                        <a:spcAft>
                          <a:spcPts val="0"/>
                        </a:spcAft>
                        <a:buNone/>
                      </a:pPr>
                      <a:r>
                        <a:rPr lang="en-US" sz="1400" b="0" i="0" u="none" strike="noStrike" cap="none">
                          <a:solidFill>
                            <a:srgbClr val="000000"/>
                          </a:solidFill>
                          <a:latin typeface="Arial"/>
                          <a:ea typeface="Arial"/>
                          <a:cs typeface="Arial"/>
                          <a:sym typeface="Arial"/>
                        </a:rPr>
                        <a:t># of clients who received short-term therapy</a:t>
                      </a:r>
                      <a:endParaRPr sz="1400" u="none" strike="noStrike" cap="none">
                        <a:latin typeface="Arial"/>
                        <a:ea typeface="Arial"/>
                        <a:cs typeface="Arial"/>
                        <a:sym typeface="Arial"/>
                      </a:endParaRPr>
                    </a:p>
                    <a:p>
                      <a:pPr marL="0" marR="0" lvl="0" indent="0" algn="l" rtl="0">
                        <a:spcBef>
                          <a:spcPts val="0"/>
                        </a:spcBef>
                        <a:spcAft>
                          <a:spcPts val="0"/>
                        </a:spcAft>
                        <a:buNone/>
                      </a:pPr>
                      <a:r>
                        <a:rPr lang="en-US" sz="1400" b="0" i="0" u="none" strike="noStrike" cap="none">
                          <a:solidFill>
                            <a:srgbClr val="000000"/>
                          </a:solidFill>
                          <a:latin typeface="Arial"/>
                          <a:ea typeface="Arial"/>
                          <a:cs typeface="Arial"/>
                          <a:sym typeface="Arial"/>
                        </a:rPr>
                        <a:t># of families assisted</a:t>
                      </a:r>
                      <a:endParaRPr sz="1400" u="none" strike="noStrike" cap="none">
                        <a:latin typeface="Arial"/>
                        <a:ea typeface="Arial"/>
                        <a:cs typeface="Arial"/>
                        <a:sym typeface="Arial"/>
                      </a:endParaRPr>
                    </a:p>
                  </a:txBody>
                  <a:tcPr marL="21475" marR="21475" marT="21475" marB="21475">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tc>
                  <a:txBody>
                    <a:bodyPr/>
                    <a:lstStyle/>
                    <a:p>
                      <a:pPr marL="0" marR="0" lvl="0" indent="0" algn="l" rtl="0">
                        <a:spcBef>
                          <a:spcPts val="0"/>
                        </a:spcBef>
                        <a:spcAft>
                          <a:spcPts val="0"/>
                        </a:spcAft>
                        <a:buNone/>
                      </a:pPr>
                      <a:r>
                        <a:rPr lang="en-US" sz="1400" b="0" i="0" u="none" strike="noStrike" cap="none">
                          <a:solidFill>
                            <a:srgbClr val="000000"/>
                          </a:solidFill>
                          <a:latin typeface="Arial"/>
                          <a:ea typeface="Arial"/>
                          <a:cs typeface="Arial"/>
                          <a:sym typeface="Arial"/>
                        </a:rPr>
                        <a:t>Adolescents receiving education</a:t>
                      </a:r>
                      <a:endParaRPr sz="1400" u="none" strike="noStrike" cap="none">
                        <a:latin typeface="Arial"/>
                        <a:ea typeface="Arial"/>
                        <a:cs typeface="Arial"/>
                        <a:sym typeface="Arial"/>
                      </a:endParaRPr>
                    </a:p>
                    <a:p>
                      <a:pPr marL="0" marR="0" lvl="0" indent="0" algn="l" rtl="0">
                        <a:spcBef>
                          <a:spcPts val="0"/>
                        </a:spcBef>
                        <a:spcAft>
                          <a:spcPts val="0"/>
                        </a:spcAft>
                        <a:buNone/>
                      </a:pPr>
                      <a:r>
                        <a:rPr lang="en-US" sz="1400" b="0" i="0" u="none" strike="noStrike" cap="none">
                          <a:solidFill>
                            <a:srgbClr val="000000"/>
                          </a:solidFill>
                          <a:latin typeface="Arial"/>
                          <a:ea typeface="Arial"/>
                          <a:cs typeface="Arial"/>
                          <a:sym typeface="Arial"/>
                        </a:rPr>
                        <a:t>Adolescents receiving short-term therapy</a:t>
                      </a:r>
                      <a:endParaRPr sz="1400" u="none" strike="noStrike" cap="none">
                        <a:latin typeface="Arial"/>
                        <a:ea typeface="Arial"/>
                        <a:cs typeface="Arial"/>
                        <a:sym typeface="Arial"/>
                      </a:endParaRPr>
                    </a:p>
                    <a:p>
                      <a:pPr marL="0" marR="0" lvl="0" indent="0" algn="l" rtl="0">
                        <a:spcBef>
                          <a:spcPts val="0"/>
                        </a:spcBef>
                        <a:spcAft>
                          <a:spcPts val="0"/>
                        </a:spcAft>
                        <a:buNone/>
                      </a:pPr>
                      <a:r>
                        <a:rPr lang="en-US" sz="1400" b="0" i="0" u="none" strike="noStrike" cap="none">
                          <a:solidFill>
                            <a:srgbClr val="000000"/>
                          </a:solidFill>
                          <a:latin typeface="Arial"/>
                          <a:ea typeface="Arial"/>
                          <a:cs typeface="Arial"/>
                          <a:sym typeface="Arial"/>
                        </a:rPr>
                        <a:t>Families receiving assistance</a:t>
                      </a:r>
                      <a:endParaRPr sz="1400" u="none" strike="noStrike" cap="none">
                        <a:latin typeface="Arial"/>
                        <a:ea typeface="Arial"/>
                        <a:cs typeface="Arial"/>
                        <a:sym typeface="Arial"/>
                      </a:endParaRPr>
                    </a:p>
                  </a:txBody>
                  <a:tcPr marL="21475" marR="21475" marT="21475" marB="21475">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extLst>
                  <a:ext uri="{0D108BD9-81ED-4DB2-BD59-A6C34878D82A}">
                    <a16:rowId xmlns:a16="http://schemas.microsoft.com/office/drawing/2014/main" val="10003"/>
                  </a:ext>
                </a:extLst>
              </a:tr>
              <a:tr h="1324225">
                <a:tc>
                  <a:txBody>
                    <a:bodyPr/>
                    <a:lstStyle/>
                    <a:p>
                      <a:pPr marL="0" marR="0" lvl="0" indent="0" algn="l" rtl="0">
                        <a:spcBef>
                          <a:spcPts val="0"/>
                        </a:spcBef>
                        <a:spcAft>
                          <a:spcPts val="0"/>
                        </a:spcAft>
                        <a:buNone/>
                      </a:pPr>
                      <a:r>
                        <a:rPr lang="en-US" sz="1400" b="0" i="0" u="none" strike="noStrike" cap="none">
                          <a:solidFill>
                            <a:srgbClr val="000000"/>
                          </a:solidFill>
                          <a:latin typeface="Arial"/>
                          <a:ea typeface="Arial"/>
                          <a:cs typeface="Arial"/>
                          <a:sym typeface="Arial"/>
                        </a:rPr>
                        <a:t>Outcomes</a:t>
                      </a:r>
                      <a:endParaRPr sz="1400" u="none" strike="noStrike" cap="none">
                        <a:latin typeface="Arial"/>
                        <a:ea typeface="Arial"/>
                        <a:cs typeface="Arial"/>
                        <a:sym typeface="Arial"/>
                      </a:endParaRPr>
                    </a:p>
                  </a:txBody>
                  <a:tcPr marL="21475" marR="21475" marT="21475" marB="21475">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tc>
                  <a:txBody>
                    <a:bodyPr/>
                    <a:lstStyle/>
                    <a:p>
                      <a:pPr marL="0" marR="0" lvl="0" indent="0" algn="l" rtl="0">
                        <a:spcBef>
                          <a:spcPts val="0"/>
                        </a:spcBef>
                        <a:spcAft>
                          <a:spcPts val="0"/>
                        </a:spcAft>
                        <a:buNone/>
                      </a:pPr>
                      <a:r>
                        <a:rPr lang="en-US" sz="1400" b="0" i="0" u="none" strike="noStrike" cap="none">
                          <a:solidFill>
                            <a:srgbClr val="000000"/>
                          </a:solidFill>
                          <a:latin typeface="Arial"/>
                          <a:ea typeface="Arial"/>
                          <a:cs typeface="Arial"/>
                          <a:sym typeface="Arial"/>
                        </a:rPr>
                        <a:t>% of families accessing long-term services</a:t>
                      </a:r>
                      <a:endParaRPr sz="1400" u="none" strike="noStrike" cap="none">
                        <a:latin typeface="Arial"/>
                        <a:ea typeface="Arial"/>
                        <a:cs typeface="Arial"/>
                        <a:sym typeface="Arial"/>
                      </a:endParaRPr>
                    </a:p>
                    <a:p>
                      <a:pPr marL="0" marR="0" lvl="0" indent="0" algn="l" rtl="0">
                        <a:spcBef>
                          <a:spcPts val="0"/>
                        </a:spcBef>
                        <a:spcAft>
                          <a:spcPts val="0"/>
                        </a:spcAft>
                        <a:buNone/>
                      </a:pPr>
                      <a:r>
                        <a:rPr lang="en-US" sz="1400" b="0" i="0" u="none" strike="noStrike" cap="none">
                          <a:solidFill>
                            <a:srgbClr val="000000"/>
                          </a:solidFill>
                          <a:latin typeface="Arial"/>
                          <a:ea typeface="Arial"/>
                          <a:cs typeface="Arial"/>
                          <a:sym typeface="Arial"/>
                        </a:rPr>
                        <a:t>% of families reporting improved access to care</a:t>
                      </a:r>
                      <a:endParaRPr sz="1400" u="none" strike="noStrike" cap="none">
                        <a:latin typeface="Arial"/>
                        <a:ea typeface="Arial"/>
                        <a:cs typeface="Arial"/>
                        <a:sym typeface="Arial"/>
                      </a:endParaRPr>
                    </a:p>
                    <a:p>
                      <a:pPr marL="0" marR="0" lvl="0" indent="0" algn="l" rtl="0">
                        <a:spcBef>
                          <a:spcPts val="0"/>
                        </a:spcBef>
                        <a:spcAft>
                          <a:spcPts val="0"/>
                        </a:spcAft>
                        <a:buNone/>
                      </a:pPr>
                      <a:r>
                        <a:rPr lang="en-US" sz="1400" b="0" i="0" u="none" strike="noStrike" cap="none">
                          <a:solidFill>
                            <a:srgbClr val="000000"/>
                          </a:solidFill>
                          <a:latin typeface="Arial"/>
                          <a:ea typeface="Arial"/>
                          <a:cs typeface="Arial"/>
                          <a:sym typeface="Arial"/>
                        </a:rPr>
                        <a:t>% of families satisfied with services received</a:t>
                      </a:r>
                      <a:endParaRPr sz="1400" u="none" strike="noStrike" cap="none">
                        <a:latin typeface="Arial"/>
                        <a:ea typeface="Arial"/>
                        <a:cs typeface="Arial"/>
                        <a:sym typeface="Arial"/>
                      </a:endParaRPr>
                    </a:p>
                  </a:txBody>
                  <a:tcPr marL="21475" marR="21475" marT="21475" marB="21475">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tc>
                  <a:txBody>
                    <a:bodyPr/>
                    <a:lstStyle/>
                    <a:p>
                      <a:pPr marL="0" marR="0" lvl="0" indent="0" algn="l" rtl="0">
                        <a:spcBef>
                          <a:spcPts val="0"/>
                        </a:spcBef>
                        <a:spcAft>
                          <a:spcPts val="0"/>
                        </a:spcAft>
                        <a:buNone/>
                      </a:pPr>
                      <a:r>
                        <a:rPr lang="en-US" sz="1400" b="0" i="0" u="none" strike="noStrike" cap="none" dirty="0">
                          <a:solidFill>
                            <a:srgbClr val="000000"/>
                          </a:solidFill>
                          <a:latin typeface="Arial"/>
                          <a:ea typeface="Arial"/>
                          <a:cs typeface="Arial"/>
                          <a:sym typeface="Arial"/>
                        </a:rPr>
                        <a:t>Long-term services utilization</a:t>
                      </a:r>
                      <a:endParaRPr sz="1400" u="none" strike="noStrike" cap="none" dirty="0">
                        <a:latin typeface="Arial"/>
                        <a:ea typeface="Arial"/>
                        <a:cs typeface="Arial"/>
                        <a:sym typeface="Arial"/>
                      </a:endParaRPr>
                    </a:p>
                    <a:p>
                      <a:pPr marL="0" marR="0" lvl="0" indent="0" algn="l" rtl="0">
                        <a:spcBef>
                          <a:spcPts val="0"/>
                        </a:spcBef>
                        <a:spcAft>
                          <a:spcPts val="0"/>
                        </a:spcAft>
                        <a:buNone/>
                      </a:pPr>
                      <a:r>
                        <a:rPr lang="en-US" sz="1400" b="0" i="0" u="none" strike="noStrike" cap="none" dirty="0">
                          <a:solidFill>
                            <a:srgbClr val="000000"/>
                          </a:solidFill>
                          <a:latin typeface="Arial"/>
                          <a:ea typeface="Arial"/>
                          <a:cs typeface="Arial"/>
                          <a:sym typeface="Arial"/>
                        </a:rPr>
                        <a:t>Improved access to care</a:t>
                      </a:r>
                      <a:endParaRPr sz="1400" u="none" strike="noStrike" cap="none" dirty="0">
                        <a:latin typeface="Arial"/>
                        <a:ea typeface="Arial"/>
                        <a:cs typeface="Arial"/>
                        <a:sym typeface="Arial"/>
                      </a:endParaRPr>
                    </a:p>
                    <a:p>
                      <a:pPr marL="0" marR="0" lvl="0" indent="0" algn="l" rtl="0">
                        <a:spcBef>
                          <a:spcPts val="0"/>
                        </a:spcBef>
                        <a:spcAft>
                          <a:spcPts val="0"/>
                        </a:spcAft>
                        <a:buNone/>
                      </a:pPr>
                      <a:r>
                        <a:rPr lang="en-US" sz="1400" b="0" i="0" u="none" strike="noStrike" cap="none" dirty="0">
                          <a:solidFill>
                            <a:srgbClr val="000000"/>
                          </a:solidFill>
                          <a:latin typeface="Arial"/>
                          <a:ea typeface="Arial"/>
                          <a:cs typeface="Arial"/>
                          <a:sym typeface="Arial"/>
                        </a:rPr>
                        <a:t>Satisfaction with services</a:t>
                      </a:r>
                      <a:endParaRPr sz="1400" u="none" strike="noStrike" cap="none" dirty="0">
                        <a:latin typeface="Arial"/>
                        <a:ea typeface="Arial"/>
                        <a:cs typeface="Arial"/>
                        <a:sym typeface="Arial"/>
                      </a:endParaRPr>
                    </a:p>
                  </a:txBody>
                  <a:tcPr marL="21475" marR="21475" marT="21475" marB="21475">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extLst>
                  <a:ext uri="{0D108BD9-81ED-4DB2-BD59-A6C34878D82A}">
                    <a16:rowId xmlns:a16="http://schemas.microsoft.com/office/drawing/2014/main" val="10004"/>
                  </a:ext>
                </a:extLst>
              </a:tr>
            </a:tbl>
          </a:graphicData>
        </a:graphic>
      </p:graphicFrame>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lt2"/>
        </a:solidFill>
        <a:effectLst/>
      </p:bgPr>
    </p:bg>
    <p:spTree>
      <p:nvGrpSpPr>
        <p:cNvPr id="1" name="Shape 323"/>
        <p:cNvGrpSpPr/>
        <p:nvPr/>
      </p:nvGrpSpPr>
      <p:grpSpPr>
        <a:xfrm>
          <a:off x="0" y="0"/>
          <a:ext cx="0" cy="0"/>
          <a:chOff x="0" y="0"/>
          <a:chExt cx="0" cy="0"/>
        </a:xfrm>
      </p:grpSpPr>
      <p:sp>
        <p:nvSpPr>
          <p:cNvPr id="324" name="Google Shape;324;p16"/>
          <p:cNvSpPr/>
          <p:nvPr/>
        </p:nvSpPr>
        <p:spPr>
          <a:xfrm>
            <a:off x="4636008" y="0"/>
            <a:ext cx="7555992" cy="6858000"/>
          </a:xfrm>
          <a:prstGeom prst="rect">
            <a:avLst/>
          </a:prstGeom>
          <a:solidFill>
            <a:schemeClr val="lt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entury Gothic"/>
              <a:buNone/>
            </a:pPr>
            <a:endParaRPr sz="1800" b="0" i="0" u="none" strike="noStrike" cap="none">
              <a:solidFill>
                <a:srgbClr val="FFFFFF"/>
              </a:solidFill>
              <a:latin typeface="Century Gothic"/>
              <a:ea typeface="Century Gothic"/>
              <a:cs typeface="Century Gothic"/>
              <a:sym typeface="Century Gothic"/>
            </a:endParaRPr>
          </a:p>
        </p:txBody>
      </p:sp>
      <p:sp>
        <p:nvSpPr>
          <p:cNvPr id="325" name="Google Shape;325;p16"/>
          <p:cNvSpPr/>
          <p:nvPr/>
        </p:nvSpPr>
        <p:spPr>
          <a:xfrm>
            <a:off x="0" y="0"/>
            <a:ext cx="4636008" cy="6858000"/>
          </a:xfrm>
          <a:prstGeom prst="rect">
            <a:avLst/>
          </a:prstGeom>
          <a:gradFill>
            <a:gsLst>
              <a:gs pos="0">
                <a:srgbClr val="4C4C4C"/>
              </a:gs>
              <a:gs pos="50000">
                <a:srgbClr val="292929"/>
              </a:gs>
              <a:gs pos="100000">
                <a:schemeClr val="dk1"/>
              </a:gs>
            </a:gsLst>
            <a:lin ang="5400000" scaled="0"/>
          </a:gradFill>
          <a:ln>
            <a:noFill/>
          </a:ln>
          <a:effectLst>
            <a:outerShdw blurRad="63500" dist="38100" algn="l" rotWithShape="0">
              <a:srgbClr val="000000">
                <a:alpha val="40000"/>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entury Gothic"/>
              <a:buNone/>
            </a:pPr>
            <a:endParaRPr sz="1800" b="0" i="0" u="none" strike="noStrike" cap="none">
              <a:solidFill>
                <a:srgbClr val="FFFFFF"/>
              </a:solidFill>
              <a:latin typeface="Century Gothic"/>
              <a:ea typeface="Century Gothic"/>
              <a:cs typeface="Century Gothic"/>
              <a:sym typeface="Century Gothic"/>
            </a:endParaRPr>
          </a:p>
        </p:txBody>
      </p:sp>
      <p:pic>
        <p:nvPicPr>
          <p:cNvPr id="326" name="Google Shape;326;p16"/>
          <p:cNvPicPr preferRelativeResize="0"/>
          <p:nvPr/>
        </p:nvPicPr>
        <p:blipFill rotWithShape="1">
          <a:blip r:embed="rId3">
            <a:alphaModFix/>
          </a:blip>
          <a:srcRect r="73640"/>
          <a:stretch/>
        </p:blipFill>
        <p:spPr>
          <a:xfrm>
            <a:off x="0" y="4038601"/>
            <a:ext cx="4636008" cy="2819400"/>
          </a:xfrm>
          <a:prstGeom prst="rect">
            <a:avLst/>
          </a:prstGeom>
          <a:noFill/>
          <a:ln>
            <a:noFill/>
          </a:ln>
        </p:spPr>
      </p:pic>
      <p:sp>
        <p:nvSpPr>
          <p:cNvPr id="327" name="Google Shape;327;p16"/>
          <p:cNvSpPr txBox="1">
            <a:spLocks noGrp="1"/>
          </p:cNvSpPr>
          <p:nvPr>
            <p:ph type="title"/>
          </p:nvPr>
        </p:nvSpPr>
        <p:spPr>
          <a:xfrm>
            <a:off x="643466" y="804334"/>
            <a:ext cx="3471333" cy="5249333"/>
          </a:xfrm>
          <a:prstGeom prst="rect">
            <a:avLst/>
          </a:prstGeom>
          <a:noFill/>
          <a:ln>
            <a:noFill/>
          </a:ln>
        </p:spPr>
        <p:txBody>
          <a:bodyPr spcFirstLastPara="1" wrap="square" lIns="91425" tIns="45700" rIns="91425" bIns="45700" anchor="ctr" anchorCtr="0">
            <a:normAutofit/>
          </a:bodyPr>
          <a:lstStyle/>
          <a:p>
            <a:pPr marL="0" lvl="0" indent="0" algn="r" rtl="0">
              <a:lnSpc>
                <a:spcPct val="90000"/>
              </a:lnSpc>
              <a:spcBef>
                <a:spcPts val="0"/>
              </a:spcBef>
              <a:spcAft>
                <a:spcPts val="0"/>
              </a:spcAft>
              <a:buClr>
                <a:srgbClr val="FFFFFF"/>
              </a:buClr>
              <a:buSzPts val="4000"/>
              <a:buFont typeface="Arial"/>
              <a:buNone/>
            </a:pPr>
            <a:r>
              <a:rPr lang="en-US" b="0" i="0">
                <a:solidFill>
                  <a:srgbClr val="FFFFFF"/>
                </a:solidFill>
                <a:latin typeface="Arial"/>
                <a:ea typeface="Arial"/>
                <a:cs typeface="Arial"/>
                <a:sym typeface="Arial"/>
              </a:rPr>
              <a:t>MEASURING POPULATION LEVEL DATA</a:t>
            </a:r>
            <a:endParaRPr>
              <a:solidFill>
                <a:srgbClr val="FFFFFF"/>
              </a:solidFill>
            </a:endParaRPr>
          </a:p>
        </p:txBody>
      </p:sp>
      <p:sp>
        <p:nvSpPr>
          <p:cNvPr id="328" name="Google Shape;328;p16"/>
          <p:cNvSpPr txBox="1">
            <a:spLocks noGrp="1"/>
          </p:cNvSpPr>
          <p:nvPr>
            <p:ph type="body" idx="1"/>
          </p:nvPr>
        </p:nvSpPr>
        <p:spPr>
          <a:xfrm>
            <a:off x="5234722" y="804334"/>
            <a:ext cx="6271477" cy="5249333"/>
          </a:xfrm>
          <a:prstGeom prst="rect">
            <a:avLst/>
          </a:prstGeom>
          <a:noFill/>
          <a:ln>
            <a:noFill/>
          </a:ln>
        </p:spPr>
        <p:txBody>
          <a:bodyPr spcFirstLastPara="1" wrap="square" lIns="91425" tIns="45700" rIns="91425" bIns="45700" anchor="ctr" anchorCtr="0">
            <a:normAutofit/>
          </a:bodyPr>
          <a:lstStyle/>
          <a:p>
            <a:pPr marL="228600" lvl="0" indent="-228600" algn="l" rtl="0">
              <a:lnSpc>
                <a:spcPct val="90000"/>
              </a:lnSpc>
              <a:spcBef>
                <a:spcPts val="0"/>
              </a:spcBef>
              <a:spcAft>
                <a:spcPts val="0"/>
              </a:spcAft>
              <a:buClr>
                <a:schemeClr val="dk2"/>
              </a:buClr>
              <a:buSzPts val="1700"/>
              <a:buChar char="•"/>
            </a:pPr>
            <a:r>
              <a:rPr lang="en-US" sz="1700">
                <a:solidFill>
                  <a:schemeClr val="dk2"/>
                </a:solidFill>
                <a:latin typeface="Arial"/>
                <a:ea typeface="Arial"/>
                <a:cs typeface="Arial"/>
                <a:sym typeface="Arial"/>
              </a:rPr>
              <a:t>1. Select a data source to help your measure the population level impact of your intervention</a:t>
            </a:r>
            <a:endParaRPr/>
          </a:p>
          <a:p>
            <a:pPr marL="228600" lvl="0" indent="-228600" algn="l" rtl="0">
              <a:lnSpc>
                <a:spcPct val="90000"/>
              </a:lnSpc>
              <a:spcBef>
                <a:spcPts val="1000"/>
              </a:spcBef>
              <a:spcAft>
                <a:spcPts val="0"/>
              </a:spcAft>
              <a:buClr>
                <a:schemeClr val="dk2"/>
              </a:buClr>
              <a:buSzPts val="1700"/>
              <a:buChar char="•"/>
            </a:pPr>
            <a:r>
              <a:rPr lang="en-US" sz="1700">
                <a:solidFill>
                  <a:schemeClr val="dk2"/>
                </a:solidFill>
                <a:latin typeface="Arial"/>
                <a:ea typeface="Arial"/>
                <a:cs typeface="Arial"/>
                <a:sym typeface="Arial"/>
              </a:rPr>
              <a:t>2. Select the specific indicator you will use to evaluate impact (i.e. % of adults reporting good</a:t>
            </a:r>
            <a:endParaRPr/>
          </a:p>
          <a:p>
            <a:pPr marL="228600" lvl="0" indent="-228600" algn="l" rtl="0">
              <a:lnSpc>
                <a:spcPct val="90000"/>
              </a:lnSpc>
              <a:spcBef>
                <a:spcPts val="1000"/>
              </a:spcBef>
              <a:spcAft>
                <a:spcPts val="0"/>
              </a:spcAft>
              <a:buClr>
                <a:schemeClr val="dk2"/>
              </a:buClr>
              <a:buSzPts val="1700"/>
              <a:buChar char="•"/>
            </a:pPr>
            <a:r>
              <a:rPr lang="en-US" sz="1700">
                <a:solidFill>
                  <a:schemeClr val="dk2"/>
                </a:solidFill>
                <a:latin typeface="Arial"/>
                <a:ea typeface="Arial"/>
                <a:cs typeface="Arial"/>
                <a:sym typeface="Arial"/>
              </a:rPr>
              <a:t>mental health, % of adolescents who report positive relationships)</a:t>
            </a:r>
            <a:endParaRPr/>
          </a:p>
          <a:p>
            <a:pPr marL="228600" lvl="0" indent="-228600" algn="l" rtl="0">
              <a:lnSpc>
                <a:spcPct val="90000"/>
              </a:lnSpc>
              <a:spcBef>
                <a:spcPts val="1000"/>
              </a:spcBef>
              <a:spcAft>
                <a:spcPts val="0"/>
              </a:spcAft>
              <a:buClr>
                <a:schemeClr val="dk2"/>
              </a:buClr>
              <a:buSzPts val="1700"/>
              <a:buChar char="•"/>
            </a:pPr>
            <a:r>
              <a:rPr lang="en-US" sz="1700">
                <a:solidFill>
                  <a:schemeClr val="dk2"/>
                </a:solidFill>
                <a:latin typeface="Arial"/>
                <a:ea typeface="Arial"/>
                <a:cs typeface="Arial"/>
                <a:sym typeface="Arial"/>
              </a:rPr>
              <a:t>3. Answer the following reflection questions:</a:t>
            </a:r>
            <a:endParaRPr/>
          </a:p>
          <a:p>
            <a:pPr marL="228600" lvl="0" indent="-228600" algn="l" rtl="0">
              <a:lnSpc>
                <a:spcPct val="90000"/>
              </a:lnSpc>
              <a:spcBef>
                <a:spcPts val="1000"/>
              </a:spcBef>
              <a:spcAft>
                <a:spcPts val="0"/>
              </a:spcAft>
              <a:buClr>
                <a:schemeClr val="dk2"/>
              </a:buClr>
              <a:buSzPts val="1700"/>
              <a:buChar char="•"/>
            </a:pPr>
            <a:r>
              <a:rPr lang="en-US" sz="1700">
                <a:solidFill>
                  <a:schemeClr val="dk2"/>
                </a:solidFill>
                <a:latin typeface="Arial"/>
                <a:ea typeface="Arial"/>
                <a:cs typeface="Arial"/>
                <a:sym typeface="Arial"/>
              </a:rPr>
              <a:t>● How difficult or easy was it to find data that was appropriate for your indicator?</a:t>
            </a:r>
            <a:endParaRPr/>
          </a:p>
          <a:p>
            <a:pPr marL="228600" lvl="0" indent="-228600" algn="l" rtl="0">
              <a:lnSpc>
                <a:spcPct val="90000"/>
              </a:lnSpc>
              <a:spcBef>
                <a:spcPts val="1000"/>
              </a:spcBef>
              <a:spcAft>
                <a:spcPts val="0"/>
              </a:spcAft>
              <a:buClr>
                <a:schemeClr val="dk2"/>
              </a:buClr>
              <a:buSzPts val="1700"/>
              <a:buChar char="•"/>
            </a:pPr>
            <a:r>
              <a:rPr lang="en-US" sz="1700">
                <a:solidFill>
                  <a:schemeClr val="dk2"/>
                </a:solidFill>
                <a:latin typeface="Arial"/>
                <a:ea typeface="Arial"/>
                <a:cs typeface="Arial"/>
                <a:sym typeface="Arial"/>
              </a:rPr>
              <a:t>● What are some of the limitations of this data? (is it only available for certain people, at</a:t>
            </a:r>
            <a:endParaRPr/>
          </a:p>
          <a:p>
            <a:pPr marL="228600" lvl="0" indent="-228600" algn="l" rtl="0">
              <a:lnSpc>
                <a:spcPct val="90000"/>
              </a:lnSpc>
              <a:spcBef>
                <a:spcPts val="1000"/>
              </a:spcBef>
              <a:spcAft>
                <a:spcPts val="0"/>
              </a:spcAft>
              <a:buClr>
                <a:schemeClr val="dk2"/>
              </a:buClr>
              <a:buSzPts val="1700"/>
              <a:buChar char="•"/>
            </a:pPr>
            <a:r>
              <a:rPr lang="en-US" sz="1700">
                <a:solidFill>
                  <a:schemeClr val="dk2"/>
                </a:solidFill>
                <a:latin typeface="Arial"/>
                <a:ea typeface="Arial"/>
                <a:cs typeface="Arial"/>
                <a:sym typeface="Arial"/>
              </a:rPr>
              <a:t>certain frequencies?)</a:t>
            </a:r>
            <a:endParaRPr/>
          </a:p>
          <a:p>
            <a:pPr marL="228600" lvl="0" indent="-228600" algn="l" rtl="0">
              <a:lnSpc>
                <a:spcPct val="90000"/>
              </a:lnSpc>
              <a:spcBef>
                <a:spcPts val="1000"/>
              </a:spcBef>
              <a:spcAft>
                <a:spcPts val="0"/>
              </a:spcAft>
              <a:buClr>
                <a:schemeClr val="dk2"/>
              </a:buClr>
              <a:buSzPts val="1700"/>
              <a:buChar char="•"/>
            </a:pPr>
            <a:r>
              <a:rPr lang="en-US" sz="1700">
                <a:solidFill>
                  <a:schemeClr val="dk2"/>
                </a:solidFill>
                <a:latin typeface="Arial"/>
                <a:ea typeface="Arial"/>
                <a:cs typeface="Arial"/>
                <a:sym typeface="Arial"/>
              </a:rPr>
              <a:t>● In an ideal world, what would your ideal data indicator be?</a:t>
            </a:r>
            <a:endParaRPr/>
          </a:p>
          <a:p>
            <a:pPr marL="228600" lvl="0" indent="-228600" algn="l" rtl="0">
              <a:lnSpc>
                <a:spcPct val="90000"/>
              </a:lnSpc>
              <a:spcBef>
                <a:spcPts val="1000"/>
              </a:spcBef>
              <a:spcAft>
                <a:spcPts val="0"/>
              </a:spcAft>
              <a:buClr>
                <a:schemeClr val="dk2"/>
              </a:buClr>
              <a:buSzPts val="1700"/>
              <a:buChar char="•"/>
            </a:pPr>
            <a:r>
              <a:rPr lang="en-US" sz="1700">
                <a:solidFill>
                  <a:schemeClr val="dk2"/>
                </a:solidFill>
                <a:latin typeface="Arial"/>
                <a:ea typeface="Arial"/>
                <a:cs typeface="Arial"/>
                <a:sym typeface="Arial"/>
              </a:rPr>
              <a:t>● Explain why this particular indicator would be critical evidence to advancing public health</a:t>
            </a:r>
            <a:endParaRPr/>
          </a:p>
          <a:p>
            <a:pPr marL="228600" lvl="0" indent="-228600" algn="l" rtl="0">
              <a:lnSpc>
                <a:spcPct val="90000"/>
              </a:lnSpc>
              <a:spcBef>
                <a:spcPts val="1000"/>
              </a:spcBef>
              <a:spcAft>
                <a:spcPts val="0"/>
              </a:spcAft>
              <a:buClr>
                <a:schemeClr val="dk2"/>
              </a:buClr>
              <a:buSzPts val="1700"/>
              <a:buChar char="•"/>
            </a:pPr>
            <a:r>
              <a:rPr lang="en-US" sz="1700">
                <a:solidFill>
                  <a:schemeClr val="dk2"/>
                </a:solidFill>
                <a:latin typeface="Arial"/>
                <a:ea typeface="Arial"/>
                <a:cs typeface="Arial"/>
                <a:sym typeface="Arial"/>
              </a:rPr>
              <a:t>knowledge of this area</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332"/>
        <p:cNvGrpSpPr/>
        <p:nvPr/>
      </p:nvGrpSpPr>
      <p:grpSpPr>
        <a:xfrm>
          <a:off x="0" y="0"/>
          <a:ext cx="0" cy="0"/>
          <a:chOff x="0" y="0"/>
          <a:chExt cx="0" cy="0"/>
        </a:xfrm>
      </p:grpSpPr>
      <p:sp>
        <p:nvSpPr>
          <p:cNvPr id="333" name="Google Shape;333;p17"/>
          <p:cNvSpPr/>
          <p:nvPr/>
        </p:nvSpPr>
        <p:spPr>
          <a:xfrm>
            <a:off x="0" y="0"/>
            <a:ext cx="12192000" cy="68580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entury Gothic"/>
              <a:ea typeface="Century Gothic"/>
              <a:cs typeface="Century Gothic"/>
              <a:sym typeface="Century Gothic"/>
            </a:endParaRPr>
          </a:p>
        </p:txBody>
      </p:sp>
      <p:pic>
        <p:nvPicPr>
          <p:cNvPr id="334" name="Google Shape;334;p17"/>
          <p:cNvPicPr preferRelativeResize="0"/>
          <p:nvPr/>
        </p:nvPicPr>
        <p:blipFill rotWithShape="1">
          <a:blip r:embed="rId3">
            <a:alphaModFix/>
          </a:blip>
          <a:srcRect/>
          <a:stretch/>
        </p:blipFill>
        <p:spPr>
          <a:xfrm>
            <a:off x="0" y="0"/>
            <a:ext cx="12192000" cy="1441450"/>
          </a:xfrm>
          <a:prstGeom prst="rect">
            <a:avLst/>
          </a:prstGeom>
          <a:noFill/>
          <a:ln>
            <a:noFill/>
          </a:ln>
        </p:spPr>
      </p:pic>
      <p:sp>
        <p:nvSpPr>
          <p:cNvPr id="335" name="Google Shape;335;p17"/>
          <p:cNvSpPr txBox="1">
            <a:spLocks noGrp="1"/>
          </p:cNvSpPr>
          <p:nvPr>
            <p:ph type="title"/>
          </p:nvPr>
        </p:nvSpPr>
        <p:spPr>
          <a:xfrm>
            <a:off x="685799" y="1281610"/>
            <a:ext cx="3977639" cy="1600200"/>
          </a:xfrm>
          <a:prstGeom prst="rect">
            <a:avLst/>
          </a:prstGeom>
          <a:noFill/>
          <a:ln>
            <a:noFill/>
          </a:ln>
        </p:spPr>
        <p:txBody>
          <a:bodyPr spcFirstLastPara="1" wrap="square" lIns="91425" tIns="45700" rIns="91425" bIns="45700" anchor="b" anchorCtr="0">
            <a:normAutofit/>
          </a:bodyPr>
          <a:lstStyle/>
          <a:p>
            <a:pPr marL="0" lvl="0" indent="0" algn="l" rtl="0">
              <a:lnSpc>
                <a:spcPct val="90000"/>
              </a:lnSpc>
              <a:spcBef>
                <a:spcPts val="0"/>
              </a:spcBef>
              <a:spcAft>
                <a:spcPts val="0"/>
              </a:spcAft>
              <a:buClr>
                <a:schemeClr val="dk1"/>
              </a:buClr>
              <a:buSzPts val="2200"/>
              <a:buFont typeface="Century Gothic"/>
              <a:buNone/>
            </a:pPr>
            <a:r>
              <a:rPr lang="en-US" sz="2200" b="0" i="0"/>
              <a:t>SELECT A DATA SOURCE TO HELP YOUR MEASURE THE POPULATION LEVEL IMPACT OF YOUR INTERVENTION</a:t>
            </a:r>
            <a:endParaRPr sz="2200"/>
          </a:p>
        </p:txBody>
      </p:sp>
      <p:sp>
        <p:nvSpPr>
          <p:cNvPr id="336" name="Google Shape;336;p17"/>
          <p:cNvSpPr txBox="1">
            <a:spLocks noGrp="1"/>
          </p:cNvSpPr>
          <p:nvPr>
            <p:ph type="body" idx="1"/>
          </p:nvPr>
        </p:nvSpPr>
        <p:spPr>
          <a:xfrm>
            <a:off x="685800" y="3128945"/>
            <a:ext cx="3977639" cy="3089739"/>
          </a:xfrm>
          <a:prstGeom prst="rect">
            <a:avLst/>
          </a:prstGeom>
          <a:noFill/>
          <a:ln>
            <a:noFill/>
          </a:ln>
        </p:spPr>
        <p:txBody>
          <a:bodyPr spcFirstLastPara="1" wrap="square" lIns="91425" tIns="45700" rIns="91425" bIns="45700" anchor="t" anchorCtr="0">
            <a:normAutofit/>
          </a:bodyPr>
          <a:lstStyle/>
          <a:p>
            <a:pPr marL="0" lvl="0" indent="0" algn="l" rtl="0">
              <a:lnSpc>
                <a:spcPct val="90000"/>
              </a:lnSpc>
              <a:spcBef>
                <a:spcPts val="0"/>
              </a:spcBef>
              <a:spcAft>
                <a:spcPts val="0"/>
              </a:spcAft>
              <a:buClr>
                <a:schemeClr val="dk1"/>
              </a:buClr>
              <a:buSzPts val="1600"/>
              <a:buNone/>
            </a:pPr>
            <a:r>
              <a:rPr lang="en-US" sz="1600" u="sng">
                <a:solidFill>
                  <a:schemeClr val="hlink"/>
                </a:solidFill>
                <a:hlinkClick r:id="rId4"/>
              </a:rPr>
              <a:t>Data Source: Oregon Healthy Teens Survey (OHT) (2019)</a:t>
            </a:r>
            <a:endParaRPr sz="1600"/>
          </a:p>
          <a:p>
            <a:pPr marL="0" lvl="0" indent="0" algn="l" rtl="0">
              <a:lnSpc>
                <a:spcPct val="90000"/>
              </a:lnSpc>
              <a:spcBef>
                <a:spcPts val="1000"/>
              </a:spcBef>
              <a:spcAft>
                <a:spcPts val="0"/>
              </a:spcAft>
              <a:buClr>
                <a:schemeClr val="dk1"/>
              </a:buClr>
              <a:buSzPts val="1600"/>
              <a:buNone/>
            </a:pPr>
            <a:endParaRPr sz="1600"/>
          </a:p>
        </p:txBody>
      </p:sp>
      <p:pic>
        <p:nvPicPr>
          <p:cNvPr id="337" name="Google Shape;337;p17"/>
          <p:cNvPicPr preferRelativeResize="0"/>
          <p:nvPr/>
        </p:nvPicPr>
        <p:blipFill rotWithShape="1">
          <a:blip r:embed="rId5">
            <a:alphaModFix/>
          </a:blip>
          <a:srcRect r="1" b="887"/>
          <a:stretch/>
        </p:blipFill>
        <p:spPr>
          <a:xfrm>
            <a:off x="5457820" y="746126"/>
            <a:ext cx="5563258" cy="5472558"/>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500"/>
                                  </p:stCondLst>
                                  <p:childTnLst>
                                    <p:set>
                                      <p:cBhvr>
                                        <p:cTn id="6" dur="1" fill="hold">
                                          <p:stCondLst>
                                            <p:cond delay="0"/>
                                          </p:stCondLst>
                                        </p:cTn>
                                        <p:tgtEl>
                                          <p:spTgt spid="335"/>
                                        </p:tgtEl>
                                        <p:attrNameLst>
                                          <p:attrName>style.visibility</p:attrName>
                                        </p:attrNameLst>
                                      </p:cBhvr>
                                      <p:to>
                                        <p:strVal val="visible"/>
                                      </p:to>
                                    </p:set>
                                    <p:animEffect transition="in" filter="fade">
                                      <p:cBhvr>
                                        <p:cTn id="7" dur="700"/>
                                        <p:tgtEl>
                                          <p:spTgt spid="3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341"/>
        <p:cNvGrpSpPr/>
        <p:nvPr/>
      </p:nvGrpSpPr>
      <p:grpSpPr>
        <a:xfrm>
          <a:off x="0" y="0"/>
          <a:ext cx="0" cy="0"/>
          <a:chOff x="0" y="0"/>
          <a:chExt cx="0" cy="0"/>
        </a:xfrm>
      </p:grpSpPr>
      <p:sp>
        <p:nvSpPr>
          <p:cNvPr id="342" name="Google Shape;342;p18"/>
          <p:cNvSpPr/>
          <p:nvPr/>
        </p:nvSpPr>
        <p:spPr>
          <a:xfrm>
            <a:off x="0" y="0"/>
            <a:ext cx="12192000" cy="68580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entury Gothic"/>
              <a:ea typeface="Century Gothic"/>
              <a:cs typeface="Century Gothic"/>
              <a:sym typeface="Century Gothic"/>
            </a:endParaRPr>
          </a:p>
        </p:txBody>
      </p:sp>
      <p:pic>
        <p:nvPicPr>
          <p:cNvPr id="343" name="Google Shape;343;p18"/>
          <p:cNvPicPr preferRelativeResize="0"/>
          <p:nvPr/>
        </p:nvPicPr>
        <p:blipFill rotWithShape="1">
          <a:blip r:embed="rId3">
            <a:alphaModFix/>
          </a:blip>
          <a:srcRect/>
          <a:stretch/>
        </p:blipFill>
        <p:spPr>
          <a:xfrm>
            <a:off x="0" y="0"/>
            <a:ext cx="12192000" cy="1441450"/>
          </a:xfrm>
          <a:prstGeom prst="rect">
            <a:avLst/>
          </a:prstGeom>
          <a:noFill/>
          <a:ln>
            <a:noFill/>
          </a:ln>
        </p:spPr>
      </p:pic>
      <p:sp>
        <p:nvSpPr>
          <p:cNvPr id="344" name="Google Shape;344;p18"/>
          <p:cNvSpPr txBox="1">
            <a:spLocks noGrp="1"/>
          </p:cNvSpPr>
          <p:nvPr>
            <p:ph type="title"/>
          </p:nvPr>
        </p:nvSpPr>
        <p:spPr>
          <a:xfrm>
            <a:off x="288637" y="1500850"/>
            <a:ext cx="4753466" cy="1293028"/>
          </a:xfrm>
          <a:prstGeom prst="rect">
            <a:avLst/>
          </a:prstGeom>
          <a:noFill/>
          <a:ln>
            <a:noFill/>
          </a:ln>
        </p:spPr>
        <p:txBody>
          <a:bodyPr spcFirstLastPara="1" wrap="square" lIns="91425" tIns="45700" rIns="91425" bIns="45700" anchor="ctr" anchorCtr="0">
            <a:normAutofit fontScale="90000"/>
          </a:bodyPr>
          <a:lstStyle/>
          <a:p>
            <a:pPr marL="0" lvl="0" indent="0" algn="r" rtl="0">
              <a:lnSpc>
                <a:spcPct val="90000"/>
              </a:lnSpc>
              <a:spcBef>
                <a:spcPts val="0"/>
              </a:spcBef>
              <a:spcAft>
                <a:spcPts val="0"/>
              </a:spcAft>
              <a:buClr>
                <a:schemeClr val="dk1"/>
              </a:buClr>
              <a:buSzPct val="100000"/>
              <a:buFont typeface="Arial"/>
              <a:buNone/>
            </a:pPr>
            <a:r>
              <a:rPr lang="en-US" sz="1300" b="0" i="0" u="none" strike="noStrike">
                <a:latin typeface="Arial"/>
                <a:ea typeface="Arial"/>
                <a:cs typeface="Arial"/>
                <a:sym typeface="Arial"/>
              </a:rPr>
              <a:t>SELECT THE SPECIFIC INDICATOR YOU WILL USE TO EVALUATE IMPACT </a:t>
            </a:r>
            <a:br>
              <a:rPr lang="en-US" sz="1300" b="0" i="0" u="none" strike="noStrike">
                <a:latin typeface="Arial"/>
                <a:ea typeface="Arial"/>
                <a:cs typeface="Arial"/>
                <a:sym typeface="Arial"/>
              </a:rPr>
            </a:br>
            <a:br>
              <a:rPr lang="en-US" sz="1300" b="0" i="0" u="none" strike="noStrike">
                <a:latin typeface="Arial"/>
                <a:ea typeface="Arial"/>
                <a:cs typeface="Arial"/>
                <a:sym typeface="Arial"/>
              </a:rPr>
            </a:br>
            <a:r>
              <a:rPr lang="en-US" sz="1300" b="0" i="0" u="none" strike="noStrike">
                <a:latin typeface="Arial"/>
                <a:ea typeface="Arial"/>
                <a:cs typeface="Arial"/>
                <a:sym typeface="Arial"/>
              </a:rPr>
              <a:t>(I.E. % OF ADULTS REPORTING GOOD</a:t>
            </a:r>
            <a:br>
              <a:rPr lang="en-US" sz="1300" b="0"/>
            </a:br>
            <a:r>
              <a:rPr lang="en-US" sz="1300" b="0" i="0" u="none" strike="noStrike">
                <a:latin typeface="Arial"/>
                <a:ea typeface="Arial"/>
                <a:cs typeface="Arial"/>
                <a:sym typeface="Arial"/>
              </a:rPr>
              <a:t>MENTAL HEALTH, % OF ADOLESCENTS WHO REPORT POSITIVE RELATIONSHIPS)</a:t>
            </a:r>
            <a:br>
              <a:rPr lang="en-US" sz="1300" b="0"/>
            </a:br>
            <a:br>
              <a:rPr lang="en-US" sz="1300"/>
            </a:br>
            <a:endParaRPr sz="1300"/>
          </a:p>
        </p:txBody>
      </p:sp>
      <p:sp>
        <p:nvSpPr>
          <p:cNvPr id="345" name="Google Shape;345;p18"/>
          <p:cNvSpPr txBox="1">
            <a:spLocks noGrp="1"/>
          </p:cNvSpPr>
          <p:nvPr>
            <p:ph type="body" idx="1"/>
          </p:nvPr>
        </p:nvSpPr>
        <p:spPr>
          <a:xfrm>
            <a:off x="685801" y="3429000"/>
            <a:ext cx="4753466" cy="2789685"/>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chemeClr val="dk1"/>
              </a:buClr>
              <a:buSzPts val="2200"/>
              <a:buChar char="•"/>
            </a:pPr>
            <a:r>
              <a:rPr lang="en-US" b="0" i="0"/>
              <a:t>Percentage of adolescents who report a decrease in substance use.</a:t>
            </a:r>
            <a:endParaRPr/>
          </a:p>
          <a:p>
            <a:pPr marL="228600" lvl="0" indent="-88900" algn="l" rtl="0">
              <a:lnSpc>
                <a:spcPct val="90000"/>
              </a:lnSpc>
              <a:spcBef>
                <a:spcPts val="1000"/>
              </a:spcBef>
              <a:spcAft>
                <a:spcPts val="0"/>
              </a:spcAft>
              <a:buClr>
                <a:schemeClr val="dk1"/>
              </a:buClr>
              <a:buSzPts val="2200"/>
              <a:buNone/>
            </a:pPr>
            <a:endParaRPr/>
          </a:p>
        </p:txBody>
      </p:sp>
      <p:sp>
        <p:nvSpPr>
          <p:cNvPr id="346" name="Google Shape;346;p18"/>
          <p:cNvSpPr/>
          <p:nvPr/>
        </p:nvSpPr>
        <p:spPr>
          <a:xfrm>
            <a:off x="6095999" y="1066164"/>
            <a:ext cx="5305958" cy="5148371"/>
          </a:xfrm>
          <a:prstGeom prst="roundRect">
            <a:avLst>
              <a:gd name="adj" fmla="val 2403"/>
            </a:avLst>
          </a:prstGeom>
          <a:solidFill>
            <a:srgbClr val="FFFFF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entury Gothic"/>
              <a:ea typeface="Century Gothic"/>
              <a:cs typeface="Century Gothic"/>
              <a:sym typeface="Century Gothic"/>
            </a:endParaRPr>
          </a:p>
        </p:txBody>
      </p:sp>
      <p:pic>
        <p:nvPicPr>
          <p:cNvPr id="347" name="Google Shape;347;p18" descr="Free printable drug-free poster templates | Canva"/>
          <p:cNvPicPr preferRelativeResize="0"/>
          <p:nvPr/>
        </p:nvPicPr>
        <p:blipFill rotWithShape="1">
          <a:blip r:embed="rId4">
            <a:alphaModFix/>
          </a:blip>
          <a:srcRect l="-1" t="4955" r="-1" b="21266"/>
          <a:stretch/>
        </p:blipFill>
        <p:spPr>
          <a:xfrm>
            <a:off x="6407004" y="1336566"/>
            <a:ext cx="4683948" cy="4607567"/>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351"/>
        <p:cNvGrpSpPr/>
        <p:nvPr/>
      </p:nvGrpSpPr>
      <p:grpSpPr>
        <a:xfrm>
          <a:off x="0" y="0"/>
          <a:ext cx="0" cy="0"/>
          <a:chOff x="0" y="0"/>
          <a:chExt cx="0" cy="0"/>
        </a:xfrm>
      </p:grpSpPr>
      <p:pic>
        <p:nvPicPr>
          <p:cNvPr id="352" name="Google Shape;352;p19"/>
          <p:cNvPicPr preferRelativeResize="0"/>
          <p:nvPr/>
        </p:nvPicPr>
        <p:blipFill rotWithShape="1">
          <a:blip r:embed="rId3">
            <a:alphaModFix/>
          </a:blip>
          <a:srcRect/>
          <a:stretch/>
        </p:blipFill>
        <p:spPr>
          <a:xfrm>
            <a:off x="0" y="0"/>
            <a:ext cx="12192000" cy="1441450"/>
          </a:xfrm>
          <a:prstGeom prst="rect">
            <a:avLst/>
          </a:prstGeom>
          <a:noFill/>
          <a:ln>
            <a:noFill/>
          </a:ln>
        </p:spPr>
      </p:pic>
      <p:pic>
        <p:nvPicPr>
          <p:cNvPr id="353" name="Google Shape;353;p19"/>
          <p:cNvPicPr preferRelativeResize="0"/>
          <p:nvPr/>
        </p:nvPicPr>
        <p:blipFill rotWithShape="1">
          <a:blip r:embed="rId4">
            <a:alphaModFix/>
          </a:blip>
          <a:srcRect/>
          <a:stretch/>
        </p:blipFill>
        <p:spPr>
          <a:xfrm>
            <a:off x="0" y="4375150"/>
            <a:ext cx="12192000" cy="2482850"/>
          </a:xfrm>
          <a:prstGeom prst="rect">
            <a:avLst/>
          </a:prstGeom>
          <a:noFill/>
          <a:ln>
            <a:noFill/>
          </a:ln>
        </p:spPr>
      </p:pic>
      <p:sp>
        <p:nvSpPr>
          <p:cNvPr id="354" name="Google Shape;354;p19"/>
          <p:cNvSpPr/>
          <p:nvPr/>
        </p:nvSpPr>
        <p:spPr>
          <a:xfrm>
            <a:off x="0" y="-2"/>
            <a:ext cx="12191999" cy="4543721"/>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entury Gothic"/>
              <a:ea typeface="Century Gothic"/>
              <a:cs typeface="Century Gothic"/>
              <a:sym typeface="Century Gothic"/>
            </a:endParaRPr>
          </a:p>
        </p:txBody>
      </p:sp>
      <p:sp>
        <p:nvSpPr>
          <p:cNvPr id="355" name="Google Shape;355;p19"/>
          <p:cNvSpPr txBox="1">
            <a:spLocks noGrp="1"/>
          </p:cNvSpPr>
          <p:nvPr>
            <p:ph type="title"/>
          </p:nvPr>
        </p:nvSpPr>
        <p:spPr>
          <a:xfrm>
            <a:off x="5615888" y="673240"/>
            <a:ext cx="5951914" cy="3446373"/>
          </a:xfrm>
          <a:prstGeom prst="rect">
            <a:avLst/>
          </a:prstGeom>
          <a:noFill/>
          <a:ln>
            <a:noFill/>
          </a:ln>
        </p:spPr>
        <p:txBody>
          <a:bodyPr spcFirstLastPara="1" wrap="square" lIns="91425" tIns="45700" rIns="91425" bIns="45700" anchor="b" anchorCtr="0">
            <a:normAutofit/>
          </a:bodyPr>
          <a:lstStyle/>
          <a:p>
            <a:pPr marL="0" lvl="0" indent="0" algn="r" rtl="0">
              <a:lnSpc>
                <a:spcPct val="90000"/>
              </a:lnSpc>
              <a:spcBef>
                <a:spcPts val="0"/>
              </a:spcBef>
              <a:spcAft>
                <a:spcPts val="0"/>
              </a:spcAft>
              <a:buClr>
                <a:schemeClr val="dk1"/>
              </a:buClr>
              <a:buSzPts val="1600"/>
              <a:buFont typeface="Century Gothic"/>
              <a:buNone/>
            </a:pPr>
            <a:r>
              <a:rPr lang="en-US" sz="1600" b="0" i="0" u="none" strike="noStrike"/>
              <a:t>ANSWER THE FOLLOWING REFLECTION QUESTIONS:</a:t>
            </a:r>
            <a:br>
              <a:rPr lang="en-US" sz="1600" b="0"/>
            </a:br>
            <a:r>
              <a:rPr lang="en-US" sz="1600" b="0" i="0" u="none" strike="noStrike"/>
              <a:t>● HOW DIFFICULT OR EASY WAS IT TO FIND DATA THAT WAS APPROPRIATE FOR YOUR INDICATOR?</a:t>
            </a:r>
            <a:br>
              <a:rPr lang="en-US" sz="1600" b="0"/>
            </a:br>
            <a:r>
              <a:rPr lang="en-US" sz="1600" b="0" i="0" u="none" strike="noStrike"/>
              <a:t>● WHAT ARE SOME OF THE LIMITATIONS OF THIS DATA? (IS IT ONLY AVAILABLE FOR CERTAIN PEOPLE, AT</a:t>
            </a:r>
            <a:br>
              <a:rPr lang="en-US" sz="1600" b="0"/>
            </a:br>
            <a:r>
              <a:rPr lang="en-US" sz="1600" b="0" i="0" u="none" strike="noStrike"/>
              <a:t>CERTAIN FREQUENCIES?)</a:t>
            </a:r>
            <a:br>
              <a:rPr lang="en-US" sz="1600" b="0"/>
            </a:br>
            <a:r>
              <a:rPr lang="en-US" sz="1600" b="0" i="0" u="none" strike="noStrike"/>
              <a:t>● IN AN IDEAL WORLD, WHAT WOULD YOUR IDEAL DATA INDICATOR BE?</a:t>
            </a:r>
            <a:br>
              <a:rPr lang="en-US" sz="1600" b="0"/>
            </a:br>
            <a:r>
              <a:rPr lang="en-US" sz="1600" b="0" i="0" u="none" strike="noStrike"/>
              <a:t>● EXPLAIN WHY THIS PARTICULAR INDICATOR WOULD BE CRITICAL EVIDENCE TO ADVANCING PUBLIC HEALTH</a:t>
            </a:r>
            <a:br>
              <a:rPr lang="en-US" sz="1600" b="0"/>
            </a:br>
            <a:r>
              <a:rPr lang="en-US" sz="1600" b="0" i="0" u="none" strike="noStrike"/>
              <a:t>KNOWLEDGE OF THIS AREA.</a:t>
            </a:r>
            <a:br>
              <a:rPr lang="en-US" sz="1600" b="0"/>
            </a:br>
            <a:br>
              <a:rPr lang="en-US" sz="1600" b="0"/>
            </a:br>
            <a:endParaRPr sz="1600"/>
          </a:p>
        </p:txBody>
      </p:sp>
      <p:sp>
        <p:nvSpPr>
          <p:cNvPr id="356" name="Google Shape;356;p19"/>
          <p:cNvSpPr/>
          <p:nvPr/>
        </p:nvSpPr>
        <p:spPr>
          <a:xfrm>
            <a:off x="-1" y="0"/>
            <a:ext cx="4966386" cy="68580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entury Gothic"/>
              <a:ea typeface="Century Gothic"/>
              <a:cs typeface="Century Gothic"/>
              <a:sym typeface="Century Gothic"/>
            </a:endParaRPr>
          </a:p>
        </p:txBody>
      </p:sp>
      <p:pic>
        <p:nvPicPr>
          <p:cNvPr id="357" name="Google Shape;357;p19" descr="Types of Reflective Questions. Drs. Rush and Shelden break down the… | by  Making Access Happen | MAH Coaching Support | Medium"/>
          <p:cNvPicPr preferRelativeResize="0"/>
          <p:nvPr/>
        </p:nvPicPr>
        <p:blipFill rotWithShape="1">
          <a:blip r:embed="rId5">
            <a:alphaModFix/>
          </a:blip>
          <a:srcRect l="31667" r="30158"/>
          <a:stretch/>
        </p:blipFill>
        <p:spPr>
          <a:xfrm>
            <a:off x="-4" y="10"/>
            <a:ext cx="4654291" cy="6857990"/>
          </a:xfrm>
          <a:prstGeom prst="rect">
            <a:avLst/>
          </a:prstGeom>
          <a:noFill/>
          <a:ln>
            <a:noFill/>
          </a:ln>
        </p:spPr>
      </p:pic>
      <p:sp>
        <p:nvSpPr>
          <p:cNvPr id="358" name="Google Shape;358;p19"/>
          <p:cNvSpPr/>
          <p:nvPr/>
        </p:nvSpPr>
        <p:spPr>
          <a:xfrm>
            <a:off x="7946782" y="-1"/>
            <a:ext cx="4245218" cy="536715"/>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entury Gothic"/>
              <a:ea typeface="Century Gothic"/>
              <a:cs typeface="Century Gothic"/>
              <a:sym typeface="Century Gothic"/>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1000"/>
                                  </p:stCondLst>
                                  <p:childTnLst>
                                    <p:set>
                                      <p:cBhvr>
                                        <p:cTn id="6" dur="1" fill="hold">
                                          <p:stCondLst>
                                            <p:cond delay="0"/>
                                          </p:stCondLst>
                                        </p:cTn>
                                        <p:tgtEl>
                                          <p:spTgt spid="355"/>
                                        </p:tgtEl>
                                        <p:attrNameLst>
                                          <p:attrName>style.visibility</p:attrName>
                                        </p:attrNameLst>
                                      </p:cBhvr>
                                      <p:to>
                                        <p:strVal val="visible"/>
                                      </p:to>
                                    </p:set>
                                    <p:animEffect transition="in" filter="fade">
                                      <p:cBhvr>
                                        <p:cTn id="7" dur="400"/>
                                        <p:tgtEl>
                                          <p:spTgt spid="35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362"/>
        <p:cNvGrpSpPr/>
        <p:nvPr/>
      </p:nvGrpSpPr>
      <p:grpSpPr>
        <a:xfrm>
          <a:off x="0" y="0"/>
          <a:ext cx="0" cy="0"/>
          <a:chOff x="0" y="0"/>
          <a:chExt cx="0" cy="0"/>
        </a:xfrm>
      </p:grpSpPr>
      <p:sp>
        <p:nvSpPr>
          <p:cNvPr id="363" name="Google Shape;363;p20"/>
          <p:cNvSpPr/>
          <p:nvPr/>
        </p:nvSpPr>
        <p:spPr>
          <a:xfrm>
            <a:off x="0" y="0"/>
            <a:ext cx="12192000" cy="68580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entury Gothic"/>
              <a:ea typeface="Century Gothic"/>
              <a:cs typeface="Century Gothic"/>
              <a:sym typeface="Century Gothic"/>
            </a:endParaRPr>
          </a:p>
        </p:txBody>
      </p:sp>
      <p:pic>
        <p:nvPicPr>
          <p:cNvPr id="364" name="Google Shape;364;p20"/>
          <p:cNvPicPr preferRelativeResize="0"/>
          <p:nvPr/>
        </p:nvPicPr>
        <p:blipFill rotWithShape="1">
          <a:blip r:embed="rId3">
            <a:alphaModFix/>
          </a:blip>
          <a:srcRect/>
          <a:stretch/>
        </p:blipFill>
        <p:spPr>
          <a:xfrm>
            <a:off x="0" y="0"/>
            <a:ext cx="12192000" cy="1441450"/>
          </a:xfrm>
          <a:prstGeom prst="rect">
            <a:avLst/>
          </a:prstGeom>
          <a:noFill/>
          <a:ln>
            <a:noFill/>
          </a:ln>
        </p:spPr>
      </p:pic>
      <p:sp>
        <p:nvSpPr>
          <p:cNvPr id="365" name="Google Shape;365;p20"/>
          <p:cNvSpPr txBox="1">
            <a:spLocks noGrp="1"/>
          </p:cNvSpPr>
          <p:nvPr>
            <p:ph type="title"/>
          </p:nvPr>
        </p:nvSpPr>
        <p:spPr>
          <a:xfrm>
            <a:off x="685800" y="1066164"/>
            <a:ext cx="4753466" cy="1293028"/>
          </a:xfrm>
          <a:prstGeom prst="rect">
            <a:avLst/>
          </a:prstGeom>
          <a:noFill/>
          <a:ln>
            <a:noFill/>
          </a:ln>
        </p:spPr>
        <p:txBody>
          <a:bodyPr spcFirstLastPara="1" wrap="square" lIns="91425" tIns="45700" rIns="91425" bIns="45700" anchor="ctr" anchorCtr="0">
            <a:normAutofit/>
          </a:bodyPr>
          <a:lstStyle/>
          <a:p>
            <a:pPr marL="0" lvl="0" indent="0" algn="r" rtl="0">
              <a:lnSpc>
                <a:spcPct val="90000"/>
              </a:lnSpc>
              <a:spcBef>
                <a:spcPts val="0"/>
              </a:spcBef>
              <a:spcAft>
                <a:spcPts val="0"/>
              </a:spcAft>
              <a:buClr>
                <a:schemeClr val="dk1"/>
              </a:buClr>
              <a:buSzPts val="1600"/>
              <a:buFont typeface="Century Gothic"/>
              <a:buNone/>
            </a:pPr>
            <a:br>
              <a:rPr lang="en-US" sz="1600" b="0"/>
            </a:br>
            <a:r>
              <a:rPr lang="en-US" sz="1600" b="1" i="0" u="none" strike="noStrike"/>
              <a:t>● HOW DIFFICULT OR EASY WAS IT TO FIND DATA THAT WAS APPROPRIATE FOR YOUR INDICATOR?</a:t>
            </a:r>
            <a:br>
              <a:rPr lang="en-US" sz="1600" b="1" i="0" u="none" strike="noStrike"/>
            </a:br>
            <a:r>
              <a:rPr lang="en-US" sz="1600" b="0" i="0" u="none" strike="noStrike"/>
              <a:t>●</a:t>
            </a:r>
            <a:endParaRPr sz="1600"/>
          </a:p>
        </p:txBody>
      </p:sp>
      <p:sp>
        <p:nvSpPr>
          <p:cNvPr id="366" name="Google Shape;366;p20"/>
          <p:cNvSpPr txBox="1">
            <a:spLocks noGrp="1"/>
          </p:cNvSpPr>
          <p:nvPr>
            <p:ph type="body" idx="1"/>
          </p:nvPr>
        </p:nvSpPr>
        <p:spPr>
          <a:xfrm>
            <a:off x="685801" y="2526384"/>
            <a:ext cx="4753466" cy="3692301"/>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chemeClr val="dk1"/>
              </a:buClr>
              <a:buSzPts val="2000"/>
              <a:buChar char="•"/>
            </a:pPr>
            <a:r>
              <a:rPr lang="en-US" sz="2000" b="0" i="0" u="none" strike="noStrike"/>
              <a:t>It was moderately easy to find data appropriate for my indicator as the Oregon Healthy Teens Survey is a well-documented and accessible data source. However, the specificity of substance abuse data particularly changes over time due to interventions, might require additional data-gathering efforts.</a:t>
            </a:r>
            <a:br>
              <a:rPr lang="en-US" sz="2000" b="0"/>
            </a:br>
            <a:endParaRPr sz="2000"/>
          </a:p>
        </p:txBody>
      </p:sp>
      <p:sp>
        <p:nvSpPr>
          <p:cNvPr id="367" name="Google Shape;367;p20"/>
          <p:cNvSpPr/>
          <p:nvPr/>
        </p:nvSpPr>
        <p:spPr>
          <a:xfrm>
            <a:off x="6095999" y="1066164"/>
            <a:ext cx="5305958" cy="5148371"/>
          </a:xfrm>
          <a:prstGeom prst="roundRect">
            <a:avLst>
              <a:gd name="adj" fmla="val 2403"/>
            </a:avLst>
          </a:prstGeom>
          <a:solidFill>
            <a:srgbClr val="FFFFF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entury Gothic"/>
              <a:ea typeface="Century Gothic"/>
              <a:cs typeface="Century Gothic"/>
              <a:sym typeface="Century Gothic"/>
            </a:endParaRPr>
          </a:p>
        </p:txBody>
      </p:sp>
      <p:pic>
        <p:nvPicPr>
          <p:cNvPr id="368" name="Google Shape;368;p20"/>
          <p:cNvPicPr preferRelativeResize="0"/>
          <p:nvPr/>
        </p:nvPicPr>
        <p:blipFill rotWithShape="1">
          <a:blip r:embed="rId4">
            <a:alphaModFix/>
          </a:blip>
          <a:srcRect t="170" r="-1" b="16932"/>
          <a:stretch/>
        </p:blipFill>
        <p:spPr>
          <a:xfrm>
            <a:off x="6407004" y="1336566"/>
            <a:ext cx="4683948" cy="4607567"/>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1000"/>
                                  </p:stCondLst>
                                  <p:childTnLst>
                                    <p:set>
                                      <p:cBhvr>
                                        <p:cTn id="6" dur="1" fill="hold">
                                          <p:stCondLst>
                                            <p:cond delay="0"/>
                                          </p:stCondLst>
                                        </p:cTn>
                                        <p:tgtEl>
                                          <p:spTgt spid="365"/>
                                        </p:tgtEl>
                                        <p:attrNameLst>
                                          <p:attrName>style.visibility</p:attrName>
                                        </p:attrNameLst>
                                      </p:cBhvr>
                                      <p:to>
                                        <p:strVal val="visible"/>
                                      </p:to>
                                    </p:set>
                                    <p:animEffect transition="in" filter="fade">
                                      <p:cBhvr>
                                        <p:cTn id="7" dur="700"/>
                                        <p:tgtEl>
                                          <p:spTgt spid="36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372"/>
        <p:cNvGrpSpPr/>
        <p:nvPr/>
      </p:nvGrpSpPr>
      <p:grpSpPr>
        <a:xfrm>
          <a:off x="0" y="0"/>
          <a:ext cx="0" cy="0"/>
          <a:chOff x="0" y="0"/>
          <a:chExt cx="0" cy="0"/>
        </a:xfrm>
      </p:grpSpPr>
      <p:sp>
        <p:nvSpPr>
          <p:cNvPr id="373" name="Google Shape;373;p21"/>
          <p:cNvSpPr/>
          <p:nvPr/>
        </p:nvSpPr>
        <p:spPr>
          <a:xfrm>
            <a:off x="0" y="0"/>
            <a:ext cx="12192000" cy="68580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entury Gothic"/>
              <a:ea typeface="Century Gothic"/>
              <a:cs typeface="Century Gothic"/>
              <a:sym typeface="Century Gothic"/>
            </a:endParaRPr>
          </a:p>
        </p:txBody>
      </p:sp>
      <p:pic>
        <p:nvPicPr>
          <p:cNvPr id="374" name="Google Shape;374;p21"/>
          <p:cNvPicPr preferRelativeResize="0"/>
          <p:nvPr/>
        </p:nvPicPr>
        <p:blipFill rotWithShape="1">
          <a:blip r:embed="rId3">
            <a:alphaModFix/>
          </a:blip>
          <a:srcRect/>
          <a:stretch/>
        </p:blipFill>
        <p:spPr>
          <a:xfrm>
            <a:off x="0" y="0"/>
            <a:ext cx="12192000" cy="1441450"/>
          </a:xfrm>
          <a:prstGeom prst="rect">
            <a:avLst/>
          </a:prstGeom>
          <a:noFill/>
          <a:ln>
            <a:noFill/>
          </a:ln>
        </p:spPr>
      </p:pic>
      <p:sp>
        <p:nvSpPr>
          <p:cNvPr id="375" name="Google Shape;375;p21"/>
          <p:cNvSpPr txBox="1">
            <a:spLocks noGrp="1"/>
          </p:cNvSpPr>
          <p:nvPr>
            <p:ph type="title"/>
          </p:nvPr>
        </p:nvSpPr>
        <p:spPr>
          <a:xfrm>
            <a:off x="685800" y="1066164"/>
            <a:ext cx="4753466" cy="1293028"/>
          </a:xfrm>
          <a:prstGeom prst="rect">
            <a:avLst/>
          </a:prstGeom>
          <a:noFill/>
          <a:ln>
            <a:noFill/>
          </a:ln>
        </p:spPr>
        <p:txBody>
          <a:bodyPr spcFirstLastPara="1" wrap="square" lIns="91425" tIns="45700" rIns="91425" bIns="45700" anchor="ctr" anchorCtr="0">
            <a:normAutofit/>
          </a:bodyPr>
          <a:lstStyle/>
          <a:p>
            <a:pPr marL="0" lvl="0" indent="0" algn="r" rtl="0">
              <a:lnSpc>
                <a:spcPct val="90000"/>
              </a:lnSpc>
              <a:spcBef>
                <a:spcPts val="0"/>
              </a:spcBef>
              <a:spcAft>
                <a:spcPts val="0"/>
              </a:spcAft>
              <a:buClr>
                <a:schemeClr val="dk1"/>
              </a:buClr>
              <a:buSzPts val="1000"/>
              <a:buFont typeface="Century Gothic"/>
              <a:buNone/>
            </a:pPr>
            <a:br>
              <a:rPr lang="en-US" sz="1000" b="1"/>
            </a:br>
            <a:r>
              <a:rPr lang="en-US" sz="1000" b="1" i="0" u="none" strike="noStrike"/>
              <a:t>● WHAT ARE SOME OF THE LIMITATIONS OF THIS DATA? </a:t>
            </a:r>
            <a:br>
              <a:rPr lang="en-US" sz="1000" b="1" i="0" u="none" strike="noStrike"/>
            </a:br>
            <a:br>
              <a:rPr lang="en-US" sz="1000" b="1"/>
            </a:br>
            <a:r>
              <a:rPr lang="en-US" sz="1000" b="1" i="0" u="none" strike="noStrike"/>
              <a:t>(IS IT ONLY AVAILABLE FOR CERTAIN PEOPLE, AT</a:t>
            </a:r>
            <a:br>
              <a:rPr lang="en-US" sz="1000" b="1"/>
            </a:br>
            <a:r>
              <a:rPr lang="en-US" sz="1000" b="1" i="0" u="none" strike="noStrike"/>
              <a:t>CERTAIN FREQUENCIES?)</a:t>
            </a:r>
            <a:br>
              <a:rPr lang="en-US" sz="1000" b="1" i="0" u="none" strike="noStrike"/>
            </a:br>
            <a:br>
              <a:rPr lang="en-US" sz="1000" b="1"/>
            </a:br>
            <a:endParaRPr sz="1000" b="1"/>
          </a:p>
        </p:txBody>
      </p:sp>
      <p:sp>
        <p:nvSpPr>
          <p:cNvPr id="376" name="Google Shape;376;p21"/>
          <p:cNvSpPr txBox="1">
            <a:spLocks noGrp="1"/>
          </p:cNvSpPr>
          <p:nvPr>
            <p:ph type="body" idx="1"/>
          </p:nvPr>
        </p:nvSpPr>
        <p:spPr>
          <a:xfrm>
            <a:off x="685801" y="2526384"/>
            <a:ext cx="4753466" cy="3692301"/>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chemeClr val="dk1"/>
              </a:buClr>
              <a:buSzPts val="1200"/>
              <a:buChar char="•"/>
            </a:pPr>
            <a:br>
              <a:rPr lang="en-US" sz="1200" b="0" i="0" u="none" strike="noStrike"/>
            </a:br>
            <a:r>
              <a:rPr lang="en-US" sz="1200" b="0" i="0" u="none" strike="noStrike"/>
              <a:t>Limitations of the Data:</a:t>
            </a:r>
            <a:br>
              <a:rPr lang="en-US" sz="1200" b="0" i="0" u="none" strike="noStrike"/>
            </a:br>
            <a:br>
              <a:rPr lang="en-US" sz="1200" b="0" i="0" u="none" strike="noStrike"/>
            </a:br>
            <a:r>
              <a:rPr lang="en-US" sz="1200" b="0" i="0" u="none" strike="noStrike"/>
              <a:t>The data is collected biennially, which may not provide the timeliest information for evaluating the impact of an intervention.</a:t>
            </a:r>
            <a:br>
              <a:rPr lang="en-US" sz="1200" b="0" i="0" u="none" strike="noStrike"/>
            </a:br>
            <a:br>
              <a:rPr lang="en-US" sz="1200"/>
            </a:br>
            <a:r>
              <a:rPr lang="en-US" sz="1200"/>
              <a:t>It was Last collected in 2019 and since then has been replaced by Oregon Student Health Survey which is less granular and collected biannually. Though this might just be the initial summary available and might be available in the special request data section of the website.</a:t>
            </a:r>
            <a:br>
              <a:rPr lang="en-US" sz="1200"/>
            </a:br>
            <a:br>
              <a:rPr lang="en-US" sz="1200" b="0" i="0" u="none" strike="noStrike"/>
            </a:br>
            <a:r>
              <a:rPr lang="en-US" sz="1200" b="0" i="0" u="none" strike="noStrike"/>
              <a:t>The survey is school-based, hence, it might miss out on adolescents who are not attending school.</a:t>
            </a:r>
            <a:br>
              <a:rPr lang="en-US" sz="1200" b="0" i="0" u="none" strike="noStrike"/>
            </a:br>
            <a:br>
              <a:rPr lang="en-US" sz="1200" b="0" i="0" u="none" strike="noStrike"/>
            </a:br>
            <a:r>
              <a:rPr lang="en-US" sz="1200" b="0" i="0" u="none" strike="noStrike"/>
              <a:t>The self-reported nature of the data might introduce bias.</a:t>
            </a:r>
            <a:br>
              <a:rPr lang="en-US" sz="1200" b="0" i="0" u="none" strike="noStrike"/>
            </a:br>
            <a:endParaRPr sz="1200"/>
          </a:p>
        </p:txBody>
      </p:sp>
      <p:sp>
        <p:nvSpPr>
          <p:cNvPr id="377" name="Google Shape;377;p21"/>
          <p:cNvSpPr/>
          <p:nvPr/>
        </p:nvSpPr>
        <p:spPr>
          <a:xfrm>
            <a:off x="6095999" y="1066164"/>
            <a:ext cx="5305958" cy="5148371"/>
          </a:xfrm>
          <a:prstGeom prst="roundRect">
            <a:avLst>
              <a:gd name="adj" fmla="val 2403"/>
            </a:avLst>
          </a:prstGeom>
          <a:solidFill>
            <a:srgbClr val="FFFFF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entury Gothic"/>
              <a:ea typeface="Century Gothic"/>
              <a:cs typeface="Century Gothic"/>
              <a:sym typeface="Century Gothic"/>
            </a:endParaRPr>
          </a:p>
        </p:txBody>
      </p:sp>
      <p:pic>
        <p:nvPicPr>
          <p:cNvPr id="378" name="Google Shape;378;p21" descr="A questionnaire with text&#10;&#10;Description automatically generated"/>
          <p:cNvPicPr preferRelativeResize="0"/>
          <p:nvPr/>
        </p:nvPicPr>
        <p:blipFill rotWithShape="1">
          <a:blip r:embed="rId4">
            <a:alphaModFix/>
          </a:blip>
          <a:srcRect t="880" r="4" b="3"/>
          <a:stretch/>
        </p:blipFill>
        <p:spPr>
          <a:xfrm>
            <a:off x="6739653" y="1289153"/>
            <a:ext cx="4323589" cy="4502683"/>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382"/>
        <p:cNvGrpSpPr/>
        <p:nvPr/>
      </p:nvGrpSpPr>
      <p:grpSpPr>
        <a:xfrm>
          <a:off x="0" y="0"/>
          <a:ext cx="0" cy="0"/>
          <a:chOff x="0" y="0"/>
          <a:chExt cx="0" cy="0"/>
        </a:xfrm>
      </p:grpSpPr>
      <p:sp>
        <p:nvSpPr>
          <p:cNvPr id="383" name="Google Shape;383;p22"/>
          <p:cNvSpPr/>
          <p:nvPr/>
        </p:nvSpPr>
        <p:spPr>
          <a:xfrm>
            <a:off x="4636008" y="0"/>
            <a:ext cx="7555992" cy="6858000"/>
          </a:xfrm>
          <a:prstGeom prst="roundRect">
            <a:avLst>
              <a:gd name="adj" fmla="val 0"/>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entury Gothic"/>
              <a:ea typeface="Century Gothic"/>
              <a:cs typeface="Century Gothic"/>
              <a:sym typeface="Century Gothic"/>
            </a:endParaRPr>
          </a:p>
        </p:txBody>
      </p:sp>
      <p:sp>
        <p:nvSpPr>
          <p:cNvPr id="384" name="Google Shape;384;p22"/>
          <p:cNvSpPr/>
          <p:nvPr/>
        </p:nvSpPr>
        <p:spPr>
          <a:xfrm>
            <a:off x="0" y="0"/>
            <a:ext cx="4636008" cy="6858000"/>
          </a:xfrm>
          <a:prstGeom prst="rect">
            <a:avLst/>
          </a:prstGeom>
          <a:solidFill>
            <a:schemeClr val="dk1"/>
          </a:solidFill>
          <a:ln>
            <a:noFill/>
          </a:ln>
          <a:effectLst>
            <a:outerShdw blurRad="63500" dist="38100" algn="l" rotWithShape="0">
              <a:srgbClr val="000000">
                <a:alpha val="40000"/>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entury Gothic"/>
              <a:ea typeface="Century Gothic"/>
              <a:cs typeface="Century Gothic"/>
              <a:sym typeface="Century Gothic"/>
            </a:endParaRPr>
          </a:p>
        </p:txBody>
      </p:sp>
      <p:pic>
        <p:nvPicPr>
          <p:cNvPr id="385" name="Google Shape;385;p22"/>
          <p:cNvPicPr preferRelativeResize="0"/>
          <p:nvPr/>
        </p:nvPicPr>
        <p:blipFill rotWithShape="1">
          <a:blip r:embed="rId3">
            <a:alphaModFix/>
          </a:blip>
          <a:srcRect r="61974"/>
          <a:stretch/>
        </p:blipFill>
        <p:spPr>
          <a:xfrm>
            <a:off x="0" y="0"/>
            <a:ext cx="4636008" cy="1441450"/>
          </a:xfrm>
          <a:prstGeom prst="rect">
            <a:avLst/>
          </a:prstGeom>
          <a:noFill/>
          <a:ln>
            <a:noFill/>
          </a:ln>
        </p:spPr>
      </p:pic>
      <p:pic>
        <p:nvPicPr>
          <p:cNvPr id="386" name="Google Shape;386;p22"/>
          <p:cNvPicPr preferRelativeResize="0"/>
          <p:nvPr/>
        </p:nvPicPr>
        <p:blipFill rotWithShape="1">
          <a:blip r:embed="rId4">
            <a:alphaModFix/>
          </a:blip>
          <a:srcRect r="61974"/>
          <a:stretch/>
        </p:blipFill>
        <p:spPr>
          <a:xfrm>
            <a:off x="0" y="4375150"/>
            <a:ext cx="4636008" cy="2482850"/>
          </a:xfrm>
          <a:prstGeom prst="rect">
            <a:avLst/>
          </a:prstGeom>
          <a:noFill/>
          <a:ln>
            <a:noFill/>
          </a:ln>
        </p:spPr>
      </p:pic>
      <p:sp>
        <p:nvSpPr>
          <p:cNvPr id="387" name="Google Shape;387;p22"/>
          <p:cNvSpPr txBox="1">
            <a:spLocks noGrp="1"/>
          </p:cNvSpPr>
          <p:nvPr>
            <p:ph type="title"/>
          </p:nvPr>
        </p:nvSpPr>
        <p:spPr>
          <a:xfrm>
            <a:off x="685800" y="1066163"/>
            <a:ext cx="3306744" cy="5148371"/>
          </a:xfrm>
          <a:prstGeom prst="rect">
            <a:avLst/>
          </a:prstGeom>
          <a:noFill/>
          <a:ln>
            <a:noFill/>
          </a:ln>
        </p:spPr>
        <p:txBody>
          <a:bodyPr spcFirstLastPara="1" wrap="square" lIns="91425" tIns="45700" rIns="91425" bIns="45700" anchor="ctr" anchorCtr="0">
            <a:normAutofit/>
          </a:bodyPr>
          <a:lstStyle/>
          <a:p>
            <a:pPr marL="0" lvl="0" indent="0" algn="r" rtl="0">
              <a:lnSpc>
                <a:spcPct val="90000"/>
              </a:lnSpc>
              <a:spcBef>
                <a:spcPts val="0"/>
              </a:spcBef>
              <a:spcAft>
                <a:spcPts val="0"/>
              </a:spcAft>
              <a:buClr>
                <a:schemeClr val="lt1"/>
              </a:buClr>
              <a:buSzPts val="4000"/>
              <a:buFont typeface="Century Gothic"/>
              <a:buNone/>
            </a:pPr>
            <a:r>
              <a:rPr lang="en-US">
                <a:solidFill>
                  <a:schemeClr val="lt1"/>
                </a:solidFill>
              </a:rPr>
              <a:t>IN AN IDEAL WORLD, WHAT WOULD YOUR IDEAL DATA INDICATOR BE?</a:t>
            </a:r>
            <a:endParaRPr/>
          </a:p>
        </p:txBody>
      </p:sp>
      <p:graphicFrame>
        <p:nvGraphicFramePr>
          <p:cNvPr id="388" name="Google Shape;388;p22"/>
          <p:cNvGraphicFramePr/>
          <p:nvPr/>
        </p:nvGraphicFramePr>
        <p:xfrm>
          <a:off x="5340042" y="746125"/>
          <a:ext cx="6169075" cy="5850390"/>
        </p:xfrm>
        <a:graphic>
          <a:graphicData uri="http://schemas.openxmlformats.org/drawingml/2006/table">
            <a:tbl>
              <a:tblPr firstRow="1" bandRow="1">
                <a:noFill/>
                <a:tableStyleId>{BBD23F09-7EDC-4579-8EFA-03F43352C378}</a:tableStyleId>
              </a:tblPr>
              <a:tblGrid>
                <a:gridCol w="2320050">
                  <a:extLst>
                    <a:ext uri="{9D8B030D-6E8A-4147-A177-3AD203B41FA5}">
                      <a16:colId xmlns:a16="http://schemas.microsoft.com/office/drawing/2014/main" val="20000"/>
                    </a:ext>
                  </a:extLst>
                </a:gridCol>
                <a:gridCol w="3849025">
                  <a:extLst>
                    <a:ext uri="{9D8B030D-6E8A-4147-A177-3AD203B41FA5}">
                      <a16:colId xmlns:a16="http://schemas.microsoft.com/office/drawing/2014/main" val="20001"/>
                    </a:ext>
                  </a:extLst>
                </a:gridCol>
              </a:tblGrid>
              <a:tr h="219800">
                <a:tc>
                  <a:txBody>
                    <a:bodyPr/>
                    <a:lstStyle/>
                    <a:p>
                      <a:pPr marL="0" marR="0" lvl="0" indent="0" algn="l" rtl="0">
                        <a:spcBef>
                          <a:spcPts val="0"/>
                        </a:spcBef>
                        <a:spcAft>
                          <a:spcPts val="0"/>
                        </a:spcAft>
                        <a:buNone/>
                      </a:pPr>
                      <a:r>
                        <a:rPr lang="en-US" sz="1100" b="1" u="none" strike="noStrike" cap="none"/>
                        <a:t>Area of Focus</a:t>
                      </a:r>
                      <a:endParaRPr/>
                    </a:p>
                  </a:txBody>
                  <a:tcPr marL="14850" marR="14850" marT="7425" marB="7425" anchor="b"/>
                </a:tc>
                <a:tc>
                  <a:txBody>
                    <a:bodyPr/>
                    <a:lstStyle/>
                    <a:p>
                      <a:pPr marL="0" marR="0" lvl="0" indent="0" algn="l" rtl="0">
                        <a:spcBef>
                          <a:spcPts val="0"/>
                        </a:spcBef>
                        <a:spcAft>
                          <a:spcPts val="0"/>
                        </a:spcAft>
                        <a:buNone/>
                      </a:pPr>
                      <a:r>
                        <a:rPr lang="en-US" sz="1100" b="1" u="none" strike="noStrike" cap="none"/>
                        <a:t>Description</a:t>
                      </a:r>
                      <a:endParaRPr/>
                    </a:p>
                  </a:txBody>
                  <a:tcPr marL="14850" marR="14850" marT="7425" marB="7425" anchor="b"/>
                </a:tc>
                <a:extLst>
                  <a:ext uri="{0D108BD9-81ED-4DB2-BD59-A6C34878D82A}">
                    <a16:rowId xmlns:a16="http://schemas.microsoft.com/office/drawing/2014/main" val="10000"/>
                  </a:ext>
                </a:extLst>
              </a:tr>
              <a:tr h="385100">
                <a:tc>
                  <a:txBody>
                    <a:bodyPr/>
                    <a:lstStyle/>
                    <a:p>
                      <a:pPr marL="0" marR="0" lvl="0" indent="0" algn="l" rtl="0">
                        <a:spcBef>
                          <a:spcPts val="0"/>
                        </a:spcBef>
                        <a:spcAft>
                          <a:spcPts val="0"/>
                        </a:spcAft>
                        <a:buNone/>
                      </a:pPr>
                      <a:r>
                        <a:rPr lang="en-US" sz="1100" b="1" u="none" strike="noStrike" cap="none"/>
                        <a:t>Real-Time Data Collection</a:t>
                      </a:r>
                      <a:endParaRPr sz="1100" u="none" strike="noStrike" cap="none"/>
                    </a:p>
                  </a:txBody>
                  <a:tcPr marL="14850" marR="14850" marT="7425" marB="7425" anchor="ctr"/>
                </a:tc>
                <a:tc>
                  <a:txBody>
                    <a:bodyPr/>
                    <a:lstStyle/>
                    <a:p>
                      <a:pPr marL="0" marR="0" lvl="0" indent="0" algn="l" rtl="0">
                        <a:spcBef>
                          <a:spcPts val="0"/>
                        </a:spcBef>
                        <a:spcAft>
                          <a:spcPts val="0"/>
                        </a:spcAft>
                        <a:buNone/>
                      </a:pPr>
                      <a:r>
                        <a:rPr lang="en-US" sz="1100" u="none" strike="noStrike" cap="none"/>
                        <a:t>- Continuous monitoring and data collection on adolescent substance use.</a:t>
                      </a:r>
                      <a:endParaRPr/>
                    </a:p>
                  </a:txBody>
                  <a:tcPr marL="14850" marR="14850" marT="7425" marB="7425" anchor="ctr"/>
                </a:tc>
                <a:extLst>
                  <a:ext uri="{0D108BD9-81ED-4DB2-BD59-A6C34878D82A}">
                    <a16:rowId xmlns:a16="http://schemas.microsoft.com/office/drawing/2014/main" val="10001"/>
                  </a:ext>
                </a:extLst>
              </a:tr>
              <a:tr h="219800">
                <a:tc>
                  <a:txBody>
                    <a:bodyPr/>
                    <a:lstStyle/>
                    <a:p>
                      <a:pPr marL="0" marR="0" lvl="0" indent="0" algn="l" rtl="0">
                        <a:spcBef>
                          <a:spcPts val="0"/>
                        </a:spcBef>
                        <a:spcAft>
                          <a:spcPts val="0"/>
                        </a:spcAft>
                        <a:buNone/>
                      </a:pPr>
                      <a:endParaRPr sz="1100" u="none" strike="noStrike" cap="none"/>
                    </a:p>
                  </a:txBody>
                  <a:tcPr marL="14850" marR="14850" marT="7425" marB="7425" anchor="ctr"/>
                </a:tc>
                <a:tc>
                  <a:txBody>
                    <a:bodyPr/>
                    <a:lstStyle/>
                    <a:p>
                      <a:pPr marL="0" marR="0" lvl="0" indent="0" algn="l" rtl="0">
                        <a:spcBef>
                          <a:spcPts val="0"/>
                        </a:spcBef>
                        <a:spcAft>
                          <a:spcPts val="0"/>
                        </a:spcAft>
                        <a:buNone/>
                      </a:pPr>
                      <a:r>
                        <a:rPr lang="en-US" sz="1100" u="none" strike="noStrike" cap="none"/>
                        <a:t>- Real-time evaluations of interventions.</a:t>
                      </a:r>
                      <a:endParaRPr/>
                    </a:p>
                  </a:txBody>
                  <a:tcPr marL="14850" marR="14850" marT="7425" marB="7425" anchor="ctr"/>
                </a:tc>
                <a:extLst>
                  <a:ext uri="{0D108BD9-81ED-4DB2-BD59-A6C34878D82A}">
                    <a16:rowId xmlns:a16="http://schemas.microsoft.com/office/drawing/2014/main" val="10002"/>
                  </a:ext>
                </a:extLst>
              </a:tr>
              <a:tr h="385100">
                <a:tc>
                  <a:txBody>
                    <a:bodyPr/>
                    <a:lstStyle/>
                    <a:p>
                      <a:pPr marL="0" marR="0" lvl="0" indent="0" algn="l" rtl="0">
                        <a:spcBef>
                          <a:spcPts val="0"/>
                        </a:spcBef>
                        <a:spcAft>
                          <a:spcPts val="0"/>
                        </a:spcAft>
                        <a:buNone/>
                      </a:pPr>
                      <a:endParaRPr sz="1100" u="none" strike="noStrike" cap="none"/>
                    </a:p>
                  </a:txBody>
                  <a:tcPr marL="14850" marR="14850" marT="7425" marB="7425" anchor="ctr"/>
                </a:tc>
                <a:tc>
                  <a:txBody>
                    <a:bodyPr/>
                    <a:lstStyle/>
                    <a:p>
                      <a:pPr marL="0" marR="0" lvl="0" indent="0" algn="l" rtl="0">
                        <a:spcBef>
                          <a:spcPts val="0"/>
                        </a:spcBef>
                        <a:spcAft>
                          <a:spcPts val="0"/>
                        </a:spcAft>
                        <a:buNone/>
                      </a:pPr>
                      <a:r>
                        <a:rPr lang="en-US" sz="1100" u="none" strike="noStrike" cap="none"/>
                        <a:t>- Prompt identification and response to emerging trends or escalating issues.</a:t>
                      </a:r>
                      <a:endParaRPr/>
                    </a:p>
                  </a:txBody>
                  <a:tcPr marL="14850" marR="14850" marT="7425" marB="7425" anchor="ctr"/>
                </a:tc>
                <a:extLst>
                  <a:ext uri="{0D108BD9-81ED-4DB2-BD59-A6C34878D82A}">
                    <a16:rowId xmlns:a16="http://schemas.microsoft.com/office/drawing/2014/main" val="10003"/>
                  </a:ext>
                </a:extLst>
              </a:tr>
              <a:tr h="550400">
                <a:tc>
                  <a:txBody>
                    <a:bodyPr/>
                    <a:lstStyle/>
                    <a:p>
                      <a:pPr marL="0" marR="0" lvl="0" indent="0" algn="l" rtl="0">
                        <a:spcBef>
                          <a:spcPts val="0"/>
                        </a:spcBef>
                        <a:spcAft>
                          <a:spcPts val="0"/>
                        </a:spcAft>
                        <a:buNone/>
                      </a:pPr>
                      <a:r>
                        <a:rPr lang="en-US" sz="1100" b="1" u="none" strike="noStrike" cap="none"/>
                        <a:t>Diverse Data Sources</a:t>
                      </a:r>
                      <a:endParaRPr sz="1100" u="none" strike="noStrike" cap="none"/>
                    </a:p>
                  </a:txBody>
                  <a:tcPr marL="14850" marR="14850" marT="7425" marB="7425" anchor="ctr"/>
                </a:tc>
                <a:tc>
                  <a:txBody>
                    <a:bodyPr/>
                    <a:lstStyle/>
                    <a:p>
                      <a:pPr marL="0" marR="0" lvl="0" indent="0" algn="l" rtl="0">
                        <a:spcBef>
                          <a:spcPts val="0"/>
                        </a:spcBef>
                        <a:spcAft>
                          <a:spcPts val="0"/>
                        </a:spcAft>
                        <a:buNone/>
                      </a:pPr>
                      <a:r>
                        <a:rPr lang="en-US" sz="1100" u="none" strike="noStrike" cap="none"/>
                        <a:t>- Data collection from various settings: community centers, healthcare facilities, online platforms, family and social networks.</a:t>
                      </a:r>
                      <a:endParaRPr/>
                    </a:p>
                  </a:txBody>
                  <a:tcPr marL="14850" marR="14850" marT="7425" marB="7425" anchor="ctr"/>
                </a:tc>
                <a:extLst>
                  <a:ext uri="{0D108BD9-81ED-4DB2-BD59-A6C34878D82A}">
                    <a16:rowId xmlns:a16="http://schemas.microsoft.com/office/drawing/2014/main" val="10004"/>
                  </a:ext>
                </a:extLst>
              </a:tr>
              <a:tr h="385100">
                <a:tc>
                  <a:txBody>
                    <a:bodyPr/>
                    <a:lstStyle/>
                    <a:p>
                      <a:pPr marL="0" marR="0" lvl="0" indent="0" algn="l" rtl="0">
                        <a:spcBef>
                          <a:spcPts val="0"/>
                        </a:spcBef>
                        <a:spcAft>
                          <a:spcPts val="0"/>
                        </a:spcAft>
                        <a:buNone/>
                      </a:pPr>
                      <a:endParaRPr sz="1100" u="none" strike="noStrike" cap="none"/>
                    </a:p>
                  </a:txBody>
                  <a:tcPr marL="14850" marR="14850" marT="7425" marB="7425" anchor="ctr"/>
                </a:tc>
                <a:tc>
                  <a:txBody>
                    <a:bodyPr/>
                    <a:lstStyle/>
                    <a:p>
                      <a:pPr marL="0" marR="0" lvl="0" indent="0" algn="l" rtl="0">
                        <a:spcBef>
                          <a:spcPts val="0"/>
                        </a:spcBef>
                        <a:spcAft>
                          <a:spcPts val="0"/>
                        </a:spcAft>
                        <a:buNone/>
                      </a:pPr>
                      <a:r>
                        <a:rPr lang="en-US" sz="1100" u="none" strike="noStrike" cap="none"/>
                        <a:t>- Collaborations with diverse stakeholders for comprehensive data collection.</a:t>
                      </a:r>
                      <a:endParaRPr/>
                    </a:p>
                  </a:txBody>
                  <a:tcPr marL="14850" marR="14850" marT="7425" marB="7425" anchor="ctr"/>
                </a:tc>
                <a:extLst>
                  <a:ext uri="{0D108BD9-81ED-4DB2-BD59-A6C34878D82A}">
                    <a16:rowId xmlns:a16="http://schemas.microsoft.com/office/drawing/2014/main" val="10005"/>
                  </a:ext>
                </a:extLst>
              </a:tr>
              <a:tr h="550400">
                <a:tc>
                  <a:txBody>
                    <a:bodyPr/>
                    <a:lstStyle/>
                    <a:p>
                      <a:pPr marL="0" marR="0" lvl="0" indent="0" algn="l" rtl="0">
                        <a:spcBef>
                          <a:spcPts val="0"/>
                        </a:spcBef>
                        <a:spcAft>
                          <a:spcPts val="0"/>
                        </a:spcAft>
                        <a:buNone/>
                      </a:pPr>
                      <a:r>
                        <a:rPr lang="en-US" sz="1100" b="1" u="none" strike="noStrike" cap="none"/>
                        <a:t>Comprehensive Data Points</a:t>
                      </a:r>
                      <a:endParaRPr sz="1100" u="none" strike="noStrike" cap="none"/>
                    </a:p>
                  </a:txBody>
                  <a:tcPr marL="14850" marR="14850" marT="7425" marB="7425" anchor="ctr"/>
                </a:tc>
                <a:tc>
                  <a:txBody>
                    <a:bodyPr/>
                    <a:lstStyle/>
                    <a:p>
                      <a:pPr marL="0" marR="0" lvl="0" indent="0" algn="l" rtl="0">
                        <a:spcBef>
                          <a:spcPts val="0"/>
                        </a:spcBef>
                        <a:spcAft>
                          <a:spcPts val="0"/>
                        </a:spcAft>
                        <a:buNone/>
                      </a:pPr>
                      <a:r>
                        <a:rPr lang="en-US" sz="1100" u="none" strike="noStrike" cap="none"/>
                        <a:t>- Understanding various determinants of substance use: socioeconomic factors, peer influence, mental health status, access to substances, education, and awareness levels.</a:t>
                      </a:r>
                      <a:endParaRPr/>
                    </a:p>
                  </a:txBody>
                  <a:tcPr marL="14850" marR="14850" marT="7425" marB="7425" anchor="ctr"/>
                </a:tc>
                <a:extLst>
                  <a:ext uri="{0D108BD9-81ED-4DB2-BD59-A6C34878D82A}">
                    <a16:rowId xmlns:a16="http://schemas.microsoft.com/office/drawing/2014/main" val="10006"/>
                  </a:ext>
                </a:extLst>
              </a:tr>
              <a:tr h="881000">
                <a:tc>
                  <a:txBody>
                    <a:bodyPr/>
                    <a:lstStyle/>
                    <a:p>
                      <a:pPr marL="0" marR="0" lvl="0" indent="0" algn="l" rtl="0">
                        <a:spcBef>
                          <a:spcPts val="0"/>
                        </a:spcBef>
                        <a:spcAft>
                          <a:spcPts val="0"/>
                        </a:spcAft>
                        <a:buNone/>
                      </a:pPr>
                      <a:endParaRPr sz="1100" u="none" strike="noStrike" cap="none"/>
                    </a:p>
                  </a:txBody>
                  <a:tcPr marL="14850" marR="14850" marT="7425" marB="7425" anchor="ctr"/>
                </a:tc>
                <a:tc>
                  <a:txBody>
                    <a:bodyPr/>
                    <a:lstStyle/>
                    <a:p>
                      <a:pPr marL="0" marR="0" lvl="0" indent="0" algn="l" rtl="0">
                        <a:spcBef>
                          <a:spcPts val="0"/>
                        </a:spcBef>
                        <a:spcAft>
                          <a:spcPts val="0"/>
                        </a:spcAft>
                        <a:buNone/>
                      </a:pPr>
                      <a:r>
                        <a:rPr lang="en-US" sz="1100" u="none" strike="noStrike" cap="none"/>
                        <a:t>- Evaluation of intervention effectiveness through comparison of substance use rates pre and post-intervention, evaluating the reach and impact of education and prevention programs, and monitoring the utilization and effectiveness of treatment resources.</a:t>
                      </a:r>
                      <a:endParaRPr/>
                    </a:p>
                  </a:txBody>
                  <a:tcPr marL="14850" marR="14850" marT="7425" marB="7425" anchor="ctr"/>
                </a:tc>
                <a:extLst>
                  <a:ext uri="{0D108BD9-81ED-4DB2-BD59-A6C34878D82A}">
                    <a16:rowId xmlns:a16="http://schemas.microsoft.com/office/drawing/2014/main" val="10007"/>
                  </a:ext>
                </a:extLst>
              </a:tr>
              <a:tr h="385100">
                <a:tc>
                  <a:txBody>
                    <a:bodyPr/>
                    <a:lstStyle/>
                    <a:p>
                      <a:pPr marL="0" marR="0" lvl="0" indent="0" algn="l" rtl="0">
                        <a:spcBef>
                          <a:spcPts val="0"/>
                        </a:spcBef>
                        <a:spcAft>
                          <a:spcPts val="0"/>
                        </a:spcAft>
                        <a:buNone/>
                      </a:pPr>
                      <a:r>
                        <a:rPr lang="en-US" sz="1100" b="1" u="none" strike="noStrike" cap="none"/>
                        <a:t>Enhanced Evaluative Capabilities</a:t>
                      </a:r>
                      <a:endParaRPr sz="1100" u="none" strike="noStrike" cap="none"/>
                    </a:p>
                  </a:txBody>
                  <a:tcPr marL="14850" marR="14850" marT="7425" marB="7425" anchor="ctr"/>
                </a:tc>
                <a:tc>
                  <a:txBody>
                    <a:bodyPr/>
                    <a:lstStyle/>
                    <a:p>
                      <a:pPr marL="0" marR="0" lvl="0" indent="0" algn="l" rtl="0">
                        <a:spcBef>
                          <a:spcPts val="0"/>
                        </a:spcBef>
                        <a:spcAft>
                          <a:spcPts val="0"/>
                        </a:spcAft>
                        <a:buNone/>
                      </a:pPr>
                      <a:r>
                        <a:rPr lang="en-US" sz="1100" u="none" strike="noStrike" cap="none"/>
                        <a:t>- More precise evaluations of interventions enabling adjustments and improvements based on real-time feedback.</a:t>
                      </a:r>
                      <a:endParaRPr/>
                    </a:p>
                  </a:txBody>
                  <a:tcPr marL="14850" marR="14850" marT="7425" marB="7425" anchor="ctr"/>
                </a:tc>
                <a:extLst>
                  <a:ext uri="{0D108BD9-81ED-4DB2-BD59-A6C34878D82A}">
                    <a16:rowId xmlns:a16="http://schemas.microsoft.com/office/drawing/2014/main" val="10008"/>
                  </a:ext>
                </a:extLst>
              </a:tr>
              <a:tr h="385100">
                <a:tc>
                  <a:txBody>
                    <a:bodyPr/>
                    <a:lstStyle/>
                    <a:p>
                      <a:pPr marL="0" marR="0" lvl="0" indent="0" algn="l" rtl="0">
                        <a:spcBef>
                          <a:spcPts val="0"/>
                        </a:spcBef>
                        <a:spcAft>
                          <a:spcPts val="0"/>
                        </a:spcAft>
                        <a:buNone/>
                      </a:pPr>
                      <a:endParaRPr sz="1100" u="none" strike="noStrike" cap="none"/>
                    </a:p>
                  </a:txBody>
                  <a:tcPr marL="14850" marR="14850" marT="7425" marB="7425" anchor="ctr"/>
                </a:tc>
                <a:tc>
                  <a:txBody>
                    <a:bodyPr/>
                    <a:lstStyle/>
                    <a:p>
                      <a:pPr marL="0" marR="0" lvl="0" indent="0" algn="l" rtl="0">
                        <a:spcBef>
                          <a:spcPts val="0"/>
                        </a:spcBef>
                        <a:spcAft>
                          <a:spcPts val="0"/>
                        </a:spcAft>
                        <a:buNone/>
                      </a:pPr>
                      <a:r>
                        <a:rPr lang="en-US" sz="1100" u="none" strike="noStrike" cap="none"/>
                        <a:t>- Timely evaluations allowing for quicker iterations and improvements to enhance intervention effectiveness.</a:t>
                      </a:r>
                      <a:endParaRPr/>
                    </a:p>
                  </a:txBody>
                  <a:tcPr marL="14850" marR="14850" marT="7425" marB="7425" anchor="ctr"/>
                </a:tc>
                <a:extLst>
                  <a:ext uri="{0D108BD9-81ED-4DB2-BD59-A6C34878D82A}">
                    <a16:rowId xmlns:a16="http://schemas.microsoft.com/office/drawing/2014/main" val="10009"/>
                  </a:ext>
                </a:extLst>
              </a:tr>
              <a:tr h="550400">
                <a:tc>
                  <a:txBody>
                    <a:bodyPr/>
                    <a:lstStyle/>
                    <a:p>
                      <a:pPr marL="0" marR="0" lvl="0" indent="0" algn="l" rtl="0">
                        <a:spcBef>
                          <a:spcPts val="0"/>
                        </a:spcBef>
                        <a:spcAft>
                          <a:spcPts val="0"/>
                        </a:spcAft>
                        <a:buNone/>
                      </a:pPr>
                      <a:r>
                        <a:rPr lang="en-US" sz="1100" b="1" u="none" strike="noStrike" cap="none"/>
                        <a:t>Holistic Understanding</a:t>
                      </a:r>
                      <a:endParaRPr sz="1100" u="none" strike="noStrike" cap="none"/>
                    </a:p>
                  </a:txBody>
                  <a:tcPr marL="14850" marR="14850" marT="7425" marB="7425" anchor="ctr"/>
                </a:tc>
                <a:tc>
                  <a:txBody>
                    <a:bodyPr/>
                    <a:lstStyle/>
                    <a:p>
                      <a:pPr marL="0" marR="0" lvl="0" indent="0" algn="l" rtl="0">
                        <a:spcBef>
                          <a:spcPts val="0"/>
                        </a:spcBef>
                        <a:spcAft>
                          <a:spcPts val="0"/>
                        </a:spcAft>
                        <a:buNone/>
                      </a:pPr>
                      <a:r>
                        <a:rPr lang="en-US" sz="1100" u="none" strike="noStrike" cap="none"/>
                        <a:t>- Obtaining a well-rounded understanding of adolescent substance use encompassing a wide range of influencing factors.</a:t>
                      </a:r>
                      <a:endParaRPr/>
                    </a:p>
                  </a:txBody>
                  <a:tcPr marL="14850" marR="14850" marT="7425" marB="7425" anchor="ctr"/>
                </a:tc>
                <a:extLst>
                  <a:ext uri="{0D108BD9-81ED-4DB2-BD59-A6C34878D82A}">
                    <a16:rowId xmlns:a16="http://schemas.microsoft.com/office/drawing/2014/main" val="10010"/>
                  </a:ext>
                </a:extLst>
              </a:tr>
              <a:tr h="550400">
                <a:tc>
                  <a:txBody>
                    <a:bodyPr/>
                    <a:lstStyle/>
                    <a:p>
                      <a:pPr marL="0" marR="0" lvl="0" indent="0" algn="l" rtl="0">
                        <a:spcBef>
                          <a:spcPts val="0"/>
                        </a:spcBef>
                        <a:spcAft>
                          <a:spcPts val="0"/>
                        </a:spcAft>
                        <a:buNone/>
                      </a:pPr>
                      <a:endParaRPr sz="1100" u="none" strike="noStrike" cap="none"/>
                    </a:p>
                  </a:txBody>
                  <a:tcPr marL="14850" marR="14850" marT="7425" marB="7425" anchor="ctr"/>
                </a:tc>
                <a:tc>
                  <a:txBody>
                    <a:bodyPr/>
                    <a:lstStyle/>
                    <a:p>
                      <a:pPr marL="0" marR="0" lvl="0" indent="0" algn="l" rtl="0">
                        <a:spcBef>
                          <a:spcPts val="0"/>
                        </a:spcBef>
                        <a:spcAft>
                          <a:spcPts val="0"/>
                        </a:spcAft>
                        <a:buNone/>
                      </a:pPr>
                      <a:r>
                        <a:rPr lang="en-US" sz="1100" u="none" strike="noStrike" cap="none"/>
                        <a:t>- Providing a more comprehensive picture to facilitate better-informed decisions and tailored interventions to address the root causes of substance use among adolescents.</a:t>
                      </a:r>
                      <a:endParaRPr/>
                    </a:p>
                  </a:txBody>
                  <a:tcPr marL="14850" marR="14850" marT="7425" marB="7425" anchor="ctr"/>
                </a:tc>
                <a:extLst>
                  <a:ext uri="{0D108BD9-81ED-4DB2-BD59-A6C34878D82A}">
                    <a16:rowId xmlns:a16="http://schemas.microsoft.com/office/drawing/2014/main" val="10011"/>
                  </a:ext>
                </a:extLst>
              </a:tr>
            </a:tbl>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1000"/>
                                  </p:stCondLst>
                                  <p:childTnLst>
                                    <p:set>
                                      <p:cBhvr>
                                        <p:cTn id="6" dur="1" fill="hold">
                                          <p:stCondLst>
                                            <p:cond delay="0"/>
                                          </p:stCondLst>
                                        </p:cTn>
                                        <p:tgtEl>
                                          <p:spTgt spid="387"/>
                                        </p:tgtEl>
                                        <p:attrNameLst>
                                          <p:attrName>style.visibility</p:attrName>
                                        </p:attrNameLst>
                                      </p:cBhvr>
                                      <p:to>
                                        <p:strVal val="visible"/>
                                      </p:to>
                                    </p:set>
                                    <p:animEffect transition="in" filter="fade">
                                      <p:cBhvr>
                                        <p:cTn id="7" dur="400"/>
                                        <p:tgtEl>
                                          <p:spTgt spid="38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392"/>
        <p:cNvGrpSpPr/>
        <p:nvPr/>
      </p:nvGrpSpPr>
      <p:grpSpPr>
        <a:xfrm>
          <a:off x="0" y="0"/>
          <a:ext cx="0" cy="0"/>
          <a:chOff x="0" y="0"/>
          <a:chExt cx="0" cy="0"/>
        </a:xfrm>
      </p:grpSpPr>
      <p:sp>
        <p:nvSpPr>
          <p:cNvPr id="393" name="Google Shape;393;p23"/>
          <p:cNvSpPr/>
          <p:nvPr/>
        </p:nvSpPr>
        <p:spPr>
          <a:xfrm>
            <a:off x="0" y="0"/>
            <a:ext cx="12192000" cy="68580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entury Gothic"/>
              <a:ea typeface="Century Gothic"/>
              <a:cs typeface="Century Gothic"/>
              <a:sym typeface="Century Gothic"/>
            </a:endParaRPr>
          </a:p>
        </p:txBody>
      </p:sp>
      <p:pic>
        <p:nvPicPr>
          <p:cNvPr id="394" name="Google Shape;394;p23"/>
          <p:cNvPicPr preferRelativeResize="0"/>
          <p:nvPr/>
        </p:nvPicPr>
        <p:blipFill rotWithShape="1">
          <a:blip r:embed="rId3">
            <a:alphaModFix/>
          </a:blip>
          <a:srcRect/>
          <a:stretch/>
        </p:blipFill>
        <p:spPr>
          <a:xfrm>
            <a:off x="0" y="0"/>
            <a:ext cx="12192000" cy="1441450"/>
          </a:xfrm>
          <a:prstGeom prst="rect">
            <a:avLst/>
          </a:prstGeom>
          <a:noFill/>
          <a:ln>
            <a:noFill/>
          </a:ln>
        </p:spPr>
      </p:pic>
      <p:sp>
        <p:nvSpPr>
          <p:cNvPr id="395" name="Google Shape;395;p23"/>
          <p:cNvSpPr txBox="1">
            <a:spLocks noGrp="1"/>
          </p:cNvSpPr>
          <p:nvPr>
            <p:ph type="title"/>
          </p:nvPr>
        </p:nvSpPr>
        <p:spPr>
          <a:xfrm>
            <a:off x="685800" y="1105622"/>
            <a:ext cx="3306744" cy="1293028"/>
          </a:xfrm>
          <a:prstGeom prst="rect">
            <a:avLst/>
          </a:prstGeom>
          <a:noFill/>
          <a:ln>
            <a:noFill/>
          </a:ln>
        </p:spPr>
        <p:txBody>
          <a:bodyPr spcFirstLastPara="1" wrap="square" lIns="91425" tIns="45700" rIns="91425" bIns="45700" anchor="ctr" anchorCtr="0">
            <a:normAutofit/>
          </a:bodyPr>
          <a:lstStyle/>
          <a:p>
            <a:pPr marL="0" lvl="0" indent="0" algn="r" rtl="0">
              <a:lnSpc>
                <a:spcPct val="90000"/>
              </a:lnSpc>
              <a:spcBef>
                <a:spcPts val="0"/>
              </a:spcBef>
              <a:spcAft>
                <a:spcPts val="0"/>
              </a:spcAft>
              <a:buClr>
                <a:schemeClr val="dk1"/>
              </a:buClr>
              <a:buSzPts val="1000"/>
              <a:buFont typeface="Century Gothic"/>
              <a:buNone/>
            </a:pPr>
            <a:br>
              <a:rPr lang="en-US" sz="1000" b="0"/>
            </a:br>
            <a:r>
              <a:rPr lang="en-US" sz="1000" b="0" i="0" u="none" strike="noStrike">
                <a:latin typeface="Arial"/>
                <a:ea typeface="Arial"/>
                <a:cs typeface="Arial"/>
                <a:sym typeface="Arial"/>
              </a:rPr>
              <a:t>● EXPLAIN WHY THIS PARTICULAR INDICATOR WOULD BE CRITICAL EVIDENCE TO ADVANCING PUBLIC HEALTH</a:t>
            </a:r>
            <a:br>
              <a:rPr lang="en-US" sz="1000" b="0"/>
            </a:br>
            <a:r>
              <a:rPr lang="en-US" sz="1000" b="0" i="0" u="none" strike="noStrike">
                <a:latin typeface="Arial"/>
                <a:ea typeface="Arial"/>
                <a:cs typeface="Arial"/>
                <a:sym typeface="Arial"/>
              </a:rPr>
              <a:t>KNOWLEDGE OF THIS AREA.</a:t>
            </a:r>
            <a:br>
              <a:rPr lang="en-US" sz="1000" b="0" i="0" u="none" strike="noStrike">
                <a:latin typeface="Arial"/>
                <a:ea typeface="Arial"/>
                <a:cs typeface="Arial"/>
                <a:sym typeface="Arial"/>
              </a:rPr>
            </a:br>
            <a:br>
              <a:rPr lang="en-US" sz="1000" b="0"/>
            </a:br>
            <a:endParaRPr sz="1000"/>
          </a:p>
        </p:txBody>
      </p:sp>
      <p:sp>
        <p:nvSpPr>
          <p:cNvPr id="396" name="Google Shape;396;p23"/>
          <p:cNvSpPr txBox="1">
            <a:spLocks noGrp="1"/>
          </p:cNvSpPr>
          <p:nvPr>
            <p:ph type="body" idx="1"/>
          </p:nvPr>
        </p:nvSpPr>
        <p:spPr>
          <a:xfrm>
            <a:off x="685801" y="2535810"/>
            <a:ext cx="3306742" cy="3682875"/>
          </a:xfrm>
          <a:prstGeom prst="rect">
            <a:avLst/>
          </a:prstGeom>
          <a:noFill/>
          <a:ln>
            <a:noFill/>
          </a:ln>
        </p:spPr>
        <p:txBody>
          <a:bodyPr spcFirstLastPara="1" wrap="square" lIns="91425" tIns="45700" rIns="91425" bIns="45700" anchor="t" anchorCtr="0">
            <a:normAutofit/>
          </a:bodyPr>
          <a:lstStyle/>
          <a:p>
            <a:pPr marL="0" lvl="0" indent="0" algn="l" rtl="0">
              <a:lnSpc>
                <a:spcPct val="90000"/>
              </a:lnSpc>
              <a:spcBef>
                <a:spcPts val="0"/>
              </a:spcBef>
              <a:spcAft>
                <a:spcPts val="0"/>
              </a:spcAft>
              <a:buClr>
                <a:schemeClr val="dk1"/>
              </a:buClr>
              <a:buSzPts val="1600"/>
              <a:buNone/>
            </a:pPr>
            <a:r>
              <a:rPr lang="en-US" sz="1600" b="0" i="0">
                <a:latin typeface="Arial"/>
                <a:ea typeface="Arial"/>
                <a:cs typeface="Arial"/>
                <a:sym typeface="Arial"/>
              </a:rPr>
              <a:t>The chosen indicator, reduced substance use among adolescents, is instrumental in gauging the success of the intervention and advancing public health knowledge in this domain</a:t>
            </a:r>
            <a:endParaRPr sz="1600"/>
          </a:p>
        </p:txBody>
      </p:sp>
      <p:sp>
        <p:nvSpPr>
          <p:cNvPr id="397" name="Google Shape;397;p23"/>
          <p:cNvSpPr/>
          <p:nvPr/>
        </p:nvSpPr>
        <p:spPr>
          <a:xfrm>
            <a:off x="4636008" y="1066164"/>
            <a:ext cx="6765949" cy="5148371"/>
          </a:xfrm>
          <a:prstGeom prst="roundRect">
            <a:avLst>
              <a:gd name="adj" fmla="val 2403"/>
            </a:avLst>
          </a:prstGeom>
          <a:solidFill>
            <a:srgbClr val="FFFFF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entury Gothic"/>
              <a:ea typeface="Century Gothic"/>
              <a:cs typeface="Century Gothic"/>
              <a:sym typeface="Century Gothic"/>
            </a:endParaRPr>
          </a:p>
        </p:txBody>
      </p:sp>
      <p:graphicFrame>
        <p:nvGraphicFramePr>
          <p:cNvPr id="398" name="Google Shape;398;p23"/>
          <p:cNvGraphicFramePr/>
          <p:nvPr/>
        </p:nvGraphicFramePr>
        <p:xfrm>
          <a:off x="4956575" y="1336566"/>
          <a:ext cx="6124825" cy="4771210"/>
        </p:xfrm>
        <a:graphic>
          <a:graphicData uri="http://schemas.openxmlformats.org/drawingml/2006/table">
            <a:tbl>
              <a:tblPr>
                <a:noFill/>
                <a:tableStyleId>{EFA356CF-45A5-4659-A24C-15CE202FEE63}</a:tableStyleId>
              </a:tblPr>
              <a:tblGrid>
                <a:gridCol w="2497775">
                  <a:extLst>
                    <a:ext uri="{9D8B030D-6E8A-4147-A177-3AD203B41FA5}">
                      <a16:colId xmlns:a16="http://schemas.microsoft.com/office/drawing/2014/main" val="20000"/>
                    </a:ext>
                  </a:extLst>
                </a:gridCol>
                <a:gridCol w="3627050">
                  <a:extLst>
                    <a:ext uri="{9D8B030D-6E8A-4147-A177-3AD203B41FA5}">
                      <a16:colId xmlns:a16="http://schemas.microsoft.com/office/drawing/2014/main" val="20001"/>
                    </a:ext>
                  </a:extLst>
                </a:gridCol>
              </a:tblGrid>
              <a:tr h="427175">
                <a:tc>
                  <a:txBody>
                    <a:bodyPr/>
                    <a:lstStyle/>
                    <a:p>
                      <a:pPr marL="0" marR="0" lvl="0" indent="0" algn="l" rtl="0">
                        <a:spcBef>
                          <a:spcPts val="0"/>
                        </a:spcBef>
                        <a:spcAft>
                          <a:spcPts val="0"/>
                        </a:spcAft>
                        <a:buNone/>
                      </a:pPr>
                      <a:r>
                        <a:rPr lang="en-US" sz="1500" b="0" u="none" strike="noStrike" cap="none">
                          <a:solidFill>
                            <a:schemeClr val="lt1"/>
                          </a:solidFill>
                        </a:rPr>
                        <a:t>Aspect</a:t>
                      </a:r>
                      <a:endParaRPr/>
                    </a:p>
                  </a:txBody>
                  <a:tcPr marL="105875" marR="31725" marT="85025" marB="8145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chemeClr val="accent1"/>
                    </a:solidFill>
                  </a:tcPr>
                </a:tc>
                <a:tc>
                  <a:txBody>
                    <a:bodyPr/>
                    <a:lstStyle/>
                    <a:p>
                      <a:pPr marL="0" marR="0" lvl="0" indent="0" algn="l" rtl="0">
                        <a:spcBef>
                          <a:spcPts val="0"/>
                        </a:spcBef>
                        <a:spcAft>
                          <a:spcPts val="0"/>
                        </a:spcAft>
                        <a:buNone/>
                      </a:pPr>
                      <a:r>
                        <a:rPr lang="en-US" sz="1500" b="0" u="none" strike="noStrike" cap="none">
                          <a:solidFill>
                            <a:schemeClr val="lt1"/>
                          </a:solidFill>
                        </a:rPr>
                        <a:t>Description</a:t>
                      </a:r>
                      <a:endParaRPr/>
                    </a:p>
                  </a:txBody>
                  <a:tcPr marL="105875" marR="31725" marT="85025" marB="8145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chemeClr val="accent1"/>
                    </a:solidFill>
                  </a:tcPr>
                </a:tc>
                <a:extLst>
                  <a:ext uri="{0D108BD9-81ED-4DB2-BD59-A6C34878D82A}">
                    <a16:rowId xmlns:a16="http://schemas.microsoft.com/office/drawing/2014/main" val="10000"/>
                  </a:ext>
                </a:extLst>
              </a:tr>
              <a:tr h="597200">
                <a:tc>
                  <a:txBody>
                    <a:bodyPr/>
                    <a:lstStyle/>
                    <a:p>
                      <a:pPr marL="0" marR="0" lvl="0" indent="0" algn="l" rtl="0">
                        <a:spcBef>
                          <a:spcPts val="0"/>
                        </a:spcBef>
                        <a:spcAft>
                          <a:spcPts val="0"/>
                        </a:spcAft>
                        <a:buNone/>
                      </a:pPr>
                      <a:r>
                        <a:rPr lang="en-US" sz="1300" b="1" u="none" strike="noStrike" cap="none">
                          <a:solidFill>
                            <a:schemeClr val="dk1"/>
                          </a:solidFill>
                        </a:rPr>
                        <a:t>Direct Measurement</a:t>
                      </a:r>
                      <a:endParaRPr sz="1300" u="none" strike="noStrike" cap="none">
                        <a:solidFill>
                          <a:schemeClr val="dk1"/>
                        </a:solidFill>
                      </a:endParaRPr>
                    </a:p>
                  </a:txBody>
                  <a:tcPr marL="105875" marR="31725" marT="85025" marB="8145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en-US" sz="1300" u="none" strike="noStrike" cap="none">
                          <a:solidFill>
                            <a:schemeClr val="dk1"/>
                          </a:solidFill>
                        </a:rPr>
                        <a:t>Directly measures the core objective: reducing adolescent substance abuse.</a:t>
                      </a:r>
                      <a:endParaRPr/>
                    </a:p>
                  </a:txBody>
                  <a:tcPr marL="105875" marR="31725" marT="85025" marB="8145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1"/>
                  </a:ext>
                </a:extLst>
              </a:tr>
              <a:tr h="597200">
                <a:tc>
                  <a:txBody>
                    <a:bodyPr/>
                    <a:lstStyle/>
                    <a:p>
                      <a:pPr marL="0" marR="0" lvl="0" indent="0" algn="l" rtl="0">
                        <a:spcBef>
                          <a:spcPts val="0"/>
                        </a:spcBef>
                        <a:spcAft>
                          <a:spcPts val="0"/>
                        </a:spcAft>
                        <a:buNone/>
                      </a:pPr>
                      <a:r>
                        <a:rPr lang="en-US" sz="1300" b="1" u="none" strike="noStrike" cap="none">
                          <a:solidFill>
                            <a:schemeClr val="dk1"/>
                          </a:solidFill>
                        </a:rPr>
                        <a:t>Real-world Applicability</a:t>
                      </a:r>
                      <a:endParaRPr sz="1300" u="none" strike="noStrike" cap="none">
                        <a:solidFill>
                          <a:schemeClr val="dk1"/>
                        </a:solidFill>
                      </a:endParaRPr>
                    </a:p>
                  </a:txBody>
                  <a:tcPr marL="105875" marR="31725" marT="85025" marB="8145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2F2F2"/>
                    </a:solidFill>
                  </a:tcPr>
                </a:tc>
                <a:tc>
                  <a:txBody>
                    <a:bodyPr/>
                    <a:lstStyle/>
                    <a:p>
                      <a:pPr marL="0" marR="0" lvl="0" indent="0" algn="l" rtl="0">
                        <a:spcBef>
                          <a:spcPts val="0"/>
                        </a:spcBef>
                        <a:spcAft>
                          <a:spcPts val="0"/>
                        </a:spcAft>
                        <a:buNone/>
                      </a:pPr>
                      <a:r>
                        <a:rPr lang="en-US" sz="1300" u="none" strike="noStrike" cap="none">
                          <a:solidFill>
                            <a:schemeClr val="dk1"/>
                          </a:solidFill>
                        </a:rPr>
                        <a:t>Provides practical insights on intervention effectiveness in real-world settings.</a:t>
                      </a:r>
                      <a:endParaRPr/>
                    </a:p>
                  </a:txBody>
                  <a:tcPr marL="105875" marR="31725" marT="85025" marB="8145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2F2F2"/>
                    </a:solidFill>
                  </a:tcPr>
                </a:tc>
                <a:extLst>
                  <a:ext uri="{0D108BD9-81ED-4DB2-BD59-A6C34878D82A}">
                    <a16:rowId xmlns:a16="http://schemas.microsoft.com/office/drawing/2014/main" val="10002"/>
                  </a:ext>
                </a:extLst>
              </a:tr>
              <a:tr h="597200">
                <a:tc>
                  <a:txBody>
                    <a:bodyPr/>
                    <a:lstStyle/>
                    <a:p>
                      <a:pPr marL="0" marR="0" lvl="0" indent="0" algn="l" rtl="0">
                        <a:spcBef>
                          <a:spcPts val="0"/>
                        </a:spcBef>
                        <a:spcAft>
                          <a:spcPts val="0"/>
                        </a:spcAft>
                        <a:buNone/>
                      </a:pPr>
                      <a:r>
                        <a:rPr lang="en-US" sz="1300" b="1" u="none" strike="noStrike" cap="none">
                          <a:solidFill>
                            <a:schemeClr val="dk1"/>
                          </a:solidFill>
                        </a:rPr>
                        <a:t>Evidence-Based Decision Making</a:t>
                      </a:r>
                      <a:endParaRPr sz="1300" u="none" strike="noStrike" cap="none">
                        <a:solidFill>
                          <a:schemeClr val="dk1"/>
                        </a:solidFill>
                      </a:endParaRPr>
                    </a:p>
                  </a:txBody>
                  <a:tcPr marL="105875" marR="31725" marT="85025" marB="8145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en-US" sz="1300" u="none" strike="noStrike" cap="none">
                          <a:solidFill>
                            <a:schemeClr val="dk1"/>
                          </a:solidFill>
                        </a:rPr>
                        <a:t>Informs better strategy refinement and resource allocation.</a:t>
                      </a:r>
                      <a:endParaRPr/>
                    </a:p>
                  </a:txBody>
                  <a:tcPr marL="105875" marR="31725" marT="85025" marB="8145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3"/>
                  </a:ext>
                </a:extLst>
              </a:tr>
              <a:tr h="597200">
                <a:tc>
                  <a:txBody>
                    <a:bodyPr/>
                    <a:lstStyle/>
                    <a:p>
                      <a:pPr marL="0" marR="0" lvl="0" indent="0" algn="l" rtl="0">
                        <a:spcBef>
                          <a:spcPts val="0"/>
                        </a:spcBef>
                        <a:spcAft>
                          <a:spcPts val="0"/>
                        </a:spcAft>
                        <a:buNone/>
                      </a:pPr>
                      <a:r>
                        <a:rPr lang="en-US" sz="1300" b="1" u="none" strike="noStrike" cap="none">
                          <a:solidFill>
                            <a:schemeClr val="dk1"/>
                          </a:solidFill>
                        </a:rPr>
                        <a:t>Contribution to Literature</a:t>
                      </a:r>
                      <a:endParaRPr sz="1300" u="none" strike="noStrike" cap="none">
                        <a:solidFill>
                          <a:schemeClr val="dk1"/>
                        </a:solidFill>
                      </a:endParaRPr>
                    </a:p>
                  </a:txBody>
                  <a:tcPr marL="105875" marR="31725" marT="85025" marB="8145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2F2F2"/>
                    </a:solidFill>
                  </a:tcPr>
                </a:tc>
                <a:tc>
                  <a:txBody>
                    <a:bodyPr/>
                    <a:lstStyle/>
                    <a:p>
                      <a:pPr marL="0" marR="0" lvl="0" indent="0" algn="l" rtl="0">
                        <a:spcBef>
                          <a:spcPts val="0"/>
                        </a:spcBef>
                        <a:spcAft>
                          <a:spcPts val="0"/>
                        </a:spcAft>
                        <a:buNone/>
                      </a:pPr>
                      <a:r>
                        <a:rPr lang="en-US" sz="1300" u="none" strike="noStrike" cap="none">
                          <a:solidFill>
                            <a:schemeClr val="dk1"/>
                          </a:solidFill>
                        </a:rPr>
                        <a:t>Adds to the body of literature on combating adolescent substance abuse.</a:t>
                      </a:r>
                      <a:endParaRPr/>
                    </a:p>
                  </a:txBody>
                  <a:tcPr marL="105875" marR="31725" marT="85025" marB="8145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2F2F2"/>
                    </a:solidFill>
                  </a:tcPr>
                </a:tc>
                <a:extLst>
                  <a:ext uri="{0D108BD9-81ED-4DB2-BD59-A6C34878D82A}">
                    <a16:rowId xmlns:a16="http://schemas.microsoft.com/office/drawing/2014/main" val="10004"/>
                  </a:ext>
                </a:extLst>
              </a:tr>
              <a:tr h="597200">
                <a:tc>
                  <a:txBody>
                    <a:bodyPr/>
                    <a:lstStyle/>
                    <a:p>
                      <a:pPr marL="0" marR="0" lvl="0" indent="0" algn="l" rtl="0">
                        <a:spcBef>
                          <a:spcPts val="0"/>
                        </a:spcBef>
                        <a:spcAft>
                          <a:spcPts val="0"/>
                        </a:spcAft>
                        <a:buNone/>
                      </a:pPr>
                      <a:r>
                        <a:rPr lang="en-US" sz="1300" b="1" u="none" strike="noStrike" cap="none">
                          <a:solidFill>
                            <a:schemeClr val="dk1"/>
                          </a:solidFill>
                        </a:rPr>
                        <a:t>Holistic Understanding</a:t>
                      </a:r>
                      <a:endParaRPr sz="1300" u="none" strike="noStrike" cap="none">
                        <a:solidFill>
                          <a:schemeClr val="dk1"/>
                        </a:solidFill>
                      </a:endParaRPr>
                    </a:p>
                  </a:txBody>
                  <a:tcPr marL="105875" marR="31725" marT="85025" marB="8145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en-US" sz="1300" u="none" strike="noStrike" cap="none">
                          <a:solidFill>
                            <a:schemeClr val="dk1"/>
                          </a:solidFill>
                        </a:rPr>
                        <a:t>Offers insights into the broader impact of reducing substance abuse.</a:t>
                      </a:r>
                      <a:endParaRPr/>
                    </a:p>
                  </a:txBody>
                  <a:tcPr marL="105875" marR="31725" marT="85025" marB="8145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5"/>
                  </a:ext>
                </a:extLst>
              </a:tr>
              <a:tr h="597200">
                <a:tc>
                  <a:txBody>
                    <a:bodyPr/>
                    <a:lstStyle/>
                    <a:p>
                      <a:pPr marL="0" marR="0" lvl="0" indent="0" algn="l" rtl="0">
                        <a:spcBef>
                          <a:spcPts val="0"/>
                        </a:spcBef>
                        <a:spcAft>
                          <a:spcPts val="0"/>
                        </a:spcAft>
                        <a:buNone/>
                      </a:pPr>
                      <a:r>
                        <a:rPr lang="en-US" sz="1300" b="1" u="none" strike="noStrike" cap="none">
                          <a:solidFill>
                            <a:schemeClr val="dk1"/>
                          </a:solidFill>
                        </a:rPr>
                        <a:t>Community and Policy Impact</a:t>
                      </a:r>
                      <a:endParaRPr sz="1300" u="none" strike="noStrike" cap="none">
                        <a:solidFill>
                          <a:schemeClr val="dk1"/>
                        </a:solidFill>
                      </a:endParaRPr>
                    </a:p>
                  </a:txBody>
                  <a:tcPr marL="105875" marR="31725" marT="85025" marB="8145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2F2F2"/>
                    </a:solidFill>
                  </a:tcPr>
                </a:tc>
                <a:tc>
                  <a:txBody>
                    <a:bodyPr/>
                    <a:lstStyle/>
                    <a:p>
                      <a:pPr marL="0" marR="0" lvl="0" indent="0" algn="l" rtl="0">
                        <a:spcBef>
                          <a:spcPts val="0"/>
                        </a:spcBef>
                        <a:spcAft>
                          <a:spcPts val="0"/>
                        </a:spcAft>
                        <a:buNone/>
                      </a:pPr>
                      <a:r>
                        <a:rPr lang="en-US" sz="1300" u="none" strike="noStrike" cap="none">
                          <a:solidFill>
                            <a:schemeClr val="dk1"/>
                          </a:solidFill>
                        </a:rPr>
                        <a:t>Influences community support and policy frameworks favorably.</a:t>
                      </a:r>
                      <a:endParaRPr/>
                    </a:p>
                  </a:txBody>
                  <a:tcPr marL="105875" marR="31725" marT="85025" marB="8145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2F2F2"/>
                    </a:solidFill>
                  </a:tcPr>
                </a:tc>
                <a:extLst>
                  <a:ext uri="{0D108BD9-81ED-4DB2-BD59-A6C34878D82A}">
                    <a16:rowId xmlns:a16="http://schemas.microsoft.com/office/drawing/2014/main" val="10006"/>
                  </a:ext>
                </a:extLst>
              </a:tr>
              <a:tr h="597200">
                <a:tc>
                  <a:txBody>
                    <a:bodyPr/>
                    <a:lstStyle/>
                    <a:p>
                      <a:pPr marL="0" marR="0" lvl="0" indent="0" algn="l" rtl="0">
                        <a:spcBef>
                          <a:spcPts val="0"/>
                        </a:spcBef>
                        <a:spcAft>
                          <a:spcPts val="0"/>
                        </a:spcAft>
                        <a:buNone/>
                      </a:pPr>
                      <a:r>
                        <a:rPr lang="en-US" sz="1300" b="1" u="none" strike="noStrike" cap="none">
                          <a:solidFill>
                            <a:schemeClr val="dk1"/>
                          </a:solidFill>
                        </a:rPr>
                        <a:t>Long-term Public Health Benefits</a:t>
                      </a:r>
                      <a:endParaRPr sz="1300" u="none" strike="noStrike" cap="none">
                        <a:solidFill>
                          <a:schemeClr val="dk1"/>
                        </a:solidFill>
                      </a:endParaRPr>
                    </a:p>
                  </a:txBody>
                  <a:tcPr marL="105875" marR="31725" marT="85025" marB="8145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en-US" sz="1300" u="none" strike="noStrike" cap="none">
                          <a:solidFill>
                            <a:schemeClr val="dk1"/>
                          </a:solidFill>
                        </a:rPr>
                        <a:t>Sets a precedent for tackling similar public health issues, promoting healthier communities.</a:t>
                      </a:r>
                      <a:endParaRPr/>
                    </a:p>
                  </a:txBody>
                  <a:tcPr marL="105875" marR="31725" marT="85025" marB="8145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7"/>
                  </a:ext>
                </a:extLst>
              </a:tr>
            </a:tbl>
          </a:graphicData>
        </a:graphic>
      </p:graphicFrame>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402"/>
        <p:cNvGrpSpPr/>
        <p:nvPr/>
      </p:nvGrpSpPr>
      <p:grpSpPr>
        <a:xfrm>
          <a:off x="0" y="0"/>
          <a:ext cx="0" cy="0"/>
          <a:chOff x="0" y="0"/>
          <a:chExt cx="0" cy="0"/>
        </a:xfrm>
      </p:grpSpPr>
      <p:sp>
        <p:nvSpPr>
          <p:cNvPr id="403" name="Google Shape;403;p24"/>
          <p:cNvSpPr/>
          <p:nvPr/>
        </p:nvSpPr>
        <p:spPr>
          <a:xfrm>
            <a:off x="4636008" y="0"/>
            <a:ext cx="7555992" cy="6858000"/>
          </a:xfrm>
          <a:prstGeom prst="rect">
            <a:avLst/>
          </a:prstGeom>
          <a:solidFill>
            <a:schemeClr val="lt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entury Gothic"/>
              <a:buNone/>
            </a:pPr>
            <a:endParaRPr sz="1800" b="0" i="0" u="none" strike="noStrike" cap="none">
              <a:solidFill>
                <a:srgbClr val="FFFFFF"/>
              </a:solidFill>
              <a:latin typeface="Century Gothic"/>
              <a:ea typeface="Century Gothic"/>
              <a:cs typeface="Century Gothic"/>
              <a:sym typeface="Century Gothic"/>
            </a:endParaRPr>
          </a:p>
        </p:txBody>
      </p:sp>
      <p:sp>
        <p:nvSpPr>
          <p:cNvPr id="404" name="Google Shape;404;p24"/>
          <p:cNvSpPr/>
          <p:nvPr/>
        </p:nvSpPr>
        <p:spPr>
          <a:xfrm>
            <a:off x="0" y="0"/>
            <a:ext cx="4636008" cy="6858000"/>
          </a:xfrm>
          <a:prstGeom prst="rect">
            <a:avLst/>
          </a:prstGeom>
          <a:solidFill>
            <a:schemeClr val="lt1"/>
          </a:solidFill>
          <a:ln>
            <a:noFill/>
          </a:ln>
          <a:effectLst>
            <a:outerShdw blurRad="63500" dist="38100" algn="l" rotWithShape="0">
              <a:srgbClr val="000000">
                <a:alpha val="40000"/>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entury Gothic"/>
              <a:buNone/>
            </a:pPr>
            <a:endParaRPr sz="1800" b="0" i="0" u="none" strike="noStrike" cap="none">
              <a:solidFill>
                <a:srgbClr val="FFFFFF"/>
              </a:solidFill>
              <a:latin typeface="Century Gothic"/>
              <a:ea typeface="Century Gothic"/>
              <a:cs typeface="Century Gothic"/>
              <a:sym typeface="Century Gothic"/>
            </a:endParaRPr>
          </a:p>
        </p:txBody>
      </p:sp>
      <p:pic>
        <p:nvPicPr>
          <p:cNvPr id="405" name="Google Shape;405;p24"/>
          <p:cNvPicPr preferRelativeResize="0"/>
          <p:nvPr/>
        </p:nvPicPr>
        <p:blipFill rotWithShape="1">
          <a:blip r:embed="rId3">
            <a:alphaModFix/>
          </a:blip>
          <a:srcRect r="73640"/>
          <a:stretch/>
        </p:blipFill>
        <p:spPr>
          <a:xfrm>
            <a:off x="0" y="4038601"/>
            <a:ext cx="4636008" cy="2819400"/>
          </a:xfrm>
          <a:prstGeom prst="rect">
            <a:avLst/>
          </a:prstGeom>
          <a:noFill/>
          <a:ln>
            <a:noFill/>
          </a:ln>
        </p:spPr>
      </p:pic>
      <p:sp>
        <p:nvSpPr>
          <p:cNvPr id="406" name="Google Shape;406;p24"/>
          <p:cNvSpPr txBox="1">
            <a:spLocks noGrp="1"/>
          </p:cNvSpPr>
          <p:nvPr>
            <p:ph type="title"/>
          </p:nvPr>
        </p:nvSpPr>
        <p:spPr>
          <a:xfrm>
            <a:off x="665922" y="987287"/>
            <a:ext cx="3548269" cy="4697896"/>
          </a:xfrm>
          <a:prstGeom prst="rect">
            <a:avLst/>
          </a:prstGeom>
          <a:noFill/>
          <a:ln>
            <a:noFill/>
          </a:ln>
        </p:spPr>
        <p:txBody>
          <a:bodyPr spcFirstLastPara="1" wrap="square" lIns="91425" tIns="45700" rIns="91425" bIns="45700" anchor="ctr" anchorCtr="0">
            <a:normAutofit/>
          </a:bodyPr>
          <a:lstStyle/>
          <a:p>
            <a:pPr marL="0" lvl="0" indent="0" algn="r" rtl="0">
              <a:lnSpc>
                <a:spcPct val="90000"/>
              </a:lnSpc>
              <a:spcBef>
                <a:spcPts val="0"/>
              </a:spcBef>
              <a:spcAft>
                <a:spcPts val="0"/>
              </a:spcAft>
              <a:buClr>
                <a:schemeClr val="dk1"/>
              </a:buClr>
              <a:buSzPts val="3600"/>
              <a:buFont typeface="Century Gothic"/>
              <a:buNone/>
            </a:pPr>
            <a:r>
              <a:rPr lang="en-US" sz="3600"/>
              <a:t>CITATIONS</a:t>
            </a:r>
            <a:endParaRPr/>
          </a:p>
        </p:txBody>
      </p:sp>
      <p:sp>
        <p:nvSpPr>
          <p:cNvPr id="407" name="Google Shape;407;p24"/>
          <p:cNvSpPr txBox="1">
            <a:spLocks noGrp="1"/>
          </p:cNvSpPr>
          <p:nvPr>
            <p:ph type="body" idx="1"/>
          </p:nvPr>
        </p:nvSpPr>
        <p:spPr>
          <a:xfrm>
            <a:off x="5057825" y="987287"/>
            <a:ext cx="5755949" cy="4697895"/>
          </a:xfrm>
          <a:prstGeom prst="rect">
            <a:avLst/>
          </a:prstGeom>
          <a:noFill/>
          <a:ln>
            <a:noFill/>
          </a:ln>
        </p:spPr>
        <p:txBody>
          <a:bodyPr spcFirstLastPara="1" wrap="square" lIns="91425" tIns="45700" rIns="91425" bIns="45700" anchor="ctr" anchorCtr="0">
            <a:normAutofit/>
          </a:bodyPr>
          <a:lstStyle/>
          <a:p>
            <a:pPr marL="228600" lvl="0" indent="-228600" algn="l" rtl="0">
              <a:lnSpc>
                <a:spcPct val="90000"/>
              </a:lnSpc>
              <a:spcBef>
                <a:spcPts val="0"/>
              </a:spcBef>
              <a:spcAft>
                <a:spcPts val="0"/>
              </a:spcAft>
              <a:buClr>
                <a:schemeClr val="dk1"/>
              </a:buClr>
              <a:buSzPts val="1400"/>
              <a:buChar char="•"/>
            </a:pPr>
            <a:r>
              <a:rPr lang="en-US" sz="1400" b="0" i="0">
                <a:latin typeface="Arial"/>
                <a:ea typeface="Arial"/>
                <a:cs typeface="Arial"/>
                <a:sym typeface="Arial"/>
              </a:rPr>
              <a:t>Oregon Healthy Teen Survey 2019: Oregon Health Authority. (2019). 2019 Results: Oregon Healthy Teens Survey. Retrieved from </a:t>
            </a:r>
            <a:r>
              <a:rPr lang="en-US" sz="1400" b="0" i="0" u="sng" strike="noStrike">
                <a:solidFill>
                  <a:schemeClr val="hlink"/>
                </a:solidFill>
                <a:latin typeface="Arial"/>
                <a:ea typeface="Arial"/>
                <a:cs typeface="Arial"/>
                <a:sym typeface="Arial"/>
                <a:hlinkClick r:id="rId4"/>
              </a:rPr>
              <a:t>https://www.oregon.gov/oha/PH/BirthDeathCertificates/Surveys/OregonHealthyTeens/Pages/index.aspx</a:t>
            </a:r>
            <a:r>
              <a:rPr lang="en-US" sz="1400" b="0" i="0">
                <a:latin typeface="Arial"/>
                <a:ea typeface="Arial"/>
                <a:cs typeface="Arial"/>
                <a:sym typeface="Arial"/>
              </a:rPr>
              <a:t>.</a:t>
            </a:r>
            <a:endParaRPr/>
          </a:p>
          <a:p>
            <a:pPr marL="228600" lvl="0" indent="-228600" algn="l" rtl="0">
              <a:lnSpc>
                <a:spcPct val="90000"/>
              </a:lnSpc>
              <a:spcBef>
                <a:spcPts val="1000"/>
              </a:spcBef>
              <a:spcAft>
                <a:spcPts val="0"/>
              </a:spcAft>
              <a:buClr>
                <a:schemeClr val="dk1"/>
              </a:buClr>
              <a:buSzPts val="1400"/>
              <a:buChar char="•"/>
            </a:pPr>
            <a:r>
              <a:rPr lang="en-US" sz="1400" b="0" i="0">
                <a:latin typeface="Arial"/>
                <a:ea typeface="Arial"/>
                <a:cs typeface="Arial"/>
                <a:sym typeface="Arial"/>
              </a:rPr>
              <a:t>Oregon Student Health Survey 2022: Oregon Health Authority. (2022). Student Health Survey: Health Surveys. Retrieved from </a:t>
            </a:r>
            <a:r>
              <a:rPr lang="en-US" sz="1400" b="0" i="0" u="sng" strike="noStrike">
                <a:solidFill>
                  <a:schemeClr val="hlink"/>
                </a:solidFill>
                <a:latin typeface="Arial"/>
                <a:ea typeface="Arial"/>
                <a:cs typeface="Arial"/>
                <a:sym typeface="Arial"/>
                <a:hlinkClick r:id="rId5"/>
              </a:rPr>
              <a:t>https://www.oregon.gov/oha/PH/BirthDeathCertificates/Surveys/StudentHealthSurvey/Pages/index.aspx</a:t>
            </a:r>
            <a:r>
              <a:rPr lang="en-US" sz="1400" b="0" i="0">
                <a:latin typeface="Arial"/>
                <a:ea typeface="Arial"/>
                <a:cs typeface="Arial"/>
                <a:sym typeface="Arial"/>
              </a:rPr>
              <a:t>.</a:t>
            </a:r>
            <a:endParaRPr/>
          </a:p>
          <a:p>
            <a:pPr marL="228600" lvl="0" indent="-228600" algn="l" rtl="0">
              <a:lnSpc>
                <a:spcPct val="90000"/>
              </a:lnSpc>
              <a:spcBef>
                <a:spcPts val="1000"/>
              </a:spcBef>
              <a:spcAft>
                <a:spcPts val="0"/>
              </a:spcAft>
              <a:buClr>
                <a:schemeClr val="dk1"/>
              </a:buClr>
              <a:buSzPts val="1400"/>
              <a:buChar char="•"/>
            </a:pPr>
            <a:r>
              <a:rPr lang="en-US" sz="1400" b="0" i="0">
                <a:latin typeface="Arial"/>
                <a:ea typeface="Arial"/>
                <a:cs typeface="Arial"/>
                <a:sym typeface="Arial"/>
              </a:rPr>
              <a:t>Teen-Safe Resources: Teen-Safe. (n.d.). Resources. Retrieved from </a:t>
            </a:r>
            <a:r>
              <a:rPr lang="en-US" sz="1400" b="0" i="0" u="sng" strike="noStrike">
                <a:solidFill>
                  <a:schemeClr val="hlink"/>
                </a:solidFill>
                <a:latin typeface="Arial"/>
                <a:ea typeface="Arial"/>
                <a:cs typeface="Arial"/>
                <a:sym typeface="Arial"/>
                <a:hlinkClick r:id="rId6"/>
              </a:rPr>
              <a:t>https://teen-safe.org/resources</a:t>
            </a:r>
            <a:r>
              <a:rPr lang="en-US" sz="1400" b="0" i="0">
                <a:latin typeface="Arial"/>
                <a:ea typeface="Arial"/>
                <a:cs typeface="Arial"/>
                <a:sym typeface="Arial"/>
              </a:rPr>
              <a:t>.</a:t>
            </a:r>
            <a:endParaRPr/>
          </a:p>
          <a:p>
            <a:pPr marL="228600" lvl="0" indent="-228600" algn="l" rtl="0">
              <a:lnSpc>
                <a:spcPct val="90000"/>
              </a:lnSpc>
              <a:spcBef>
                <a:spcPts val="1000"/>
              </a:spcBef>
              <a:spcAft>
                <a:spcPts val="0"/>
              </a:spcAft>
              <a:buClr>
                <a:schemeClr val="dk1"/>
              </a:buClr>
              <a:buSzPts val="1400"/>
              <a:buChar char="•"/>
            </a:pPr>
            <a:r>
              <a:rPr lang="en-US" sz="1400" b="0" i="0">
                <a:latin typeface="Arial"/>
                <a:ea typeface="Arial"/>
                <a:cs typeface="Arial"/>
                <a:sym typeface="Arial"/>
              </a:rPr>
              <a:t>Substance Abuse Prevention on Youth.gov: Youth.gov. (n.d.). Substance Abuse Prevention. Retrieved from </a:t>
            </a:r>
            <a:r>
              <a:rPr lang="en-US" sz="1400" b="0" i="0" u="sng" strike="noStrike">
                <a:solidFill>
                  <a:schemeClr val="hlink"/>
                </a:solidFill>
                <a:latin typeface="Arial"/>
                <a:ea typeface="Arial"/>
                <a:cs typeface="Arial"/>
                <a:sym typeface="Arial"/>
                <a:hlinkClick r:id="rId7"/>
              </a:rPr>
              <a:t>https://youth.gov/youth-topics/substance-abuse/prevention</a:t>
            </a:r>
            <a:r>
              <a:rPr lang="en-US" sz="1400" b="0" i="0">
                <a:latin typeface="Arial"/>
                <a:ea typeface="Arial"/>
                <a:cs typeface="Arial"/>
                <a:sym typeface="Arial"/>
              </a:rPr>
              <a:t>.</a:t>
            </a:r>
            <a:endParaRPr/>
          </a:p>
          <a:p>
            <a:pPr marL="228600" lvl="0" indent="-228600" algn="l" rtl="0">
              <a:lnSpc>
                <a:spcPct val="90000"/>
              </a:lnSpc>
              <a:spcBef>
                <a:spcPts val="1000"/>
              </a:spcBef>
              <a:spcAft>
                <a:spcPts val="0"/>
              </a:spcAft>
              <a:buClr>
                <a:schemeClr val="dk1"/>
              </a:buClr>
              <a:buSzPts val="1400"/>
              <a:buChar char="•"/>
            </a:pPr>
            <a:r>
              <a:rPr lang="en-US" sz="1400" b="0" i="0">
                <a:latin typeface="Arial"/>
                <a:ea typeface="Arial"/>
                <a:cs typeface="Arial"/>
                <a:sym typeface="Arial"/>
              </a:rPr>
              <a:t>SAMHSA's Substance Use Prevention Resources: Substance Abuse and Mental Health Services Administration. (n.d.). Center for Substance Abuse Prevention. Retrieved from </a:t>
            </a:r>
            <a:r>
              <a:rPr lang="en-US" sz="1400" b="0" i="0" u="sng" strike="noStrike">
                <a:solidFill>
                  <a:schemeClr val="hlink"/>
                </a:solidFill>
                <a:latin typeface="Arial"/>
                <a:ea typeface="Arial"/>
                <a:cs typeface="Arial"/>
                <a:sym typeface="Arial"/>
                <a:hlinkClick r:id="rId8"/>
              </a:rPr>
              <a:t>https://www.samhsa.gov/csap</a:t>
            </a:r>
            <a:r>
              <a:rPr lang="en-US" sz="1400" b="0" i="0">
                <a:latin typeface="Arial"/>
                <a:ea typeface="Arial"/>
                <a:cs typeface="Arial"/>
                <a:sym typeface="Arial"/>
              </a:rPr>
              <a:t>.</a:t>
            </a:r>
            <a:endParaRPr/>
          </a:p>
          <a:p>
            <a:pPr marL="228600" lvl="0" indent="-228600" algn="l" rtl="0">
              <a:lnSpc>
                <a:spcPct val="90000"/>
              </a:lnSpc>
              <a:spcBef>
                <a:spcPts val="1000"/>
              </a:spcBef>
              <a:spcAft>
                <a:spcPts val="0"/>
              </a:spcAft>
              <a:buClr>
                <a:schemeClr val="dk1"/>
              </a:buClr>
              <a:buSzPts val="1400"/>
              <a:buChar char="•"/>
            </a:pPr>
            <a:r>
              <a:rPr lang="en-US" sz="1400" b="0" i="0">
                <a:latin typeface="Arial"/>
                <a:ea typeface="Arial"/>
                <a:cs typeface="Arial"/>
                <a:sym typeface="Arial"/>
              </a:rPr>
              <a:t>SAMHSA's Prevention of Substance Use and Mental Disorders: Substance Abuse and Mental Health Services Administration. (n.d.). Prevention of Substance Use and Mental Disorders. Retrieved from </a:t>
            </a:r>
            <a:r>
              <a:rPr lang="en-US" sz="1400" b="0" i="0" u="sng" strike="noStrike">
                <a:solidFill>
                  <a:schemeClr val="hlink"/>
                </a:solidFill>
                <a:latin typeface="Arial"/>
                <a:ea typeface="Arial"/>
                <a:cs typeface="Arial"/>
                <a:sym typeface="Arial"/>
                <a:hlinkClick r:id="rId9"/>
              </a:rPr>
              <a:t>https://www.samhsa.gov/prevention</a:t>
            </a:r>
            <a:r>
              <a:rPr lang="en-US" sz="1400" b="0" i="0">
                <a:latin typeface="Arial"/>
                <a:ea typeface="Arial"/>
                <a:cs typeface="Arial"/>
                <a:sym typeface="Arial"/>
              </a:rPr>
              <a:t>.</a:t>
            </a:r>
            <a:endParaRPr/>
          </a:p>
        </p:txBody>
      </p:sp>
    </p:spTree>
  </p:cSld>
  <p:clrMapOvr>
    <a:masterClrMapping/>
  </p:clrMapOvr>
</p:sld>
</file>

<file path=ppt/theme/theme1.xml><?xml version="1.0" encoding="utf-8"?>
<a:theme xmlns:a="http://schemas.openxmlformats.org/drawingml/2006/main" name="Vapor Trail">
  <a:themeElements>
    <a:clrScheme name="Vapor Trail">
      <a:dk1>
        <a:srgbClr val="000000"/>
      </a:dk1>
      <a:lt1>
        <a:srgbClr val="FFFFFF"/>
      </a:lt1>
      <a:dk2>
        <a:srgbClr val="454545"/>
      </a:dk2>
      <a:lt2>
        <a:srgbClr val="DADADA"/>
      </a:lt2>
      <a:accent1>
        <a:srgbClr val="E5224E"/>
      </a:accent1>
      <a:accent2>
        <a:srgbClr val="9D074E"/>
      </a:accent2>
      <a:accent3>
        <a:srgbClr val="7F2294"/>
      </a:accent3>
      <a:accent4>
        <a:srgbClr val="8D65EA"/>
      </a:accent4>
      <a:accent5>
        <a:srgbClr val="588FE2"/>
      </a:accent5>
      <a:accent6>
        <a:srgbClr val="127CA4"/>
      </a:accent6>
      <a:hlink>
        <a:srgbClr val="FB4AB6"/>
      </a:hlink>
      <a:folHlink>
        <a:srgbClr val="F98FE9"/>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2444</Words>
  <Application>Microsoft Office PowerPoint</Application>
  <PresentationFormat>Widescreen</PresentationFormat>
  <Paragraphs>215</Paragraphs>
  <Slides>24</Slides>
  <Notes>24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24</vt:i4>
      </vt:variant>
    </vt:vector>
  </HeadingPairs>
  <TitlesOfParts>
    <vt:vector size="27" baseType="lpstr">
      <vt:lpstr>Arial</vt:lpstr>
      <vt:lpstr>Century Gothic</vt:lpstr>
      <vt:lpstr>Vapor Trail</vt:lpstr>
      <vt:lpstr>COMBATING ADOLESCENT  SUBSTANCE  ABUSE IN  OREGON  </vt:lpstr>
      <vt:lpstr>BRIEF DESCRIPTION OF INTERVENTION</vt:lpstr>
      <vt:lpstr>INTERVENTIONS &amp; THEORY OF CHANGE </vt:lpstr>
      <vt:lpstr>ISSUE ADDRESSED: </vt:lpstr>
      <vt:lpstr>VISION OF SUCCESS</vt:lpstr>
      <vt:lpstr>TARGET AUDIENCE: </vt:lpstr>
      <vt:lpstr>IMPLEMENTING BODIES: </vt:lpstr>
      <vt:lpstr>SO THAT DIAGRAM</vt:lpstr>
      <vt:lpstr>BRIEF DESCRIPTION OF INTERVENTION </vt:lpstr>
      <vt:lpstr>BRIEF DESCRIPTION OF INTERVENTION </vt:lpstr>
      <vt:lpstr>BRIEF DESCRIPTION OF INTERVENTION </vt:lpstr>
      <vt:lpstr>BRIEF DESCRIPTION OF INTERVENTION </vt:lpstr>
      <vt:lpstr>BRIEF DESCRIPTION OF INTERVENTION </vt:lpstr>
      <vt:lpstr>LOGIC MODEL DIAGRAM</vt:lpstr>
      <vt:lpstr>DATA INDICATORS</vt:lpstr>
      <vt:lpstr>MEASURING POPULATION LEVEL DATA</vt:lpstr>
      <vt:lpstr>SELECT A DATA SOURCE TO HELP YOUR MEASURE THE POPULATION LEVEL IMPACT OF YOUR INTERVENTION</vt:lpstr>
      <vt:lpstr>SELECT THE SPECIFIC INDICATOR YOU WILL USE TO EVALUATE IMPACT   (I.E. % OF ADULTS REPORTING GOOD MENTAL HEALTH, % OF ADOLESCENTS WHO REPORT POSITIVE RELATIONSHIPS)  </vt:lpstr>
      <vt:lpstr>ANSWER THE FOLLOWING REFLECTION QUESTIONS: ● HOW DIFFICULT OR EASY WAS IT TO FIND DATA THAT WAS APPROPRIATE FOR YOUR INDICATOR? ● WHAT ARE SOME OF THE LIMITATIONS OF THIS DATA? (IS IT ONLY AVAILABLE FOR CERTAIN PEOPLE, AT CERTAIN FREQUENCIES?) ● IN AN IDEAL WORLD, WHAT WOULD YOUR IDEAL DATA INDICATOR BE? ● EXPLAIN WHY THIS PARTICULAR INDICATOR WOULD BE CRITICAL EVIDENCE TO ADVANCING PUBLIC HEALTH KNOWLEDGE OF THIS AREA.  </vt:lpstr>
      <vt:lpstr> ● HOW DIFFICULT OR EASY WAS IT TO FIND DATA THAT WAS APPROPRIATE FOR YOUR INDICATOR? ●</vt:lpstr>
      <vt:lpstr> ● WHAT ARE SOME OF THE LIMITATIONS OF THIS DATA?   (IS IT ONLY AVAILABLE FOR CERTAIN PEOPLE, AT CERTAIN FREQUENCIES?)  </vt:lpstr>
      <vt:lpstr>IN AN IDEAL WORLD, WHAT WOULD YOUR IDEAL DATA INDICATOR BE?</vt:lpstr>
      <vt:lpstr> ● EXPLAIN WHY THIS PARTICULAR INDICATOR WOULD BE CRITICAL EVIDENCE TO ADVANCING PUBLIC HEALTH KNOWLEDGE OF THIS AREA.  </vt:lpstr>
      <vt:lpstr>CITATIONS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COMBATING ADOLESCENT  SUBSTANCE  ABUSE IN  OREGON  </dc:title>
  <dc:creator>Balagopal,Navin</dc:creator>
  <cp:lastModifiedBy>Balagopal,Navin</cp:lastModifiedBy>
  <cp:revision>1</cp:revision>
  <dcterms:created xsi:type="dcterms:W3CDTF">2023-11-01T05:47:32Z</dcterms:created>
  <dcterms:modified xsi:type="dcterms:W3CDTF">2023-11-02T05:48:42Z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0x010100ADCA7DC181BC494193397CB6ABE2BC9D</vt:lpwstr>
  </property>
</Properties>
</file>